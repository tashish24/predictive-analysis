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6.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7.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8.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9.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0.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2.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charts/chart13.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6bada34-96a3-33ab-8fe9-abfa2f1b8340}">
          <p14:sldIdLst>
            <p14:sldId id="256"/>
            <p14:sldId id="257"/>
          </p14:sldIdLst>
        </p14:section>
        <p14:section name="Question" id="{74cb1552-4889-ed4e-04eb-50b9fbc7b7a4}">
          <p14:sldIdLst>
            <p14:sldId id="258"/>
            <p14:sldId id="259"/>
          </p14:sldIdLst>
        </p14:section>
        <p14:section name="Data" id="{994ecccd-4ab2-a254-da94-4248df8086ff}">
          <p14:sldIdLst>
            <p14:sldId id="260"/>
            <p14:sldId id="261"/>
            <p14:sldId id="262"/>
            <p14:sldId id="263"/>
            <p14:sldId id="264"/>
          </p14:sldIdLst>
        </p14:section>
        <p14:section name="Method" id="{123f41ec-3bf7-845f-dadc-450ed7789221}">
          <p14:sldIdLst>
            <p14:sldId id="265"/>
            <p14:sldId id="266"/>
            <p14:sldId id="267"/>
          </p14:sldIdLst>
        </p14:section>
        <p14:section name="Results" id="{79f8b325-1df5-2fa9-e4db-b13cace5d237}">
          <p14:sldIdLst>
            <p14:sldId id="268"/>
            <p14:sldId id="269"/>
            <p14:sldId id="270"/>
            <p14:sldId id="271"/>
          </p14:sldIdLst>
        </p14:section>
        <p14:section name="Wrap-up" id="{9d846eaf-f5f2-9d1d-2ebd-655521bdee1f}">
          <p14:sldIdLst>
            <p14:sldId id="272"/>
            <p14:sldId id="273"/>
            <p14:sldId id="274"/>
          </p14:sldIdLst>
        </p14:section>
        <p14:section name="Appendix" id="{3cb1196f-d9db-56c0-0381-d48f239af239}">
          <p14:sldIdLst>
            <p14:sldId id="275"/>
            <p14:sldId id="276"/>
            <p14:sldId id="277"/>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Trips (millions)</c:v>
                </c:pt>
              </c:strCache>
            </c:strRef>
          </c:tx>
          <c:spPr>
            <a:solidFill>
              <a:srgbClr val="F2B705"/>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Sheet1!$A$2:$A$60</c:f>
              <c:multiLvlStrCache>
                <c:ptCount val="59"/>
                <c:lvl>
                  <c:pt idx="0">
                    <c:v>2019</c:v>
                  </c:pt>
                  <c:pt idx="1">
                    <c:v/>
                  </c:pt>
                  <c:pt idx="2">
                    <c:v/>
                  </c:pt>
                  <c:pt idx="3">
                    <c:v/>
                  </c:pt>
                  <c:pt idx="4">
                    <c:v/>
                  </c:pt>
                  <c:pt idx="5">
                    <c:v/>
                  </c:pt>
                  <c:pt idx="6">
                    <c:v/>
                  </c:pt>
                  <c:pt idx="7">
                    <c:v/>
                  </c:pt>
                  <c:pt idx="8">
                    <c:v/>
                  </c:pt>
                  <c:pt idx="9">
                    <c:v/>
                  </c:pt>
                  <c:pt idx="10">
                    <c:v/>
                  </c:pt>
                  <c:pt idx="11">
                    <c:v/>
                  </c:pt>
                  <c:pt idx="12">
                    <c:v>2020</c:v>
                  </c:pt>
                  <c:pt idx="13">
                    <c:v/>
                  </c:pt>
                  <c:pt idx="14">
                    <c:v/>
                  </c:pt>
                  <c:pt idx="15">
                    <c:v/>
                  </c:pt>
                  <c:pt idx="16">
                    <c:v/>
                  </c:pt>
                  <c:pt idx="17">
                    <c:v/>
                  </c:pt>
                  <c:pt idx="18">
                    <c:v/>
                  </c:pt>
                  <c:pt idx="19">
                    <c:v/>
                  </c:pt>
                  <c:pt idx="20">
                    <c:v/>
                  </c:pt>
                  <c:pt idx="21">
                    <c:v/>
                  </c:pt>
                  <c:pt idx="22">
                    <c:v/>
                  </c:pt>
                  <c:pt idx="23">
                    <c:v>2021</c:v>
                  </c:pt>
                  <c:pt idx="24">
                    <c:v/>
                  </c:pt>
                  <c:pt idx="25">
                    <c:v/>
                  </c:pt>
                  <c:pt idx="26">
                    <c:v/>
                  </c:pt>
                  <c:pt idx="27">
                    <c:v/>
                  </c:pt>
                  <c:pt idx="28">
                    <c:v/>
                  </c:pt>
                  <c:pt idx="29">
                    <c:v/>
                  </c:pt>
                  <c:pt idx="30">
                    <c:v/>
                  </c:pt>
                  <c:pt idx="31">
                    <c:v/>
                  </c:pt>
                  <c:pt idx="32">
                    <c:v/>
                  </c:pt>
                  <c:pt idx="33">
                    <c:v/>
                  </c:pt>
                  <c:pt idx="34">
                    <c:v/>
                  </c:pt>
                  <c:pt idx="35">
                    <c:v>2022</c:v>
                  </c:pt>
                  <c:pt idx="36">
                    <c:v/>
                  </c:pt>
                  <c:pt idx="37">
                    <c:v/>
                  </c:pt>
                  <c:pt idx="38">
                    <c:v/>
                  </c:pt>
                  <c:pt idx="39">
                    <c:v/>
                  </c:pt>
                  <c:pt idx="40">
                    <c:v/>
                  </c:pt>
                  <c:pt idx="41">
                    <c:v/>
                  </c:pt>
                  <c:pt idx="42">
                    <c:v/>
                  </c:pt>
                  <c:pt idx="43">
                    <c:v/>
                  </c:pt>
                  <c:pt idx="44">
                    <c:v/>
                  </c:pt>
                  <c:pt idx="45">
                    <c:v/>
                  </c:pt>
                  <c:pt idx="46">
                    <c:v/>
                  </c:pt>
                  <c:pt idx="47">
                    <c:v>2023</c:v>
                  </c:pt>
                  <c:pt idx="48">
                    <c:v/>
                  </c:pt>
                  <c:pt idx="49">
                    <c:v/>
                  </c:pt>
                  <c:pt idx="50">
                    <c:v/>
                  </c:pt>
                  <c:pt idx="51">
                    <c:v/>
                  </c:pt>
                  <c:pt idx="52">
                    <c:v/>
                  </c:pt>
                  <c:pt idx="53">
                    <c:v/>
                  </c:pt>
                  <c:pt idx="54">
                    <c:v/>
                  </c:pt>
                  <c:pt idx="55">
                    <c:v/>
                  </c:pt>
                  <c:pt idx="56">
                    <c:v/>
                  </c:pt>
                  <c:pt idx="57">
                    <c:v/>
                  </c:pt>
                  <c:pt idx="58">
                    <c:v/>
                  </c:pt>
                </c:lvl>
              </c:multiLvlStrCache>
            </c:multiLvlStrRef>
          </c:cat>
          <c:val>
            <c:numRef>
              <c:f>Sheet1!$B$2:$B$60</c:f>
              <c:numCache>
                <c:formatCode>General</c:formatCode>
                <c:ptCount val="59"/>
                <c:pt idx="0">
                  <c:v>7.7</c:v>
                </c:pt>
                <c:pt idx="1">
                  <c:v>7.05</c:v>
                </c:pt>
                <c:pt idx="2">
                  <c:v>7.87</c:v>
                </c:pt>
                <c:pt idx="3">
                  <c:v>7.48</c:v>
                </c:pt>
                <c:pt idx="4">
                  <c:v>7.6</c:v>
                </c:pt>
                <c:pt idx="5">
                  <c:v>6.97</c:v>
                </c:pt>
                <c:pt idx="6">
                  <c:v>6.31</c:v>
                </c:pt>
                <c:pt idx="7">
                  <c:v>6.07</c:v>
                </c:pt>
                <c:pt idx="8">
                  <c:v>6.57</c:v>
                </c:pt>
                <c:pt idx="9">
                  <c:v>7.21</c:v>
                </c:pt>
                <c:pt idx="10">
                  <c:v>6.88</c:v>
                </c:pt>
                <c:pt idx="11">
                  <c:v>6.9</c:v>
                </c:pt>
                <c:pt idx="12">
                  <c:v>6.41</c:v>
                </c:pt>
                <c:pt idx="13">
                  <c:v>6.3</c:v>
                </c:pt>
                <c:pt idx="14">
                  <c:v>3.01</c:v>
                </c:pt>
                <c:pt idx="15">
                  <c:v>0.35</c:v>
                </c:pt>
                <c:pt idx="16">
                  <c:v>0.55</c:v>
                </c:pt>
                <c:pt idx="17">
                  <c:v>0.8</c:v>
                </c:pt>
                <c:pt idx="18">
                  <c:v>1.01</c:v>
                </c:pt>
                <c:pt idx="19">
                  <c:v>1.34</c:v>
                </c:pt>
                <c:pt idx="20">
                  <c:v>1.68</c:v>
                </c:pt>
                <c:pt idx="21">
                  <c:v>1.51</c:v>
                </c:pt>
                <c:pt idx="22">
                  <c:v>1.46</c:v>
                </c:pt>
                <c:pt idx="23">
                  <c:v>1.37</c:v>
                </c:pt>
                <c:pt idx="24">
                  <c:v>1.37</c:v>
                </c:pt>
                <c:pt idx="25">
                  <c:v>1.93</c:v>
                </c:pt>
                <c:pt idx="26">
                  <c:v>2.17</c:v>
                </c:pt>
                <c:pt idx="27">
                  <c:v>2.51</c:v>
                </c:pt>
                <c:pt idx="28">
                  <c:v>2.83</c:v>
                </c:pt>
                <c:pt idx="29">
                  <c:v>2.82</c:v>
                </c:pt>
                <c:pt idx="30">
                  <c:v>2.79</c:v>
                </c:pt>
                <c:pt idx="31">
                  <c:v>2.96</c:v>
                </c:pt>
                <c:pt idx="32">
                  <c:v>3.46</c:v>
                </c:pt>
                <c:pt idx="33">
                  <c:v>3.47</c:v>
                </c:pt>
                <c:pt idx="34">
                  <c:v>3.21</c:v>
                </c:pt>
                <c:pt idx="35">
                  <c:v>2.46</c:v>
                </c:pt>
                <c:pt idx="36">
                  <c:v>2.98</c:v>
                </c:pt>
                <c:pt idx="37">
                  <c:v>3.63</c:v>
                </c:pt>
                <c:pt idx="38">
                  <c:v>3.6</c:v>
                </c:pt>
                <c:pt idx="39">
                  <c:v>3.59</c:v>
                </c:pt>
                <c:pt idx="40">
                  <c:v>3.56</c:v>
                </c:pt>
                <c:pt idx="41">
                  <c:v>3.17</c:v>
                </c:pt>
                <c:pt idx="42">
                  <c:v>3.15</c:v>
                </c:pt>
                <c:pt idx="43">
                  <c:v>3.18</c:v>
                </c:pt>
                <c:pt idx="44">
                  <c:v>3.68</c:v>
                </c:pt>
                <c:pt idx="45">
                  <c:v>3.25</c:v>
                </c:pt>
                <c:pt idx="46">
                  <c:v>3.4</c:v>
                </c:pt>
                <c:pt idx="47">
                  <c:v>3.07</c:v>
                </c:pt>
                <c:pt idx="48">
                  <c:v>2.91</c:v>
                </c:pt>
                <c:pt idx="49">
                  <c:v>3.4</c:v>
                </c:pt>
                <c:pt idx="50">
                  <c:v>3.29</c:v>
                </c:pt>
                <c:pt idx="51">
                  <c:v>3.51</c:v>
                </c:pt>
                <c:pt idx="52">
                  <c:v>3.31</c:v>
                </c:pt>
                <c:pt idx="53">
                  <c:v>2.91</c:v>
                </c:pt>
                <c:pt idx="54">
                  <c:v>2.82</c:v>
                </c:pt>
                <c:pt idx="55">
                  <c:v>2.85</c:v>
                </c:pt>
                <c:pt idx="56">
                  <c:v>3.52</c:v>
                </c:pt>
                <c:pt idx="57">
                  <c:v>3.34</c:v>
                </c:pt>
                <c:pt idx="58">
                  <c:v>3.38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2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C4C9D0"/>
                </a:solidFill>
                <a:latin typeface="+mn-lt"/>
              </a:defRPr>
            </a:pPr>
            <a:endParaRPr lang="en-US"/>
          </a:p>
        </c:txPr>
        <c:crossAx val="2094734552"/>
        <c:crosses val="autoZero"/>
        <c:auto val="1"/>
        <c:lblAlgn val="ctr"/>
        <c:noMultiLvlLbl val="1"/>
        <c:tickLblSkip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232A33"/>
        </a:solidFill>
        <a:ln>
          <a:noFill/>
        </a:ln>
        <a:effectLst/>
      </c:spPr>
    </c:plotArea>
    <c:plotVisOnly val="1"/>
    <c:dispBlanksAs val="span"/>
  </c:chart>
  <c:spPr>
    <a:solidFill>
      <a:srgbClr val="232A33"/>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Trips (millions)</c:v>
                </c:pt>
              </c:strCache>
            </c:strRef>
          </c:tx>
          <c:spPr>
            <a:solidFill>
              <a:srgbClr val="4B5563"/>
            </a:solidFill>
            <a:effectLst/>
          </c:spPr>
          <c:invertIfNegative val="0"/>
          <c:dLbls>
            <c:numFmt formatCode="#,##0" sourceLinked="0"/>
            <c:txPr>
              <a:bodyPr/>
              <a:lstStyle/>
              <a:p>
                <a:pPr>
                  <a:defRPr b="0" i="0" strike="noStrike" sz="1200" u="none">
                    <a:solidFill>
                      <a:srgbClr val="1E242C"/>
                    </a:solidFill>
                    <a:latin typeface="+mn-lt"/>
                  </a:defRPr>
                </a:pPr>
              </a:p>
            </c:txPr>
            <c:showLegendKey val="0"/>
            <c:showVal val="0"/>
            <c:showCatName val="0"/>
            <c:showSerName val="0"/>
            <c:showPercent val="0"/>
            <c:showBubbleSize val="0"/>
            <c:showLeaderLines val="0"/>
          </c:dLbls>
          <c:cat>
            <c:multiLvlStrRef>
              <c:f>Sheet1!$A$2:$A$60</c:f>
              <c:multiLvlStrCache>
                <c:ptCount val="59"/>
                <c:lvl>
                  <c:pt idx="0">
                    <c:v>2019</c:v>
                  </c:pt>
                  <c:pt idx="1">
                    <c:v/>
                  </c:pt>
                  <c:pt idx="2">
                    <c:v/>
                  </c:pt>
                  <c:pt idx="3">
                    <c:v/>
                  </c:pt>
                  <c:pt idx="4">
                    <c:v/>
                  </c:pt>
                  <c:pt idx="5">
                    <c:v/>
                  </c:pt>
                  <c:pt idx="6">
                    <c:v/>
                  </c:pt>
                  <c:pt idx="7">
                    <c:v/>
                  </c:pt>
                  <c:pt idx="8">
                    <c:v/>
                  </c:pt>
                  <c:pt idx="9">
                    <c:v/>
                  </c:pt>
                  <c:pt idx="10">
                    <c:v/>
                  </c:pt>
                  <c:pt idx="11">
                    <c:v/>
                  </c:pt>
                  <c:pt idx="12">
                    <c:v>2020</c:v>
                  </c:pt>
                  <c:pt idx="13">
                    <c:v/>
                  </c:pt>
                  <c:pt idx="14">
                    <c:v/>
                  </c:pt>
                  <c:pt idx="15">
                    <c:v/>
                  </c:pt>
                  <c:pt idx="16">
                    <c:v/>
                  </c:pt>
                  <c:pt idx="17">
                    <c:v/>
                  </c:pt>
                  <c:pt idx="18">
                    <c:v/>
                  </c:pt>
                  <c:pt idx="19">
                    <c:v/>
                  </c:pt>
                  <c:pt idx="20">
                    <c:v/>
                  </c:pt>
                  <c:pt idx="21">
                    <c:v/>
                  </c:pt>
                  <c:pt idx="22">
                    <c:v/>
                  </c:pt>
                  <c:pt idx="23">
                    <c:v>2021</c:v>
                  </c:pt>
                  <c:pt idx="24">
                    <c:v/>
                  </c:pt>
                  <c:pt idx="25">
                    <c:v/>
                  </c:pt>
                  <c:pt idx="26">
                    <c:v/>
                  </c:pt>
                  <c:pt idx="27">
                    <c:v/>
                  </c:pt>
                  <c:pt idx="28">
                    <c:v/>
                  </c:pt>
                  <c:pt idx="29">
                    <c:v/>
                  </c:pt>
                  <c:pt idx="30">
                    <c:v/>
                  </c:pt>
                  <c:pt idx="31">
                    <c:v/>
                  </c:pt>
                  <c:pt idx="32">
                    <c:v/>
                  </c:pt>
                  <c:pt idx="33">
                    <c:v/>
                  </c:pt>
                  <c:pt idx="34">
                    <c:v/>
                  </c:pt>
                  <c:pt idx="35">
                    <c:v>2022</c:v>
                  </c:pt>
                  <c:pt idx="36">
                    <c:v/>
                  </c:pt>
                  <c:pt idx="37">
                    <c:v/>
                  </c:pt>
                  <c:pt idx="38">
                    <c:v/>
                  </c:pt>
                  <c:pt idx="39">
                    <c:v/>
                  </c:pt>
                  <c:pt idx="40">
                    <c:v/>
                  </c:pt>
                  <c:pt idx="41">
                    <c:v/>
                  </c:pt>
                  <c:pt idx="42">
                    <c:v/>
                  </c:pt>
                  <c:pt idx="43">
                    <c:v/>
                  </c:pt>
                  <c:pt idx="44">
                    <c:v/>
                  </c:pt>
                  <c:pt idx="45">
                    <c:v/>
                  </c:pt>
                  <c:pt idx="46">
                    <c:v/>
                  </c:pt>
                  <c:pt idx="47">
                    <c:v>2023</c:v>
                  </c:pt>
                  <c:pt idx="48">
                    <c:v/>
                  </c:pt>
                  <c:pt idx="49">
                    <c:v/>
                  </c:pt>
                  <c:pt idx="50">
                    <c:v/>
                  </c:pt>
                  <c:pt idx="51">
                    <c:v/>
                  </c:pt>
                  <c:pt idx="52">
                    <c:v/>
                  </c:pt>
                  <c:pt idx="53">
                    <c:v/>
                  </c:pt>
                  <c:pt idx="54">
                    <c:v/>
                  </c:pt>
                  <c:pt idx="55">
                    <c:v/>
                  </c:pt>
                  <c:pt idx="56">
                    <c:v/>
                  </c:pt>
                  <c:pt idx="57">
                    <c:v/>
                  </c:pt>
                  <c:pt idx="58">
                    <c:v/>
                  </c:pt>
                </c:lvl>
              </c:multiLvlStrCache>
            </c:multiLvlStrRef>
          </c:cat>
          <c:val>
            <c:numRef>
              <c:f>Sheet1!$B$2:$B$60</c:f>
              <c:numCache>
                <c:formatCode>General</c:formatCode>
                <c:ptCount val="59"/>
                <c:pt idx="0">
                  <c:v>7.7</c:v>
                </c:pt>
                <c:pt idx="1">
                  <c:v>7.05</c:v>
                </c:pt>
                <c:pt idx="2">
                  <c:v>7.87</c:v>
                </c:pt>
                <c:pt idx="3">
                  <c:v>7.48</c:v>
                </c:pt>
                <c:pt idx="4">
                  <c:v>7.6</c:v>
                </c:pt>
                <c:pt idx="5">
                  <c:v>6.97</c:v>
                </c:pt>
                <c:pt idx="6">
                  <c:v>6.31</c:v>
                </c:pt>
                <c:pt idx="7">
                  <c:v>6.07</c:v>
                </c:pt>
                <c:pt idx="8">
                  <c:v>6.57</c:v>
                </c:pt>
                <c:pt idx="9">
                  <c:v>7.21</c:v>
                </c:pt>
                <c:pt idx="10">
                  <c:v>6.88</c:v>
                </c:pt>
                <c:pt idx="11">
                  <c:v>6.9</c:v>
                </c:pt>
                <c:pt idx="12">
                  <c:v>6.41</c:v>
                </c:pt>
                <c:pt idx="13">
                  <c:v>6.3</c:v>
                </c:pt>
                <c:pt idx="14">
                  <c:v>3.01</c:v>
                </c:pt>
                <c:pt idx="15">
                  <c:v>0.35</c:v>
                </c:pt>
                <c:pt idx="16">
                  <c:v>0.55</c:v>
                </c:pt>
                <c:pt idx="17">
                  <c:v>0.8</c:v>
                </c:pt>
                <c:pt idx="18">
                  <c:v>1.01</c:v>
                </c:pt>
                <c:pt idx="19">
                  <c:v>1.34</c:v>
                </c:pt>
                <c:pt idx="20">
                  <c:v>1.68</c:v>
                </c:pt>
                <c:pt idx="21">
                  <c:v>1.51</c:v>
                </c:pt>
                <c:pt idx="22">
                  <c:v>1.46</c:v>
                </c:pt>
                <c:pt idx="23">
                  <c:v>1.37</c:v>
                </c:pt>
                <c:pt idx="24">
                  <c:v>1.37</c:v>
                </c:pt>
                <c:pt idx="25">
                  <c:v>1.93</c:v>
                </c:pt>
                <c:pt idx="26">
                  <c:v>2.17</c:v>
                </c:pt>
                <c:pt idx="27">
                  <c:v>2.51</c:v>
                </c:pt>
                <c:pt idx="28">
                  <c:v>2.83</c:v>
                </c:pt>
                <c:pt idx="29">
                  <c:v>2.82</c:v>
                </c:pt>
                <c:pt idx="30">
                  <c:v>2.79</c:v>
                </c:pt>
                <c:pt idx="31">
                  <c:v>2.96</c:v>
                </c:pt>
                <c:pt idx="32">
                  <c:v>3.46</c:v>
                </c:pt>
                <c:pt idx="33">
                  <c:v>3.47</c:v>
                </c:pt>
                <c:pt idx="34">
                  <c:v>3.21</c:v>
                </c:pt>
                <c:pt idx="35">
                  <c:v>2.46</c:v>
                </c:pt>
                <c:pt idx="36">
                  <c:v>2.98</c:v>
                </c:pt>
                <c:pt idx="37">
                  <c:v>3.63</c:v>
                </c:pt>
                <c:pt idx="38">
                  <c:v>3.6</c:v>
                </c:pt>
                <c:pt idx="39">
                  <c:v>3.59</c:v>
                </c:pt>
                <c:pt idx="40">
                  <c:v>3.56</c:v>
                </c:pt>
                <c:pt idx="41">
                  <c:v>3.17</c:v>
                </c:pt>
                <c:pt idx="42">
                  <c:v>3.15</c:v>
                </c:pt>
                <c:pt idx="43">
                  <c:v>3.18</c:v>
                </c:pt>
                <c:pt idx="44">
                  <c:v>3.68</c:v>
                </c:pt>
                <c:pt idx="45">
                  <c:v>3.25</c:v>
                </c:pt>
                <c:pt idx="46">
                  <c:v>3.4</c:v>
                </c:pt>
                <c:pt idx="47">
                  <c:v>3.07</c:v>
                </c:pt>
                <c:pt idx="48">
                  <c:v>2.91</c:v>
                </c:pt>
                <c:pt idx="49">
                  <c:v>3.4</c:v>
                </c:pt>
                <c:pt idx="50">
                  <c:v>3.29</c:v>
                </c:pt>
                <c:pt idx="51">
                  <c:v>3.51</c:v>
                </c:pt>
                <c:pt idx="52">
                  <c:v>3.31</c:v>
                </c:pt>
                <c:pt idx="53">
                  <c:v>2.91</c:v>
                </c:pt>
                <c:pt idx="54">
                  <c:v>2.82</c:v>
                </c:pt>
                <c:pt idx="55">
                  <c:v>2.85</c:v>
                </c:pt>
                <c:pt idx="56">
                  <c:v>3.52</c:v>
                </c:pt>
                <c:pt idx="57">
                  <c:v>3.34</c:v>
                </c:pt>
                <c:pt idx="58">
                  <c:v>3.38</c:v>
                </c:pt>
              </c:numCache>
            </c:numRef>
          </c:val>
        </c:ser>
        <c:dLbls>
          <c:numFmt formatCode="#,##0" sourceLinked="0"/>
          <c:txPr>
            <a:bodyPr/>
            <a:lstStyle/>
            <a:p>
              <a:pPr>
                <a:defRPr b="0" i="0" strike="noStrike" sz="1200" u="none">
                  <a:solidFill>
                    <a:srgbClr val="1E242C"/>
                  </a:solidFill>
                  <a:latin typeface="+mn-lt"/>
                </a:defRPr>
              </a:pPr>
            </a:p>
          </c:txPr>
          <c:showLegendKey val="0"/>
          <c:showVal val="0"/>
          <c:showCatName val="0"/>
          <c:showSerName val="0"/>
          <c:showPercent val="0"/>
          <c:showBubbleSize val="0"/>
          <c:showLeaderLines val="0"/>
        </c:dLbls>
        <c:gapWidth val="2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9DDE2"/>
            </a:solidFill>
            <a:prstDash val="solid"/>
            <a:round/>
          </a:ln>
        </c:spPr>
        <c:txPr>
          <a:bodyPr/>
          <a:lstStyle/>
          <a:p>
            <a:pPr>
              <a:defRPr sz="1100" b="0" i="0" u="none" strike="noStrike">
                <a:solidFill>
                  <a:srgbClr val="1E242C"/>
                </a:solidFill>
                <a:latin typeface="+mn-lt"/>
              </a:defRPr>
            </a:pPr>
            <a:endParaRPr lang="en-US"/>
          </a:p>
        </c:txPr>
        <c:crossAx val="2094734552"/>
        <c:crosses val="autoZero"/>
        <c:auto val="1"/>
        <c:lblAlgn val="ctr"/>
        <c:noMultiLvlLbl val="1"/>
        <c:tickLblSkip val="1"/>
      </c:catAx>
      <c:valAx>
        <c:axId val="2094734552"/>
        <c:scaling>
          <c:orientation val="minMax"/>
          <c:max val="8"/>
          <c:min val="0"/>
        </c:scaling>
        <c:delete val="0"/>
        <c:axPos val="l"/>
        <c:majorGridlines>
          <c:spPr>
            <a:ln w="6350" cap="flat">
              <a:solidFill>
                <a:srgbClr val="E6E8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F6772"/>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Median fare</c:v>
                </c:pt>
              </c:strCache>
            </c:strRef>
          </c:tx>
          <c:spPr>
            <a:solidFill>
              <a:srgbClr val="F2B705"/>
            </a:solidFill>
            <a:ln w="31750" cap="flat">
              <a:solidFill>
                <a:srgbClr val="F2B705"/>
              </a:solidFill>
              <a:prstDash val="solid"/>
              <a:round/>
            </a:ln>
            <a:effectLst/>
          </c:spPr>
          <c:invertIfNegative val="0"/>
          <c:dLbls>
            <c:numFmt formatCode="#,##0" sourceLinked="0"/>
            <c:txPr>
              <a:bodyPr/>
              <a:lstStyle/>
              <a:p>
                <a:pPr>
                  <a:defRPr b="0" i="0" strike="noStrike" sz="1200" u="none">
                    <a:solidFill>
                      <a:srgbClr val="1E242C"/>
                    </a:solidFill>
                    <a:latin typeface="+mn-lt"/>
                  </a:defRPr>
                </a:pPr>
              </a:p>
            </c:txPr>
            <c:showLegendKey val="0"/>
            <c:showVal val="0"/>
            <c:showCatName val="0"/>
            <c:showSerName val="0"/>
            <c:showPercent val="0"/>
            <c:showBubbleSize val="0"/>
            <c:showLeaderLines val="0"/>
          </c:dLbls>
          <c:marker>
            <c:symbol val="none"/>
            <c:size val="6"/>
            <c:spPr>
              <a:solidFill>
                <a:srgbClr val="F2B705"/>
              </a:solidFill>
              <a:ln w="9525" cap="flat">
                <a:solidFill>
                  <a:srgbClr val="F2B705"/>
                </a:solidFill>
                <a:prstDash val="solid"/>
                <a:round/>
              </a:ln>
              <a:effectLst/>
            </c:spPr>
          </c:marker>
          <c:cat>
            <c:multiLvlStrRef>
              <c:f>Sheet1!$A$2:$A$60</c:f>
              <c:multiLvlStrCache>
                <c:ptCount val="59"/>
                <c:lvl>
                  <c:pt idx="0">
                    <c:v>2019</c:v>
                  </c:pt>
                  <c:pt idx="1">
                    <c:v/>
                  </c:pt>
                  <c:pt idx="2">
                    <c:v/>
                  </c:pt>
                  <c:pt idx="3">
                    <c:v/>
                  </c:pt>
                  <c:pt idx="4">
                    <c:v/>
                  </c:pt>
                  <c:pt idx="5">
                    <c:v/>
                  </c:pt>
                  <c:pt idx="6">
                    <c:v/>
                  </c:pt>
                  <c:pt idx="7">
                    <c:v/>
                  </c:pt>
                  <c:pt idx="8">
                    <c:v/>
                  </c:pt>
                  <c:pt idx="9">
                    <c:v/>
                  </c:pt>
                  <c:pt idx="10">
                    <c:v/>
                  </c:pt>
                  <c:pt idx="11">
                    <c:v/>
                  </c:pt>
                  <c:pt idx="12">
                    <c:v>2020</c:v>
                  </c:pt>
                  <c:pt idx="13">
                    <c:v/>
                  </c:pt>
                  <c:pt idx="14">
                    <c:v/>
                  </c:pt>
                  <c:pt idx="15">
                    <c:v/>
                  </c:pt>
                  <c:pt idx="16">
                    <c:v/>
                  </c:pt>
                  <c:pt idx="17">
                    <c:v/>
                  </c:pt>
                  <c:pt idx="18">
                    <c:v/>
                  </c:pt>
                  <c:pt idx="19">
                    <c:v/>
                  </c:pt>
                  <c:pt idx="20">
                    <c:v/>
                  </c:pt>
                  <c:pt idx="21">
                    <c:v/>
                  </c:pt>
                  <c:pt idx="22">
                    <c:v/>
                  </c:pt>
                  <c:pt idx="23">
                    <c:v>2021</c:v>
                  </c:pt>
                  <c:pt idx="24">
                    <c:v/>
                  </c:pt>
                  <c:pt idx="25">
                    <c:v/>
                  </c:pt>
                  <c:pt idx="26">
                    <c:v/>
                  </c:pt>
                  <c:pt idx="27">
                    <c:v/>
                  </c:pt>
                  <c:pt idx="28">
                    <c:v/>
                  </c:pt>
                  <c:pt idx="29">
                    <c:v/>
                  </c:pt>
                  <c:pt idx="30">
                    <c:v/>
                  </c:pt>
                  <c:pt idx="31">
                    <c:v/>
                  </c:pt>
                  <c:pt idx="32">
                    <c:v/>
                  </c:pt>
                  <c:pt idx="33">
                    <c:v/>
                  </c:pt>
                  <c:pt idx="34">
                    <c:v/>
                  </c:pt>
                  <c:pt idx="35">
                    <c:v>2022</c:v>
                  </c:pt>
                  <c:pt idx="36">
                    <c:v/>
                  </c:pt>
                  <c:pt idx="37">
                    <c:v/>
                  </c:pt>
                  <c:pt idx="38">
                    <c:v/>
                  </c:pt>
                  <c:pt idx="39">
                    <c:v/>
                  </c:pt>
                  <c:pt idx="40">
                    <c:v/>
                  </c:pt>
                  <c:pt idx="41">
                    <c:v/>
                  </c:pt>
                  <c:pt idx="42">
                    <c:v/>
                  </c:pt>
                  <c:pt idx="43">
                    <c:v/>
                  </c:pt>
                  <c:pt idx="44">
                    <c:v/>
                  </c:pt>
                  <c:pt idx="45">
                    <c:v/>
                  </c:pt>
                  <c:pt idx="46">
                    <c:v/>
                  </c:pt>
                  <c:pt idx="47">
                    <c:v>2023</c:v>
                  </c:pt>
                  <c:pt idx="48">
                    <c:v/>
                  </c:pt>
                  <c:pt idx="49">
                    <c:v/>
                  </c:pt>
                  <c:pt idx="50">
                    <c:v/>
                  </c:pt>
                  <c:pt idx="51">
                    <c:v/>
                  </c:pt>
                  <c:pt idx="52">
                    <c:v/>
                  </c:pt>
                  <c:pt idx="53">
                    <c:v/>
                  </c:pt>
                  <c:pt idx="54">
                    <c:v/>
                  </c:pt>
                  <c:pt idx="55">
                    <c:v/>
                  </c:pt>
                  <c:pt idx="56">
                    <c:v/>
                  </c:pt>
                  <c:pt idx="57">
                    <c:v/>
                  </c:pt>
                  <c:pt idx="58">
                    <c:v/>
                  </c:pt>
                </c:lvl>
              </c:multiLvlStrCache>
            </c:multiLvlStrRef>
          </c:cat>
          <c:val>
            <c:numRef>
              <c:f>Sheet1!$B$2:$B$60</c:f>
              <c:numCache>
                <c:formatCode>General</c:formatCode>
                <c:ptCount val="59"/>
                <c:pt idx="0">
                  <c:v>9</c:v>
                </c:pt>
                <c:pt idx="1">
                  <c:v>9</c:v>
                </c:pt>
                <c:pt idx="2">
                  <c:v>9</c:v>
                </c:pt>
                <c:pt idx="3">
                  <c:v>9.5</c:v>
                </c:pt>
                <c:pt idx="4">
                  <c:v>9.5</c:v>
                </c:pt>
                <c:pt idx="5">
                  <c:v>9.5</c:v>
                </c:pt>
                <c:pt idx="6">
                  <c:v>9.5</c:v>
                </c:pt>
                <c:pt idx="7">
                  <c:v>9.5</c:v>
                </c:pt>
                <c:pt idx="8">
                  <c:v>9.5</c:v>
                </c:pt>
                <c:pt idx="9">
                  <c:v>9.5</c:v>
                </c:pt>
                <c:pt idx="10">
                  <c:v>9.5</c:v>
                </c:pt>
                <c:pt idx="11">
                  <c:v>9.5</c:v>
                </c:pt>
                <c:pt idx="12">
                  <c:v>9</c:v>
                </c:pt>
                <c:pt idx="13">
                  <c:v>9</c:v>
                </c:pt>
                <c:pt idx="14">
                  <c:v>9</c:v>
                </c:pt>
                <c:pt idx="15">
                  <c:v>8</c:v>
                </c:pt>
                <c:pt idx="16">
                  <c:v>8.5</c:v>
                </c:pt>
                <c:pt idx="17">
                  <c:v>8.5</c:v>
                </c:pt>
                <c:pt idx="18">
                  <c:v>8.5</c:v>
                </c:pt>
                <c:pt idx="19">
                  <c:v>8.5</c:v>
                </c:pt>
                <c:pt idx="20">
                  <c:v>8.5</c:v>
                </c:pt>
                <c:pt idx="21">
                  <c:v>8.5</c:v>
                </c:pt>
                <c:pt idx="22">
                  <c:v>8.5</c:v>
                </c:pt>
                <c:pt idx="23">
                  <c:v>8.5</c:v>
                </c:pt>
                <c:pt idx="24">
                  <c:v>8.5</c:v>
                </c:pt>
                <c:pt idx="25">
                  <c:v>8.5</c:v>
                </c:pt>
                <c:pt idx="26">
                  <c:v>9</c:v>
                </c:pt>
                <c:pt idx="27">
                  <c:v>9</c:v>
                </c:pt>
                <c:pt idx="28">
                  <c:v>9.5</c:v>
                </c:pt>
                <c:pt idx="29">
                  <c:v>9.5</c:v>
                </c:pt>
                <c:pt idx="30">
                  <c:v>9.5</c:v>
                </c:pt>
                <c:pt idx="31">
                  <c:v>10</c:v>
                </c:pt>
                <c:pt idx="32">
                  <c:v>10</c:v>
                </c:pt>
                <c:pt idx="33">
                  <c:v>10</c:v>
                </c:pt>
                <c:pt idx="34">
                  <c:v>10</c:v>
                </c:pt>
                <c:pt idx="35">
                  <c:v>9</c:v>
                </c:pt>
                <c:pt idx="36">
                  <c:v>9.5</c:v>
                </c:pt>
                <c:pt idx="37">
                  <c:v>9.5</c:v>
                </c:pt>
                <c:pt idx="38">
                  <c:v>10</c:v>
                </c:pt>
                <c:pt idx="39">
                  <c:v>10.5</c:v>
                </c:pt>
                <c:pt idx="40">
                  <c:v>10</c:v>
                </c:pt>
                <c:pt idx="41">
                  <c:v>10</c:v>
                </c:pt>
                <c:pt idx="42">
                  <c:v>10</c:v>
                </c:pt>
                <c:pt idx="43">
                  <c:v>10.5</c:v>
                </c:pt>
                <c:pt idx="44">
                  <c:v>10.5</c:v>
                </c:pt>
                <c:pt idx="45">
                  <c:v>10.5</c:v>
                </c:pt>
                <c:pt idx="46">
                  <c:v>11.5</c:v>
                </c:pt>
                <c:pt idx="47">
                  <c:v>12.8</c:v>
                </c:pt>
                <c:pt idx="48">
                  <c:v>12.8</c:v>
                </c:pt>
                <c:pt idx="49">
                  <c:v>12.8</c:v>
                </c:pt>
                <c:pt idx="50">
                  <c:v>13.5</c:v>
                </c:pt>
                <c:pt idx="51">
                  <c:v>13.5</c:v>
                </c:pt>
                <c:pt idx="52">
                  <c:v>13.5</c:v>
                </c:pt>
                <c:pt idx="53">
                  <c:v>13.5</c:v>
                </c:pt>
                <c:pt idx="54">
                  <c:v>13.5</c:v>
                </c:pt>
                <c:pt idx="55">
                  <c:v>14.2</c:v>
                </c:pt>
                <c:pt idx="56">
                  <c:v>14.2</c:v>
                </c:pt>
                <c:pt idx="57">
                  <c:v>13.5</c:v>
                </c:pt>
                <c:pt idx="58">
                  <c:v>13.5</c:v>
                </c:pt>
              </c:numCache>
            </c:numRef>
          </c:val>
          <c:smooth val="0"/>
        </c:ser>
        <c:dLbls>
          <c:numFmt formatCode="#,##0" sourceLinked="0"/>
          <c:txPr>
            <a:bodyPr/>
            <a:lstStyle/>
            <a:p>
              <a:pPr>
                <a:defRPr b="0" i="0" strike="noStrike" sz="1200" u="none">
                  <a:solidFill>
                    <a:srgbClr val="1E242C"/>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9DDE2"/>
            </a:solidFill>
            <a:prstDash val="solid"/>
            <a:round/>
          </a:ln>
        </c:spPr>
        <c:txPr>
          <a:bodyPr/>
          <a:lstStyle/>
          <a:p>
            <a:pPr>
              <a:defRPr sz="1100" b="0" i="0" u="none" strike="noStrike">
                <a:solidFill>
                  <a:srgbClr val="1E242C"/>
                </a:solidFill>
                <a:latin typeface="+mn-lt"/>
              </a:defRPr>
            </a:pPr>
            <a:endParaRPr lang="en-US"/>
          </a:p>
        </c:txPr>
        <c:crossAx val="2094734552"/>
        <c:crosses val="autoZero"/>
        <c:auto val="1"/>
        <c:lblAlgn val="ctr"/>
        <c:noMultiLvlLbl val="1"/>
        <c:tickLblSkip val="1"/>
      </c:catAx>
      <c:valAx>
        <c:axId val="2094734552"/>
        <c:scaling>
          <c:orientation val="minMax"/>
          <c:max val="16"/>
          <c:min val="6"/>
        </c:scaling>
        <c:delete val="0"/>
        <c:axPos val="l"/>
        <c:majorGridlines>
          <c:spPr>
            <a:ln w="6350" cap="flat">
              <a:solidFill>
                <a:srgbClr val="E6E8EB"/>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100" b="0" i="0" u="none" strike="noStrike">
                <a:solidFill>
                  <a:srgbClr val="5F6772"/>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 removed</c:v>
                </c:pt>
              </c:strCache>
            </c:strRef>
          </c:tx>
          <c:spPr>
            <a:solidFill>
              <a:srgbClr val="F2B705"/>
            </a:solidFill>
            <a:ln w="9525" cap="flat">
              <a:solidFill>
                <a:srgbClr val="1E242C"/>
              </a:solidFill>
              <a:prstDash val="solid"/>
              <a:round/>
            </a:ln>
            <a:effectLst/>
          </c:spPr>
          <c:invertIfNegative val="0"/>
          <c:dLbls>
            <c:numFmt formatCode="0.00&quot;%&quot;" sourceLinked="0"/>
            <c:txPr>
              <a:bodyPr/>
              <a:lstStyle/>
              <a:p>
                <a:pPr>
                  <a:defRPr b="0" i="0" strike="noStrike" sz="1200" u="none">
                    <a:solidFill>
                      <a:srgbClr val="1E242C"/>
                    </a:solidFill>
                    <a:latin typeface="+mn-lt"/>
                  </a:defRPr>
                </a:pPr>
              </a:p>
            </c:txPr>
            <c:showLegendKey val="0"/>
            <c:showVal val="1"/>
            <c:showCatName val="0"/>
            <c:showSerName val="0"/>
            <c:showPercent val="0"/>
            <c:showBubbleSize val="0"/>
            <c:showLeaderLines val="0"/>
          </c:dLbls>
          <c:dPt>
            <c:idx val="0"/>
            <c:invertIfNegative val="0"/>
            <c:bubble3D val="0"/>
            <c:spPr>
              <a:solidFill>
                <a:srgbClr val="F2B705"/>
              </a:solidFill>
              <a:effectLst/>
            </c:spPr>
          </c:dPt>
          <c:dPt>
            <c:idx val="1"/>
            <c:invertIfNegative val="0"/>
            <c:bubble3D val="0"/>
            <c:spPr>
              <a:solidFill>
                <a:srgbClr val="4B5563"/>
              </a:solidFill>
              <a:effectLst/>
            </c:spPr>
          </c:dPt>
          <c:dPt>
            <c:idx val="2"/>
            <c:invertIfNegative val="0"/>
            <c:bubble3D val="0"/>
            <c:spPr>
              <a:solidFill>
                <a:srgbClr val="4B5563"/>
              </a:solidFill>
              <a:effectLst/>
            </c:spPr>
          </c:dPt>
          <c:dPt>
            <c:idx val="3"/>
            <c:invertIfNegative val="0"/>
            <c:bubble3D val="0"/>
            <c:spPr>
              <a:solidFill>
                <a:srgbClr val="4B5563"/>
              </a:solidFill>
              <a:effectLst/>
            </c:spPr>
          </c:dPt>
          <c:dPt>
            <c:idx val="4"/>
            <c:invertIfNegative val="0"/>
            <c:bubble3D val="0"/>
            <c:spPr>
              <a:solidFill>
                <a:srgbClr val="4B5563"/>
              </a:solidFill>
              <a:effectLst/>
            </c:spPr>
          </c:dPt>
          <c:dPt>
            <c:idx val="5"/>
            <c:invertIfNegative val="0"/>
            <c:bubble3D val="0"/>
            <c:spPr>
              <a:solidFill>
                <a:srgbClr val="4B5563"/>
              </a:solidFill>
              <a:effectLst/>
            </c:spPr>
          </c:dPt>
          <c:dPt>
            <c:idx val="6"/>
            <c:invertIfNegative val="0"/>
            <c:bubble3D val="0"/>
            <c:spPr>
              <a:solidFill>
                <a:srgbClr val="4B5563"/>
              </a:solidFill>
              <a:effectLst/>
            </c:spPr>
          </c:dPt>
          <c:cat>
            <c:multiLvlStrRef>
              <c:f>Sheet1!$A$2:$A$8</c:f>
              <c:multiLvlStrCache>
                <c:ptCount val="7"/>
                <c:lvl>
                  <c:pt idx="0">
                    <c:v>No meter record</c:v>
                  </c:pt>
                  <c:pt idx="1">
                    <c:v>Duration not 1–180 min</c:v>
                  </c:pt>
                  <c:pt idx="2">
                    <c:v>Unknown zone (264/265)</c:v>
                  </c:pt>
                  <c:pt idx="3">
                    <c:v>Distance not 0.1–100 mi</c:v>
                  </c:pt>
                  <c:pt idx="4">
                    <c:v>Fare not $2.50–$500</c:v>
                  </c:pt>
                  <c:pt idx="5">
                    <c:v>Unknown rate code (99)</c:v>
                  </c:pt>
                  <c:pt idx="6">
                    <c:v>3 other rules</c:v>
                  </c:pt>
                </c:lvl>
              </c:multiLvlStrCache>
            </c:multiLvlStrRef>
          </c:cat>
          <c:val>
            <c:numRef>
              <c:f>Sheet1!$B$2:$B$8</c:f>
              <c:numCache>
                <c:formatCode>General</c:formatCode>
                <c:ptCount val="7"/>
                <c:pt idx="0">
                  <c:v>2.47</c:v>
                </c:pt>
                <c:pt idx="1">
                  <c:v>1.28</c:v>
                </c:pt>
                <c:pt idx="2">
                  <c:v>1.19</c:v>
                </c:pt>
                <c:pt idx="3">
                  <c:v>0.49</c:v>
                </c:pt>
                <c:pt idx="4">
                  <c:v>0.37</c:v>
                </c:pt>
                <c:pt idx="5">
                  <c:v>0.14</c:v>
                </c:pt>
                <c:pt idx="6">
                  <c:v>0.02</c:v>
                </c:pt>
              </c:numCache>
            </c:numRef>
          </c:val>
        </c:ser>
        <c:dLbls>
          <c:numFmt formatCode="0.00&quot;%&quot;" sourceLinked="0"/>
          <c:txPr>
            <a:bodyPr/>
            <a:lstStyle/>
            <a:p>
              <a:pPr>
                <a:defRPr b="0" i="0" strike="noStrike" sz="1200" u="none">
                  <a:solidFill>
                    <a:srgbClr val="1E242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D9DDE2"/>
            </a:solidFill>
            <a:prstDash val="solid"/>
            <a:round/>
          </a:ln>
        </c:spPr>
        <c:txPr>
          <a:bodyPr/>
          <a:lstStyle/>
          <a:p>
            <a:pPr>
              <a:defRPr sz="1200" b="0" i="0" u="none" strike="noStrike">
                <a:solidFill>
                  <a:srgbClr val="1E242C"/>
                </a:solidFill>
                <a:latin typeface="+mn-lt"/>
              </a:defRPr>
            </a:pPr>
            <a:endParaRPr lang="en-US"/>
          </a:p>
        </c:txPr>
        <c:crossAx val="2094734552"/>
        <c:crosses val="autoZero"/>
        <c:auto val="1"/>
        <c:lblAlgn val="ctr"/>
        <c:noMultiLvlLbl val="1"/>
      </c:catAx>
      <c:valAx>
        <c:axId val="2094734552"/>
        <c:scaling>
          <c:orientation val="minMax"/>
          <c:max val="3"/>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5F677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In 2023 prices</c:v>
                </c:pt>
              </c:strCache>
            </c:strRef>
          </c:tx>
          <c:spPr>
            <a:solidFill>
              <a:srgbClr val="F2B705"/>
            </a:solidFill>
            <a:ln w="31750" cap="flat">
              <a:solidFill>
                <a:srgbClr val="F2B705"/>
              </a:solidFill>
              <a:prstDash val="solid"/>
              <a:round/>
            </a:ln>
            <a:effectLst/>
          </c:spPr>
          <c:invertIfNegative val="0"/>
          <c:dLbls>
            <c:numFmt formatCode="#,##0" sourceLinked="0"/>
            <c:txPr>
              <a:bodyPr/>
              <a:lstStyle/>
              <a:p>
                <a:pPr>
                  <a:defRPr b="0" i="0" strike="noStrike" sz="1200" u="none">
                    <a:solidFill>
                      <a:srgbClr val="1E242C"/>
                    </a:solidFill>
                    <a:latin typeface="+mn-lt"/>
                  </a:defRPr>
                </a:pPr>
              </a:p>
            </c:txPr>
            <c:showLegendKey val="0"/>
            <c:showVal val="0"/>
            <c:showCatName val="0"/>
            <c:showSerName val="0"/>
            <c:showPercent val="0"/>
            <c:showBubbleSize val="0"/>
            <c:showLeaderLines val="0"/>
          </c:dLbls>
          <c:marker>
            <c:symbol val="none"/>
            <c:size val="6"/>
            <c:spPr>
              <a:solidFill>
                <a:srgbClr val="F2B705"/>
              </a:solidFill>
              <a:ln w="9525" cap="flat">
                <a:solidFill>
                  <a:srgbClr val="F2B705"/>
                </a:solidFill>
                <a:prstDash val="solid"/>
                <a:round/>
              </a:ln>
              <a:effectLst/>
            </c:spPr>
          </c:marker>
          <c:cat>
            <c:multiLvlStrRef>
              <c:f>Sheet1!$A$2:$A$60</c:f>
              <c:multiLvlStrCache>
                <c:ptCount val="59"/>
                <c:lvl>
                  <c:pt idx="0">
                    <c:v>2019</c:v>
                  </c:pt>
                  <c:pt idx="1">
                    <c:v/>
                  </c:pt>
                  <c:pt idx="2">
                    <c:v/>
                  </c:pt>
                  <c:pt idx="3">
                    <c:v/>
                  </c:pt>
                  <c:pt idx="4">
                    <c:v/>
                  </c:pt>
                  <c:pt idx="5">
                    <c:v/>
                  </c:pt>
                  <c:pt idx="6">
                    <c:v/>
                  </c:pt>
                  <c:pt idx="7">
                    <c:v/>
                  </c:pt>
                  <c:pt idx="8">
                    <c:v/>
                  </c:pt>
                  <c:pt idx="9">
                    <c:v/>
                  </c:pt>
                  <c:pt idx="10">
                    <c:v/>
                  </c:pt>
                  <c:pt idx="11">
                    <c:v/>
                  </c:pt>
                  <c:pt idx="12">
                    <c:v>2020</c:v>
                  </c:pt>
                  <c:pt idx="13">
                    <c:v/>
                  </c:pt>
                  <c:pt idx="14">
                    <c:v/>
                  </c:pt>
                  <c:pt idx="15">
                    <c:v/>
                  </c:pt>
                  <c:pt idx="16">
                    <c:v/>
                  </c:pt>
                  <c:pt idx="17">
                    <c:v/>
                  </c:pt>
                  <c:pt idx="18">
                    <c:v/>
                  </c:pt>
                  <c:pt idx="19">
                    <c:v/>
                  </c:pt>
                  <c:pt idx="20">
                    <c:v/>
                  </c:pt>
                  <c:pt idx="21">
                    <c:v/>
                  </c:pt>
                  <c:pt idx="22">
                    <c:v/>
                  </c:pt>
                  <c:pt idx="23">
                    <c:v>2021</c:v>
                  </c:pt>
                  <c:pt idx="24">
                    <c:v/>
                  </c:pt>
                  <c:pt idx="25">
                    <c:v/>
                  </c:pt>
                  <c:pt idx="26">
                    <c:v/>
                  </c:pt>
                  <c:pt idx="27">
                    <c:v/>
                  </c:pt>
                  <c:pt idx="28">
                    <c:v/>
                  </c:pt>
                  <c:pt idx="29">
                    <c:v/>
                  </c:pt>
                  <c:pt idx="30">
                    <c:v/>
                  </c:pt>
                  <c:pt idx="31">
                    <c:v/>
                  </c:pt>
                  <c:pt idx="32">
                    <c:v/>
                  </c:pt>
                  <c:pt idx="33">
                    <c:v/>
                  </c:pt>
                  <c:pt idx="34">
                    <c:v/>
                  </c:pt>
                  <c:pt idx="35">
                    <c:v>2022</c:v>
                  </c:pt>
                  <c:pt idx="36">
                    <c:v/>
                  </c:pt>
                  <c:pt idx="37">
                    <c:v/>
                  </c:pt>
                  <c:pt idx="38">
                    <c:v/>
                  </c:pt>
                  <c:pt idx="39">
                    <c:v/>
                  </c:pt>
                  <c:pt idx="40">
                    <c:v/>
                  </c:pt>
                  <c:pt idx="41">
                    <c:v/>
                  </c:pt>
                  <c:pt idx="42">
                    <c:v/>
                  </c:pt>
                  <c:pt idx="43">
                    <c:v/>
                  </c:pt>
                  <c:pt idx="44">
                    <c:v/>
                  </c:pt>
                  <c:pt idx="45">
                    <c:v/>
                  </c:pt>
                  <c:pt idx="46">
                    <c:v/>
                  </c:pt>
                  <c:pt idx="47">
                    <c:v>2023</c:v>
                  </c:pt>
                  <c:pt idx="48">
                    <c:v/>
                  </c:pt>
                  <c:pt idx="49">
                    <c:v/>
                  </c:pt>
                  <c:pt idx="50">
                    <c:v/>
                  </c:pt>
                  <c:pt idx="51">
                    <c:v/>
                  </c:pt>
                  <c:pt idx="52">
                    <c:v/>
                  </c:pt>
                  <c:pt idx="53">
                    <c:v/>
                  </c:pt>
                  <c:pt idx="54">
                    <c:v/>
                  </c:pt>
                  <c:pt idx="55">
                    <c:v/>
                  </c:pt>
                  <c:pt idx="56">
                    <c:v/>
                  </c:pt>
                  <c:pt idx="57">
                    <c:v/>
                  </c:pt>
                  <c:pt idx="58">
                    <c:v/>
                  </c:pt>
                </c:lvl>
              </c:multiLvlStrCache>
            </c:multiLvlStrRef>
          </c:cat>
          <c:val>
            <c:numRef>
              <c:f>Sheet1!$B$2:$B$60</c:f>
              <c:numCache>
                <c:formatCode>General</c:formatCode>
                <c:ptCount val="59"/>
                <c:pt idx="0">
                  <c:v>12.1</c:v>
                </c:pt>
                <c:pt idx="1">
                  <c:v>12.1</c:v>
                </c:pt>
                <c:pt idx="2">
                  <c:v>12.1</c:v>
                </c:pt>
                <c:pt idx="3">
                  <c:v>12.8</c:v>
                </c:pt>
                <c:pt idx="4">
                  <c:v>12.8</c:v>
                </c:pt>
                <c:pt idx="5">
                  <c:v>12.8</c:v>
                </c:pt>
                <c:pt idx="6">
                  <c:v>12.8</c:v>
                </c:pt>
                <c:pt idx="7">
                  <c:v>12.8</c:v>
                </c:pt>
                <c:pt idx="8">
                  <c:v>12.8</c:v>
                </c:pt>
                <c:pt idx="9">
                  <c:v>12.8</c:v>
                </c:pt>
                <c:pt idx="10">
                  <c:v>12.8</c:v>
                </c:pt>
                <c:pt idx="11">
                  <c:v>12.8</c:v>
                </c:pt>
                <c:pt idx="12">
                  <c:v>12.1</c:v>
                </c:pt>
                <c:pt idx="13">
                  <c:v>12.1</c:v>
                </c:pt>
                <c:pt idx="14">
                  <c:v>12.1</c:v>
                </c:pt>
                <c:pt idx="15">
                  <c:v>10.7</c:v>
                </c:pt>
                <c:pt idx="16">
                  <c:v>11.4</c:v>
                </c:pt>
                <c:pt idx="17">
                  <c:v>11.4</c:v>
                </c:pt>
                <c:pt idx="18">
                  <c:v>11.4</c:v>
                </c:pt>
                <c:pt idx="19">
                  <c:v>11.4</c:v>
                </c:pt>
                <c:pt idx="20">
                  <c:v>11.4</c:v>
                </c:pt>
                <c:pt idx="21">
                  <c:v>11.4</c:v>
                </c:pt>
                <c:pt idx="22">
                  <c:v>11.4</c:v>
                </c:pt>
                <c:pt idx="23">
                  <c:v>11.4</c:v>
                </c:pt>
                <c:pt idx="24">
                  <c:v>11.4</c:v>
                </c:pt>
                <c:pt idx="25">
                  <c:v>11.4</c:v>
                </c:pt>
                <c:pt idx="26">
                  <c:v>12.1</c:v>
                </c:pt>
                <c:pt idx="27">
                  <c:v>12.1</c:v>
                </c:pt>
                <c:pt idx="28">
                  <c:v>12.8</c:v>
                </c:pt>
                <c:pt idx="29">
                  <c:v>12.8</c:v>
                </c:pt>
                <c:pt idx="30">
                  <c:v>12.8</c:v>
                </c:pt>
                <c:pt idx="31">
                  <c:v>13.5</c:v>
                </c:pt>
                <c:pt idx="32">
                  <c:v>13.5</c:v>
                </c:pt>
                <c:pt idx="33">
                  <c:v>13.5</c:v>
                </c:pt>
                <c:pt idx="34">
                  <c:v>13.5</c:v>
                </c:pt>
                <c:pt idx="35">
                  <c:v>12.1</c:v>
                </c:pt>
                <c:pt idx="36">
                  <c:v>12.8</c:v>
                </c:pt>
                <c:pt idx="37">
                  <c:v>12.8</c:v>
                </c:pt>
                <c:pt idx="38">
                  <c:v>13.5</c:v>
                </c:pt>
                <c:pt idx="39">
                  <c:v>14.2</c:v>
                </c:pt>
                <c:pt idx="40">
                  <c:v>13.5</c:v>
                </c:pt>
                <c:pt idx="41">
                  <c:v>13.5</c:v>
                </c:pt>
                <c:pt idx="42">
                  <c:v>13.5</c:v>
                </c:pt>
                <c:pt idx="43">
                  <c:v>14.2</c:v>
                </c:pt>
                <c:pt idx="44">
                  <c:v>14.2</c:v>
                </c:pt>
                <c:pt idx="45">
                  <c:v>14.2</c:v>
                </c:pt>
                <c:pt idx="46">
                  <c:v>14.2</c:v>
                </c:pt>
                <c:pt idx="47">
                  <c:v>12.8</c:v>
                </c:pt>
                <c:pt idx="48">
                  <c:v>12.8</c:v>
                </c:pt>
                <c:pt idx="49">
                  <c:v>12.8</c:v>
                </c:pt>
                <c:pt idx="50">
                  <c:v>13.5</c:v>
                </c:pt>
                <c:pt idx="51">
                  <c:v>13.5</c:v>
                </c:pt>
                <c:pt idx="52">
                  <c:v>13.5</c:v>
                </c:pt>
                <c:pt idx="53">
                  <c:v>13.5</c:v>
                </c:pt>
                <c:pt idx="54">
                  <c:v>13.5</c:v>
                </c:pt>
                <c:pt idx="55">
                  <c:v>14.2</c:v>
                </c:pt>
                <c:pt idx="56">
                  <c:v>14.2</c:v>
                </c:pt>
                <c:pt idx="57">
                  <c:v>13.5</c:v>
                </c:pt>
                <c:pt idx="58">
                  <c:v>13.5</c:v>
                </c:pt>
              </c:numCache>
            </c:numRef>
          </c:val>
          <c:smooth val="0"/>
        </c:ser>
        <c:ser>
          <c:idx val="1"/>
          <c:order val="1"/>
          <c:tx>
            <c:strRef>
              <c:f>Sheet1!$C$1</c:f>
              <c:strCache>
                <c:ptCount val="1"/>
                <c:pt idx="0">
                  <c:v>Real fare</c:v>
                </c:pt>
              </c:strCache>
            </c:strRef>
          </c:tx>
          <c:spPr>
            <a:solidFill>
              <a:srgbClr val="C4C9D0"/>
            </a:solidFill>
            <a:ln w="31750" cap="flat">
              <a:solidFill>
                <a:srgbClr val="C4C9D0"/>
              </a:solidFill>
              <a:prstDash val="solid"/>
              <a:round/>
            </a:ln>
            <a:effectLst/>
          </c:spPr>
          <c:invertIfNegative val="0"/>
          <c:dLbls>
            <c:numFmt formatCode="#,##0" sourceLinked="0"/>
            <c:txPr>
              <a:bodyPr/>
              <a:lstStyle/>
              <a:p>
                <a:pPr>
                  <a:defRPr b="0" i="0" strike="noStrike" sz="1200" u="none">
                    <a:solidFill>
                      <a:srgbClr val="1E242C"/>
                    </a:solidFill>
                    <a:latin typeface="+mn-lt"/>
                  </a:defRPr>
                </a:pPr>
              </a:p>
            </c:txPr>
            <c:showLegendKey val="0"/>
            <c:showVal val="0"/>
            <c:showCatName val="0"/>
            <c:showSerName val="0"/>
            <c:showPercent val="0"/>
            <c:showBubbleSize val="0"/>
            <c:showLeaderLines val="0"/>
          </c:dLbls>
          <c:marker>
            <c:symbol val="none"/>
            <c:size val="6"/>
            <c:spPr>
              <a:solidFill>
                <a:srgbClr val="C4C9D0"/>
              </a:solidFill>
              <a:ln w="9525" cap="flat">
                <a:solidFill>
                  <a:srgbClr val="C4C9D0"/>
                </a:solidFill>
                <a:prstDash val="solid"/>
                <a:round/>
              </a:ln>
              <a:effectLst/>
            </c:spPr>
          </c:marker>
          <c:cat>
            <c:multiLvlStrRef>
              <c:f>Sheet1!$A$2:$A$60</c:f>
              <c:multiLvlStrCache>
                <c:ptCount val="59"/>
                <c:lvl>
                  <c:pt idx="0">
                    <c:v>2019</c:v>
                  </c:pt>
                  <c:pt idx="1">
                    <c:v/>
                  </c:pt>
                  <c:pt idx="2">
                    <c:v/>
                  </c:pt>
                  <c:pt idx="3">
                    <c:v/>
                  </c:pt>
                  <c:pt idx="4">
                    <c:v/>
                  </c:pt>
                  <c:pt idx="5">
                    <c:v/>
                  </c:pt>
                  <c:pt idx="6">
                    <c:v/>
                  </c:pt>
                  <c:pt idx="7">
                    <c:v/>
                  </c:pt>
                  <c:pt idx="8">
                    <c:v/>
                  </c:pt>
                  <c:pt idx="9">
                    <c:v/>
                  </c:pt>
                  <c:pt idx="10">
                    <c:v/>
                  </c:pt>
                  <c:pt idx="11">
                    <c:v/>
                  </c:pt>
                  <c:pt idx="12">
                    <c:v>2020</c:v>
                  </c:pt>
                  <c:pt idx="13">
                    <c:v/>
                  </c:pt>
                  <c:pt idx="14">
                    <c:v/>
                  </c:pt>
                  <c:pt idx="15">
                    <c:v/>
                  </c:pt>
                  <c:pt idx="16">
                    <c:v/>
                  </c:pt>
                  <c:pt idx="17">
                    <c:v/>
                  </c:pt>
                  <c:pt idx="18">
                    <c:v/>
                  </c:pt>
                  <c:pt idx="19">
                    <c:v/>
                  </c:pt>
                  <c:pt idx="20">
                    <c:v/>
                  </c:pt>
                  <c:pt idx="21">
                    <c:v/>
                  </c:pt>
                  <c:pt idx="22">
                    <c:v/>
                  </c:pt>
                  <c:pt idx="23">
                    <c:v>2021</c:v>
                  </c:pt>
                  <c:pt idx="24">
                    <c:v/>
                  </c:pt>
                  <c:pt idx="25">
                    <c:v/>
                  </c:pt>
                  <c:pt idx="26">
                    <c:v/>
                  </c:pt>
                  <c:pt idx="27">
                    <c:v/>
                  </c:pt>
                  <c:pt idx="28">
                    <c:v/>
                  </c:pt>
                  <c:pt idx="29">
                    <c:v/>
                  </c:pt>
                  <c:pt idx="30">
                    <c:v/>
                  </c:pt>
                  <c:pt idx="31">
                    <c:v/>
                  </c:pt>
                  <c:pt idx="32">
                    <c:v/>
                  </c:pt>
                  <c:pt idx="33">
                    <c:v/>
                  </c:pt>
                  <c:pt idx="34">
                    <c:v/>
                  </c:pt>
                  <c:pt idx="35">
                    <c:v>2022</c:v>
                  </c:pt>
                  <c:pt idx="36">
                    <c:v/>
                  </c:pt>
                  <c:pt idx="37">
                    <c:v/>
                  </c:pt>
                  <c:pt idx="38">
                    <c:v/>
                  </c:pt>
                  <c:pt idx="39">
                    <c:v/>
                  </c:pt>
                  <c:pt idx="40">
                    <c:v/>
                  </c:pt>
                  <c:pt idx="41">
                    <c:v/>
                  </c:pt>
                  <c:pt idx="42">
                    <c:v/>
                  </c:pt>
                  <c:pt idx="43">
                    <c:v/>
                  </c:pt>
                  <c:pt idx="44">
                    <c:v/>
                  </c:pt>
                  <c:pt idx="45">
                    <c:v/>
                  </c:pt>
                  <c:pt idx="46">
                    <c:v/>
                  </c:pt>
                  <c:pt idx="47">
                    <c:v>2023</c:v>
                  </c:pt>
                  <c:pt idx="48">
                    <c:v/>
                  </c:pt>
                  <c:pt idx="49">
                    <c:v/>
                  </c:pt>
                  <c:pt idx="50">
                    <c:v/>
                  </c:pt>
                  <c:pt idx="51">
                    <c:v/>
                  </c:pt>
                  <c:pt idx="52">
                    <c:v/>
                  </c:pt>
                  <c:pt idx="53">
                    <c:v/>
                  </c:pt>
                  <c:pt idx="54">
                    <c:v/>
                  </c:pt>
                  <c:pt idx="55">
                    <c:v/>
                  </c:pt>
                  <c:pt idx="56">
                    <c:v/>
                  </c:pt>
                  <c:pt idx="57">
                    <c:v/>
                  </c:pt>
                  <c:pt idx="58">
                    <c:v/>
                  </c:pt>
                </c:lvl>
              </c:multiLvlStrCache>
            </c:multiLvlStrRef>
          </c:cat>
          <c:val>
            <c:numRef>
              <c:f>Sheet1!$C$2:$C$60</c:f>
              <c:numCache>
                <c:formatCode>General</c:formatCode>
                <c:ptCount val="59"/>
                <c:pt idx="0">
                  <c:v>9</c:v>
                </c:pt>
                <c:pt idx="1">
                  <c:v>9</c:v>
                </c:pt>
                <c:pt idx="2">
                  <c:v>9</c:v>
                </c:pt>
                <c:pt idx="3">
                  <c:v>9.5</c:v>
                </c:pt>
                <c:pt idx="4">
                  <c:v>9.5</c:v>
                </c:pt>
                <c:pt idx="5">
                  <c:v>9.5</c:v>
                </c:pt>
                <c:pt idx="6">
                  <c:v>9.5</c:v>
                </c:pt>
                <c:pt idx="7">
                  <c:v>9.5</c:v>
                </c:pt>
                <c:pt idx="8">
                  <c:v>9.5</c:v>
                </c:pt>
                <c:pt idx="9">
                  <c:v>9.5</c:v>
                </c:pt>
                <c:pt idx="10">
                  <c:v>9.5</c:v>
                </c:pt>
                <c:pt idx="11">
                  <c:v>9.5</c:v>
                </c:pt>
                <c:pt idx="12">
                  <c:v>9</c:v>
                </c:pt>
                <c:pt idx="13">
                  <c:v>9</c:v>
                </c:pt>
                <c:pt idx="14">
                  <c:v>9</c:v>
                </c:pt>
                <c:pt idx="15">
                  <c:v>8</c:v>
                </c:pt>
                <c:pt idx="16">
                  <c:v>8.5</c:v>
                </c:pt>
                <c:pt idx="17">
                  <c:v>8.5</c:v>
                </c:pt>
                <c:pt idx="18">
                  <c:v>8.5</c:v>
                </c:pt>
                <c:pt idx="19">
                  <c:v>8.5</c:v>
                </c:pt>
                <c:pt idx="20">
                  <c:v>8.5</c:v>
                </c:pt>
                <c:pt idx="21">
                  <c:v>8.5</c:v>
                </c:pt>
                <c:pt idx="22">
                  <c:v>8.5</c:v>
                </c:pt>
                <c:pt idx="23">
                  <c:v>8.5</c:v>
                </c:pt>
                <c:pt idx="24">
                  <c:v>8.5</c:v>
                </c:pt>
                <c:pt idx="25">
                  <c:v>8.5</c:v>
                </c:pt>
                <c:pt idx="26">
                  <c:v>9</c:v>
                </c:pt>
                <c:pt idx="27">
                  <c:v>9</c:v>
                </c:pt>
                <c:pt idx="28">
                  <c:v>9.5</c:v>
                </c:pt>
                <c:pt idx="29">
                  <c:v>9.5</c:v>
                </c:pt>
                <c:pt idx="30">
                  <c:v>9.5</c:v>
                </c:pt>
                <c:pt idx="31">
                  <c:v>10</c:v>
                </c:pt>
                <c:pt idx="32">
                  <c:v>10</c:v>
                </c:pt>
                <c:pt idx="33">
                  <c:v>10</c:v>
                </c:pt>
                <c:pt idx="34">
                  <c:v>10</c:v>
                </c:pt>
                <c:pt idx="35">
                  <c:v>9</c:v>
                </c:pt>
                <c:pt idx="36">
                  <c:v>9.5</c:v>
                </c:pt>
                <c:pt idx="37">
                  <c:v>9.5</c:v>
                </c:pt>
                <c:pt idx="38">
                  <c:v>10</c:v>
                </c:pt>
                <c:pt idx="39">
                  <c:v>10.5</c:v>
                </c:pt>
                <c:pt idx="40">
                  <c:v>10</c:v>
                </c:pt>
                <c:pt idx="41">
                  <c:v>10</c:v>
                </c:pt>
                <c:pt idx="42">
                  <c:v>10</c:v>
                </c:pt>
                <c:pt idx="43">
                  <c:v>10.5</c:v>
                </c:pt>
                <c:pt idx="44">
                  <c:v>10.5</c:v>
                </c:pt>
                <c:pt idx="45">
                  <c:v>10.5</c:v>
                </c:pt>
                <c:pt idx="46">
                  <c:v>11.5</c:v>
                </c:pt>
                <c:pt idx="47">
                  <c:v>12.8</c:v>
                </c:pt>
                <c:pt idx="48">
                  <c:v>12.8</c:v>
                </c:pt>
                <c:pt idx="49">
                  <c:v>12.8</c:v>
                </c:pt>
                <c:pt idx="50">
                  <c:v>13.5</c:v>
                </c:pt>
                <c:pt idx="51">
                  <c:v>13.5</c:v>
                </c:pt>
                <c:pt idx="52">
                  <c:v>13.5</c:v>
                </c:pt>
                <c:pt idx="53">
                  <c:v>13.5</c:v>
                </c:pt>
                <c:pt idx="54">
                  <c:v>13.5</c:v>
                </c:pt>
                <c:pt idx="55">
                  <c:v>14.2</c:v>
                </c:pt>
                <c:pt idx="56">
                  <c:v>14.2</c:v>
                </c:pt>
                <c:pt idx="57">
                  <c:v>13.5</c:v>
                </c:pt>
                <c:pt idx="58">
                  <c:v>13.5</c:v>
                </c:pt>
              </c:numCache>
            </c:numRef>
          </c:val>
          <c:smooth val="0"/>
        </c:ser>
        <c:dLbls>
          <c:numFmt formatCode="#,##0" sourceLinked="0"/>
          <c:txPr>
            <a:bodyPr/>
            <a:lstStyle/>
            <a:p>
              <a:pPr>
                <a:defRPr b="0" i="0" strike="noStrike" sz="1200" u="none">
                  <a:solidFill>
                    <a:srgbClr val="1E242C"/>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9DDE2"/>
            </a:solidFill>
            <a:prstDash val="solid"/>
            <a:round/>
          </a:ln>
        </c:spPr>
        <c:txPr>
          <a:bodyPr/>
          <a:lstStyle/>
          <a:p>
            <a:pPr>
              <a:defRPr sz="1100" b="0" i="0" u="none" strike="noStrike">
                <a:solidFill>
                  <a:srgbClr val="1E242C"/>
                </a:solidFill>
                <a:latin typeface="+mn-lt"/>
              </a:defRPr>
            </a:pPr>
            <a:endParaRPr lang="en-US"/>
          </a:p>
        </c:txPr>
        <c:crossAx val="2094734552"/>
        <c:crosses val="autoZero"/>
        <c:auto val="1"/>
        <c:lblAlgn val="ctr"/>
        <c:noMultiLvlLbl val="1"/>
        <c:tickLblSkip val="1"/>
      </c:catAx>
      <c:valAx>
        <c:axId val="2094734552"/>
        <c:scaling>
          <c:orientation val="minMax"/>
          <c:max val="16"/>
          <c:min val="6"/>
        </c:scaling>
        <c:delete val="0"/>
        <c:axPos val="l"/>
        <c:majorGridlines>
          <c:spPr>
            <a:ln w="6350" cap="flat">
              <a:solidFill>
                <a:srgbClr val="E6E8EB"/>
              </a:solidFill>
              <a:prstDash val="solid"/>
              <a:round/>
            </a:ln>
          </c:spPr>
        </c:majorGridlines>
        <c:title>
          <c:tx>
            <c:rich>
              <a:bodyPr/>
              <a:lstStyle/>
              <a:p>
                <a:pPr>
                  <a:defRPr sz="1100" b="0" i="0" u="none" strike="noStrike">
                    <a:solidFill>
                      <a:srgbClr val="5F6772"/>
                    </a:solidFill>
                    <a:latin typeface="Arial"/>
                  </a:defRPr>
                </a:pPr>
                <a:r>
                  <a:rPr sz="1100" b="0" i="0" u="none" strike="noStrike">
                    <a:solidFill>
                      <a:srgbClr val="5F6772"/>
                    </a:solidFill>
                    <a:latin typeface="Arial"/>
                  </a:rPr>
                  <a:t>Median fare per month ($)</a:t>
                </a:r>
              </a:p>
            </c:rich>
          </c:tx>
          <c:layout/>
          <c:overlay val="0"/>
        </c:title>
        <c:numFmt formatCode="&quot;$&quot;0" sourceLinked="0"/>
        <c:majorTickMark val="out"/>
        <c:minorTickMark val="none"/>
        <c:tickLblPos val="nextTo"/>
        <c:spPr>
          <a:ln w="12700" cap="flat">
            <a:noFill/>
            <a:prstDash val="solid"/>
            <a:round/>
          </a:ln>
        </c:spPr>
        <c:txPr>
          <a:bodyPr/>
          <a:lstStyle/>
          <a:p>
            <a:pPr>
              <a:defRPr sz="1100" b="0" i="0" u="none" strike="noStrike">
                <a:solidFill>
                  <a:srgbClr val="5F6772"/>
                </a:solidFill>
                <a:latin typeface="+mn-lt"/>
              </a:defRPr>
            </a:pPr>
            <a:endParaRPr lang="en-US"/>
          </a:p>
        </c:txPr>
        <c:crossAx val="2094734554"/>
        <c:crosses val="autoZero"/>
        <c:crossBetween val="between"/>
        <c:majorUnit val="2"/>
      </c:valAx>
      <c:spPr>
        <a:noFill/>
        <a:ln>
          <a:noFill/>
        </a:ln>
        <a:effectLst/>
      </c:spPr>
    </c:plotArea>
    <c:legend>
      <c:legendPos val="t"/>
      <c:overlay val="0"/>
      <c:txPr>
        <a:bodyPr/>
        <a:lstStyle/>
        <a:p>
          <a:pPr>
            <a:defRPr sz="1200">
              <a:solidFill>
                <a:srgbClr val="1E242C"/>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Spearman ρ</c:v>
                </c:pt>
              </c:strCache>
            </c:strRef>
          </c:tx>
          <c:spPr>
            <a:solidFill>
              <a:srgbClr val="C4C9D0"/>
            </a:solidFill>
            <a:ln w="9525" cap="flat">
              <a:solidFill>
                <a:srgbClr val="1E242C"/>
              </a:solidFill>
              <a:prstDash val="solid"/>
              <a:round/>
            </a:ln>
            <a:effectLst/>
          </c:spPr>
          <c:invertIfNegative val="0"/>
          <c:dLbls>
            <c:numFmt formatCode="0.00" sourceLinked="0"/>
            <c:txPr>
              <a:bodyPr/>
              <a:lstStyle/>
              <a:p>
                <a:pPr>
                  <a:defRPr b="0" i="0" strike="noStrike" sz="1200" u="none">
                    <a:solidFill>
                      <a:srgbClr val="1E242C"/>
                    </a:solidFill>
                    <a:latin typeface="+mn-lt"/>
                  </a:defRPr>
                </a:pPr>
              </a:p>
            </c:txPr>
            <c:showLegendKey val="0"/>
            <c:showVal val="1"/>
            <c:showCatName val="0"/>
            <c:showSerName val="0"/>
            <c:showPercent val="0"/>
            <c:showBubbleSize val="0"/>
            <c:showLeaderLines val="0"/>
          </c:dLbls>
          <c:dPt>
            <c:idx val="0"/>
            <c:invertIfNegative val="0"/>
            <c:bubble3D val="0"/>
            <c:spPr>
              <a:solidFill>
                <a:srgbClr val="C4C9D0"/>
              </a:solidFill>
              <a:effectLst/>
            </c:spPr>
          </c:dPt>
          <c:dPt>
            <c:idx val="1"/>
            <c:invertIfNegative val="0"/>
            <c:bubble3D val="0"/>
            <c:spPr>
              <a:solidFill>
                <a:srgbClr val="C4C9D0"/>
              </a:solidFill>
              <a:effectLst/>
            </c:spPr>
          </c:dPt>
          <c:dPt>
            <c:idx val="2"/>
            <c:invertIfNegative val="0"/>
            <c:bubble3D val="0"/>
            <c:spPr>
              <a:solidFill>
                <a:srgbClr val="F2B705"/>
              </a:solidFill>
              <a:effectLst/>
            </c:spPr>
          </c:dPt>
          <c:dPt>
            <c:idx val="3"/>
            <c:invertIfNegative val="0"/>
            <c:bubble3D val="0"/>
            <c:spPr>
              <a:solidFill>
                <a:srgbClr val="4B5563"/>
              </a:solidFill>
              <a:effectLst/>
            </c:spPr>
          </c:dPt>
          <c:dPt>
            <c:idx val="4"/>
            <c:invertIfNegative val="0"/>
            <c:bubble3D val="0"/>
            <c:spPr>
              <a:solidFill>
                <a:srgbClr val="C4C9D0"/>
              </a:solidFill>
              <a:effectLst/>
            </c:spPr>
          </c:dPt>
          <c:dPt>
            <c:idx val="5"/>
            <c:invertIfNegative val="0"/>
            <c:bubble3D val="0"/>
            <c:spPr>
              <a:solidFill>
                <a:srgbClr val="C4C9D0"/>
              </a:solidFill>
              <a:effectLst/>
            </c:spPr>
          </c:dPt>
          <c:dPt>
            <c:idx val="6"/>
            <c:invertIfNegative val="0"/>
            <c:bubble3D val="0"/>
            <c:spPr>
              <a:solidFill>
                <a:srgbClr val="4B5563"/>
              </a:solidFill>
              <a:effectLst/>
            </c:spPr>
          </c:dPt>
          <c:dPt>
            <c:idx val="7"/>
            <c:invertIfNegative val="0"/>
            <c:bubble3D val="0"/>
            <c:spPr>
              <a:solidFill>
                <a:srgbClr val="4B5563"/>
              </a:solidFill>
              <a:effectLst/>
            </c:spPr>
          </c:dPt>
          <c:dPt>
            <c:idx val="8"/>
            <c:invertIfNegative val="0"/>
            <c:bubble3D val="0"/>
            <c:spPr>
              <a:solidFill>
                <a:srgbClr val="4B5563"/>
              </a:solidFill>
              <a:effectLst/>
            </c:spPr>
          </c:dPt>
          <c:cat>
            <c:multiLvlStrRef>
              <c:f>Sheet1!$A$2:$A$10</c:f>
              <c:multiLvlStrCache>
                <c:ptCount val="9"/>
                <c:lvl>
                  <c:pt idx="0">
                    <c:v>total_amount (leak)</c:v>
                  </c:pt>
                  <c:pt idx="1">
                    <c:v>trip_duration (leak)</c:v>
                  </c:pt>
                  <c:pt idx="2">
                    <c:v>trip_distance</c:v>
                  </c:pt>
                  <c:pt idx="3">
                    <c:v>airport_trip</c:v>
                  </c:pt>
                  <c:pt idx="4">
                    <c:v>tip_amount (leak)</c:v>
                  </c:pt>
                  <c:pt idx="5">
                    <c:v>tolls_amount (leak)</c:v>
                  </c:pt>
                  <c:pt idx="6">
                    <c:v>RatecodeID</c:v>
                  </c:pt>
                  <c:pt idx="7">
                    <c:v>new_tariff</c:v>
                  </c:pt>
                  <c:pt idx="8">
                    <c:v>pickup_year</c:v>
                  </c:pt>
                </c:lvl>
              </c:multiLvlStrCache>
            </c:multiLvlStrRef>
          </c:cat>
          <c:val>
            <c:numRef>
              <c:f>Sheet1!$B$2:$B$10</c:f>
              <c:numCache>
                <c:formatCode>General</c:formatCode>
                <c:ptCount val="9"/>
                <c:pt idx="0">
                  <c:v>0.961</c:v>
                </c:pt>
                <c:pt idx="1">
                  <c:v>0.951</c:v>
                </c:pt>
                <c:pt idx="2">
                  <c:v>0.914</c:v>
                </c:pt>
                <c:pt idx="3">
                  <c:v>0.445</c:v>
                </c:pt>
                <c:pt idx="4">
                  <c:v>0.431</c:v>
                </c:pt>
                <c:pt idx="5">
                  <c:v>0.388</c:v>
                </c:pt>
                <c:pt idx="6">
                  <c:v>0.3</c:v>
                </c:pt>
                <c:pt idx="7">
                  <c:v>0.215</c:v>
                </c:pt>
                <c:pt idx="8">
                  <c:v>0.168</c:v>
                </c:pt>
              </c:numCache>
            </c:numRef>
          </c:val>
        </c:ser>
        <c:dLbls>
          <c:numFmt formatCode="0.00" sourceLinked="0"/>
          <c:txPr>
            <a:bodyPr/>
            <a:lstStyle/>
            <a:p>
              <a:pPr>
                <a:defRPr b="0" i="0" strike="noStrike" sz="1200" u="none">
                  <a:solidFill>
                    <a:srgbClr val="1E242C"/>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D9DDE2"/>
            </a:solidFill>
            <a:prstDash val="solid"/>
            <a:round/>
          </a:ln>
        </c:spPr>
        <c:txPr>
          <a:bodyPr/>
          <a:lstStyle/>
          <a:p>
            <a:pPr>
              <a:defRPr sz="1100" b="0" i="0" u="none" strike="noStrike">
                <a:solidFill>
                  <a:srgbClr val="1E242C"/>
                </a:solidFill>
                <a:latin typeface="+mn-lt"/>
              </a:defRPr>
            </a:pPr>
            <a:endParaRPr lang="en-US"/>
          </a:p>
        </c:txPr>
        <c:crossAx val="2094734552"/>
        <c:crosses val="autoZero"/>
        <c:auto val="1"/>
        <c:lblAlgn val="ctr"/>
        <c:noMultiLvlLbl val="1"/>
      </c:catAx>
      <c:valAx>
        <c:axId val="2094734552"/>
        <c:scaling>
          <c:orientation val="minMax"/>
          <c:max val="1.15"/>
          <c:min val="0"/>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5F677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Random forest</c:v>
                </c:pt>
              </c:strCache>
            </c:strRef>
          </c:tx>
          <c:spPr>
            <a:solidFill>
              <a:srgbClr val="F2B705"/>
            </a:solidFill>
            <a:ln w="6350" cap="flat">
              <a:solidFill>
                <a:srgbClr val="1E242C"/>
              </a:solidFill>
              <a:prstDash val="solid"/>
              <a:round/>
            </a:ln>
            <a:effectLst/>
          </c:spPr>
          <c:invertIfNegative val="0"/>
          <c:dLbls>
            <c:numFmt formatCode="&quot;$&quot;0.00" sourceLinked="0"/>
            <c:txPr>
              <a:bodyPr/>
              <a:lstStyle/>
              <a:p>
                <a:pPr>
                  <a:defRPr b="0" i="0" strike="noStrike" sz="1000" u="none">
                    <a:solidFill>
                      <a:srgbClr val="1E242C"/>
                    </a:solidFill>
                    <a:latin typeface="+mn-lt"/>
                  </a:defRPr>
                </a:pPr>
              </a:p>
            </c:txPr>
            <c:showLegendKey val="0"/>
            <c:showVal val="1"/>
            <c:showCatName val="0"/>
            <c:showSerName val="0"/>
            <c:showPercent val="0"/>
            <c:showBubbleSize val="0"/>
            <c:showLeaderLines val="0"/>
          </c:dLbls>
          <c:cat>
            <c:multiLvlStrRef>
              <c:f>Sheet1!$A$2:$A$7</c:f>
              <c:multiLvlStrCache>
                <c:ptCount val="6"/>
                <c:lvl>
                  <c:pt idx="0">
                    <c:v>Old tariff only, real fares</c:v>
                  </c:pt>
                  <c:pt idx="1">
                    <c:v>All years, no period features</c:v>
                  </c:pt>
                  <c:pt idx="2">
                    <c:v>All years + year &amp; tariff flag</c:v>
                  </c:pt>
                  <c:pt idx="3">
                    <c:v>New tariff only (6 months)</c:v>
                  </c:pt>
                  <c:pt idx="4">
                    <c:v>2022 – mid-2023, 2023 prices</c:v>
                  </c:pt>
                  <c:pt idx="5">
                    <c:v>All years, 2023 prices (chosen)</c:v>
                  </c:pt>
                </c:lvl>
              </c:multiLvlStrCache>
            </c:multiLvlStrRef>
          </c:cat>
          <c:val>
            <c:numRef>
              <c:f>Sheet1!$B$2:$B$7</c:f>
              <c:numCache>
                <c:formatCode>General</c:formatCode>
                <c:ptCount val="6"/>
                <c:pt idx="0">
                  <c:v>5.504</c:v>
                </c:pt>
                <c:pt idx="1">
                  <c:v>5.313</c:v>
                </c:pt>
                <c:pt idx="2">
                  <c:v>2.13</c:v>
                </c:pt>
                <c:pt idx="3">
                  <c:v>1.986</c:v>
                </c:pt>
                <c:pt idx="4">
                  <c:v>1.953</c:v>
                </c:pt>
                <c:pt idx="5">
                  <c:v>1.972</c:v>
                </c:pt>
              </c:numCache>
            </c:numRef>
          </c:val>
        </c:ser>
        <c:ser>
          <c:idx val="1"/>
          <c:order val="1"/>
          <c:tx>
            <c:strRef>
              <c:f>Sheet1!$C$1</c:f>
              <c:strCache>
                <c:ptCount val="1"/>
                <c:pt idx="0">
                  <c:v>Gradient boosting</c:v>
                </c:pt>
              </c:strCache>
            </c:strRef>
          </c:tx>
          <c:spPr>
            <a:solidFill>
              <a:srgbClr val="C4C9D0"/>
            </a:solidFill>
            <a:ln w="6350" cap="flat">
              <a:solidFill>
                <a:srgbClr val="1E242C"/>
              </a:solidFill>
              <a:prstDash val="solid"/>
              <a:round/>
            </a:ln>
            <a:effectLst/>
          </c:spPr>
          <c:invertIfNegative val="0"/>
          <c:dLbls>
            <c:numFmt formatCode="&quot;$&quot;0.00" sourceLinked="0"/>
            <c:txPr>
              <a:bodyPr/>
              <a:lstStyle/>
              <a:p>
                <a:pPr>
                  <a:defRPr b="0" i="0" strike="noStrike" sz="1000" u="none">
                    <a:solidFill>
                      <a:srgbClr val="1E242C"/>
                    </a:solidFill>
                    <a:latin typeface="+mn-lt"/>
                  </a:defRPr>
                </a:pPr>
              </a:p>
            </c:txPr>
            <c:showLegendKey val="0"/>
            <c:showVal val="1"/>
            <c:showCatName val="0"/>
            <c:showSerName val="0"/>
            <c:showPercent val="0"/>
            <c:showBubbleSize val="0"/>
            <c:showLeaderLines val="0"/>
          </c:dLbls>
          <c:cat>
            <c:multiLvlStrRef>
              <c:f>Sheet1!$A$2:$A$7</c:f>
              <c:multiLvlStrCache>
                <c:ptCount val="6"/>
                <c:lvl>
                  <c:pt idx="0">
                    <c:v>Old tariff only, real fares</c:v>
                  </c:pt>
                  <c:pt idx="1">
                    <c:v>All years, no period features</c:v>
                  </c:pt>
                  <c:pt idx="2">
                    <c:v>All years + year &amp; tariff flag</c:v>
                  </c:pt>
                  <c:pt idx="3">
                    <c:v>New tariff only (6 months)</c:v>
                  </c:pt>
                  <c:pt idx="4">
                    <c:v>2022 – mid-2023, 2023 prices</c:v>
                  </c:pt>
                  <c:pt idx="5">
                    <c:v>All years, 2023 prices (chosen)</c:v>
                  </c:pt>
                </c:lvl>
              </c:multiLvlStrCache>
            </c:multiLvlStrRef>
          </c:cat>
          <c:val>
            <c:numRef>
              <c:f>Sheet1!$C$2:$C$7</c:f>
              <c:numCache>
                <c:formatCode>General</c:formatCode>
                <c:ptCount val="6"/>
                <c:pt idx="0">
                  <c:v>5.512</c:v>
                </c:pt>
                <c:pt idx="1">
                  <c:v>5.452</c:v>
                </c:pt>
                <c:pt idx="2">
                  <c:v>1.97</c:v>
                </c:pt>
                <c:pt idx="3">
                  <c:v>1.991</c:v>
                </c:pt>
                <c:pt idx="4">
                  <c:v>1.922</c:v>
                </c:pt>
                <c:pt idx="5">
                  <c:v>1.92</c:v>
                </c:pt>
              </c:numCache>
            </c:numRef>
          </c:val>
        </c:ser>
        <c:dLbls>
          <c:numFmt formatCode="&quot;$&quot;0.00" sourceLinked="0"/>
          <c:txPr>
            <a:bodyPr/>
            <a:lstStyle/>
            <a:p>
              <a:pPr>
                <a:defRPr b="0" i="0" strike="noStrike" sz="1000" u="none">
                  <a:solidFill>
                    <a:srgbClr val="1E242C"/>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D9DDE2"/>
            </a:solidFill>
            <a:prstDash val="solid"/>
            <a:round/>
          </a:ln>
        </c:spPr>
        <c:txPr>
          <a:bodyPr/>
          <a:lstStyle/>
          <a:p>
            <a:pPr>
              <a:defRPr sz="1100" b="0" i="0" u="none" strike="noStrike">
                <a:solidFill>
                  <a:srgbClr val="1E242C"/>
                </a:solidFill>
                <a:latin typeface="+mn-lt"/>
              </a:defRPr>
            </a:pPr>
            <a:endParaRPr lang="en-US"/>
          </a:p>
        </c:txPr>
        <c:crossAx val="2094734552"/>
        <c:crosses val="autoZero"/>
        <c:auto val="1"/>
        <c:lblAlgn val="ctr"/>
        <c:noMultiLvlLbl val="1"/>
      </c:catAx>
      <c:valAx>
        <c:axId val="2094734552"/>
        <c:scaling>
          <c:orientation val="minMax"/>
          <c:max val="6.6"/>
          <c:min val="0"/>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5F6772"/>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E242C"/>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Test MAE ($)</c:v>
                </c:pt>
              </c:strCache>
            </c:strRef>
          </c:tx>
          <c:spPr>
            <a:solidFill>
              <a:srgbClr val="F2B705"/>
            </a:solidFill>
            <a:ln w="9525" cap="flat">
              <a:solidFill>
                <a:srgbClr val="1E242C"/>
              </a:solidFill>
              <a:prstDash val="solid"/>
              <a:round/>
            </a:ln>
            <a:effectLst/>
          </c:spPr>
          <c:invertIfNegative val="0"/>
          <c:dLbls>
            <c:numFmt formatCode="&quot;$&quot;0.00" sourceLinked="0"/>
            <c:txPr>
              <a:bodyPr/>
              <a:lstStyle/>
              <a:p>
                <a:pPr>
                  <a:defRPr b="0" i="0" strike="noStrike" sz="1200" u="none">
                    <a:solidFill>
                      <a:srgbClr val="1E242C"/>
                    </a:solidFill>
                    <a:latin typeface="+mn-lt"/>
                  </a:defRPr>
                </a:pPr>
              </a:p>
            </c:txPr>
            <c:showLegendKey val="0"/>
            <c:showVal val="1"/>
            <c:showCatName val="0"/>
            <c:showSerName val="0"/>
            <c:showPercent val="0"/>
            <c:showBubbleSize val="0"/>
            <c:showLeaderLines val="0"/>
          </c:dLbls>
          <c:dPt>
            <c:idx val="0"/>
            <c:invertIfNegative val="0"/>
            <c:bubble3D val="0"/>
            <c:spPr>
              <a:solidFill>
                <a:srgbClr val="F2B705"/>
              </a:solidFill>
              <a:effectLst/>
            </c:spPr>
          </c:dPt>
          <c:dPt>
            <c:idx val="1"/>
            <c:invertIfNegative val="0"/>
            <c:bubble3D val="0"/>
            <c:spPr>
              <a:solidFill>
                <a:srgbClr val="4B5563"/>
              </a:solidFill>
              <a:effectLst/>
            </c:spPr>
          </c:dPt>
          <c:dPt>
            <c:idx val="2"/>
            <c:invertIfNegative val="0"/>
            <c:bubble3D val="0"/>
            <c:spPr>
              <a:solidFill>
                <a:srgbClr val="4B5563"/>
              </a:solidFill>
              <a:effectLst/>
            </c:spPr>
          </c:dPt>
          <c:dPt>
            <c:idx val="3"/>
            <c:invertIfNegative val="0"/>
            <c:bubble3D val="0"/>
            <c:spPr>
              <a:solidFill>
                <a:srgbClr val="4B5563"/>
              </a:solidFill>
              <a:effectLst/>
            </c:spPr>
          </c:dPt>
          <c:dPt>
            <c:idx val="4"/>
            <c:invertIfNegative val="0"/>
            <c:bubble3D val="0"/>
            <c:spPr>
              <a:solidFill>
                <a:srgbClr val="4B5563"/>
              </a:solidFill>
              <a:effectLst/>
            </c:spPr>
          </c:dPt>
          <c:dPt>
            <c:idx val="5"/>
            <c:invertIfNegative val="0"/>
            <c:bubble3D val="0"/>
            <c:spPr>
              <a:solidFill>
                <a:srgbClr val="4B5563"/>
              </a:solidFill>
              <a:effectLst/>
            </c:spPr>
          </c:dPt>
          <c:dPt>
            <c:idx val="6"/>
            <c:invertIfNegative val="0"/>
            <c:bubble3D val="0"/>
            <c:spPr>
              <a:solidFill>
                <a:srgbClr val="C4C9D0"/>
              </a:solidFill>
              <a:effectLst/>
            </c:spPr>
          </c:dPt>
          <c:dPt>
            <c:idx val="7"/>
            <c:invertIfNegative val="0"/>
            <c:bubble3D val="0"/>
            <c:spPr>
              <a:solidFill>
                <a:srgbClr val="C4C9D0"/>
              </a:solidFill>
              <a:effectLst/>
            </c:spPr>
          </c:dPt>
          <c:cat>
            <c:multiLvlStrRef>
              <c:f>Sheet1!$A$2:$A$9</c:f>
              <c:multiLvlStrCache>
                <c:ptCount val="8"/>
                <c:lvl>
                  <c:pt idx="0">
                    <c:v>Random forest</c:v>
                  </c:pt>
                  <c:pt idx="1">
                    <c:v>Neural network</c:v>
                  </c:pt>
                  <c:pt idx="2">
                    <c:v>SVM, RBF kernel</c:v>
                  </c:pt>
                  <c:pt idx="3">
                    <c:v>SVM, linear</c:v>
                  </c:pt>
                  <c:pt idx="4">
                    <c:v>Ridge</c:v>
                  </c:pt>
                  <c:pt idx="5">
                    <c:v>Lasso</c:v>
                  </c:pt>
                  <c:pt idx="6">
                    <c:v>Linear regression</c:v>
                  </c:pt>
                  <c:pt idx="7">
                    <c:v>Median-fare baseline</c:v>
                  </c:pt>
                </c:lvl>
              </c:multiLvlStrCache>
            </c:multiLvlStrRef>
          </c:cat>
          <c:val>
            <c:numRef>
              <c:f>Sheet1!$B$2:$B$9</c:f>
              <c:numCache>
                <c:formatCode>General</c:formatCode>
                <c:ptCount val="8"/>
                <c:pt idx="0">
                  <c:v>2.2</c:v>
                </c:pt>
                <c:pt idx="1">
                  <c:v>2.285</c:v>
                </c:pt>
                <c:pt idx="2">
                  <c:v>2.379</c:v>
                </c:pt>
                <c:pt idx="3">
                  <c:v>2.826</c:v>
                </c:pt>
                <c:pt idx="4">
                  <c:v>2.852</c:v>
                </c:pt>
                <c:pt idx="5">
                  <c:v>2.86</c:v>
                </c:pt>
                <c:pt idx="6">
                  <c:v>2.852</c:v>
                </c:pt>
                <c:pt idx="7">
                  <c:v>10.123</c:v>
                </c:pt>
              </c:numCache>
            </c:numRef>
          </c:val>
        </c:ser>
        <c:dLbls>
          <c:numFmt formatCode="&quot;$&quot;0.00" sourceLinked="0"/>
          <c:txPr>
            <a:bodyPr/>
            <a:lstStyle/>
            <a:p>
              <a:pPr>
                <a:defRPr b="0" i="0" strike="noStrike" sz="1200" u="none">
                  <a:solidFill>
                    <a:srgbClr val="1E242C"/>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D9DDE2"/>
            </a:solidFill>
            <a:prstDash val="solid"/>
            <a:round/>
          </a:ln>
        </c:spPr>
        <c:txPr>
          <a:bodyPr/>
          <a:lstStyle/>
          <a:p>
            <a:pPr>
              <a:defRPr sz="1200" b="0" i="0" u="none" strike="noStrike">
                <a:solidFill>
                  <a:srgbClr val="1E242C"/>
                </a:solidFill>
                <a:latin typeface="+mn-lt"/>
              </a:defRPr>
            </a:pPr>
            <a:endParaRPr lang="en-US"/>
          </a:p>
        </c:txPr>
        <c:crossAx val="2094734552"/>
        <c:crosses val="autoZero"/>
        <c:auto val="1"/>
        <c:lblAlgn val="ctr"/>
        <c:noMultiLvlLbl val="1"/>
      </c:catAx>
      <c:valAx>
        <c:axId val="2094734552"/>
        <c:scaling>
          <c:orientation val="minMax"/>
          <c:max val="11.8"/>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5F677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JFK MAE ($)</c:v>
                </c:pt>
              </c:strCache>
            </c:strRef>
          </c:tx>
          <c:spPr>
            <a:solidFill>
              <a:srgbClr val="F2B705"/>
            </a:solidFill>
            <a:ln w="9525" cap="flat">
              <a:solidFill>
                <a:srgbClr val="1E242C"/>
              </a:solidFill>
              <a:prstDash val="solid"/>
              <a:round/>
            </a:ln>
            <a:effectLst/>
          </c:spPr>
          <c:invertIfNegative val="0"/>
          <c:dLbls>
            <c:numFmt formatCode="&quot;$&quot;0.00" sourceLinked="0"/>
            <c:txPr>
              <a:bodyPr/>
              <a:lstStyle/>
              <a:p>
                <a:pPr>
                  <a:defRPr b="0" i="0" strike="noStrike" sz="1200" u="none">
                    <a:solidFill>
                      <a:srgbClr val="1E242C"/>
                    </a:solidFill>
                    <a:latin typeface="+mn-lt"/>
                  </a:defRPr>
                </a:pPr>
              </a:p>
            </c:txPr>
            <c:showLegendKey val="0"/>
            <c:showVal val="1"/>
            <c:showCatName val="0"/>
            <c:showSerName val="0"/>
            <c:showPercent val="0"/>
            <c:showBubbleSize val="0"/>
            <c:showLeaderLines val="0"/>
          </c:dLbls>
          <c:dPt>
            <c:idx val="0"/>
            <c:invertIfNegative val="0"/>
            <c:bubble3D val="0"/>
            <c:spPr>
              <a:solidFill>
                <a:srgbClr val="F2B705"/>
              </a:solidFill>
              <a:effectLst/>
            </c:spPr>
          </c:dPt>
          <c:dPt>
            <c:idx val="1"/>
            <c:invertIfNegative val="0"/>
            <c:bubble3D val="0"/>
            <c:spPr>
              <a:solidFill>
                <a:srgbClr val="F2B705"/>
              </a:solidFill>
              <a:effectLst/>
            </c:spPr>
          </c:dPt>
          <c:dPt>
            <c:idx val="2"/>
            <c:invertIfNegative val="0"/>
            <c:bubble3D val="0"/>
            <c:spPr>
              <a:solidFill>
                <a:srgbClr val="F2B705"/>
              </a:solidFill>
              <a:effectLst/>
            </c:spPr>
          </c:dPt>
          <c:dPt>
            <c:idx val="3"/>
            <c:invertIfNegative val="0"/>
            <c:bubble3D val="0"/>
            <c:spPr>
              <a:solidFill>
                <a:srgbClr val="C4C9D0"/>
              </a:solidFill>
              <a:effectLst/>
            </c:spPr>
          </c:dPt>
          <c:dPt>
            <c:idx val="4"/>
            <c:invertIfNegative val="0"/>
            <c:bubble3D val="0"/>
            <c:spPr>
              <a:solidFill>
                <a:srgbClr val="C4C9D0"/>
              </a:solidFill>
              <a:effectLst/>
            </c:spPr>
          </c:dPt>
          <c:dPt>
            <c:idx val="5"/>
            <c:invertIfNegative val="0"/>
            <c:bubble3D val="0"/>
            <c:spPr>
              <a:solidFill>
                <a:srgbClr val="C4C9D0"/>
              </a:solidFill>
              <a:effectLst/>
            </c:spPr>
          </c:dPt>
          <c:dPt>
            <c:idx val="6"/>
            <c:invertIfNegative val="0"/>
            <c:bubble3D val="0"/>
            <c:spPr>
              <a:solidFill>
                <a:srgbClr val="C4C9D0"/>
              </a:solidFill>
              <a:effectLst/>
            </c:spPr>
          </c:dPt>
          <c:cat>
            <c:multiLvlStrRef>
              <c:f>Sheet1!$A$2:$A$8</c:f>
              <c:multiLvlStrCache>
                <c:ptCount val="7"/>
                <c:lvl>
                  <c:pt idx="0">
                    <c:v>Random forest</c:v>
                  </c:pt>
                  <c:pt idx="1">
                    <c:v>Neural network</c:v>
                  </c:pt>
                  <c:pt idx="2">
                    <c:v>SVM, RBF</c:v>
                  </c:pt>
                  <c:pt idx="3">
                    <c:v>Linear reg.</c:v>
                  </c:pt>
                  <c:pt idx="4">
                    <c:v>Ridge</c:v>
                  </c:pt>
                  <c:pt idx="5">
                    <c:v>Lasso</c:v>
                  </c:pt>
                  <c:pt idx="6">
                    <c:v>SVM, linear</c:v>
                  </c:pt>
                </c:lvl>
              </c:multiLvlStrCache>
            </c:multiLvlStrRef>
          </c:cat>
          <c:val>
            <c:numRef>
              <c:f>Sheet1!$B$2:$B$8</c:f>
              <c:numCache>
                <c:formatCode>General</c:formatCode>
                <c:ptCount val="7"/>
                <c:pt idx="0">
                  <c:v>0.07</c:v>
                </c:pt>
                <c:pt idx="1">
                  <c:v>0.65</c:v>
                </c:pt>
                <c:pt idx="2">
                  <c:v>0.98</c:v>
                </c:pt>
                <c:pt idx="3">
                  <c:v>6.51</c:v>
                </c:pt>
                <c:pt idx="4">
                  <c:v>6.51</c:v>
                </c:pt>
                <c:pt idx="5">
                  <c:v>6.5</c:v>
                </c:pt>
                <c:pt idx="6">
                  <c:v>7.02</c:v>
                </c:pt>
              </c:numCache>
            </c:numRef>
          </c:val>
        </c:ser>
        <c:dLbls>
          <c:numFmt formatCode="&quot;$&quot;0.00" sourceLinked="0"/>
          <c:txPr>
            <a:bodyPr/>
            <a:lstStyle/>
            <a:p>
              <a:pPr>
                <a:defRPr b="0" i="0" strike="noStrike" sz="1200" u="none">
                  <a:solidFill>
                    <a:srgbClr val="1E242C"/>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9DDE2"/>
            </a:solidFill>
            <a:prstDash val="solid"/>
            <a:round/>
          </a:ln>
        </c:spPr>
        <c:txPr>
          <a:bodyPr/>
          <a:lstStyle/>
          <a:p>
            <a:pPr>
              <a:defRPr sz="1100" b="0" i="0" u="none" strike="noStrike">
                <a:solidFill>
                  <a:srgbClr val="1E242C"/>
                </a:solidFill>
                <a:latin typeface="+mn-lt"/>
              </a:defRPr>
            </a:pPr>
            <a:endParaRPr lang="en-US"/>
          </a:p>
        </c:txPr>
        <c:crossAx val="2094734552"/>
        <c:crosses val="autoZero"/>
        <c:auto val="1"/>
        <c:lblAlgn val="ctr"/>
        <c:noMultiLvlLbl val="1"/>
      </c:catAx>
      <c:valAx>
        <c:axId val="2094734552"/>
        <c:scaling>
          <c:orientation val="minMax"/>
          <c:max val="8"/>
          <c:min val="0"/>
        </c:scaling>
        <c:delete val="0"/>
        <c:axPos val="l"/>
        <c:majorGridlines>
          <c:spPr>
            <a:ln w="6350" cap="flat">
              <a:solidFill>
                <a:srgbClr val="E6E8EB"/>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100" b="0" i="0" u="none" strike="noStrike">
                <a:solidFill>
                  <a:srgbClr val="5F6772"/>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Median speed (mph)</c:v>
                </c:pt>
              </c:strCache>
            </c:strRef>
          </c:tx>
          <c:spPr>
            <a:solidFill>
              <a:srgbClr val="4B5563"/>
            </a:solidFill>
            <a:ln w="31750" cap="flat">
              <a:solidFill>
                <a:srgbClr val="4B5563"/>
              </a:solidFill>
              <a:prstDash val="solid"/>
              <a:round/>
            </a:ln>
            <a:effectLst/>
          </c:spPr>
          <c:invertIfNegative val="0"/>
          <c:dLbls>
            <c:numFmt formatCode="#,##0" sourceLinked="0"/>
            <c:txPr>
              <a:bodyPr/>
              <a:lstStyle/>
              <a:p>
                <a:pPr>
                  <a:defRPr b="0" i="0" strike="noStrike" sz="1200" u="none">
                    <a:solidFill>
                      <a:srgbClr val="1E242C"/>
                    </a:solidFill>
                    <a:latin typeface="+mn-lt"/>
                  </a:defRPr>
                </a:pPr>
              </a:p>
            </c:txPr>
            <c:showLegendKey val="0"/>
            <c:showVal val="0"/>
            <c:showCatName val="0"/>
            <c:showSerName val="0"/>
            <c:showPercent val="0"/>
            <c:showBubbleSize val="0"/>
            <c:showLeaderLines val="0"/>
          </c:dLbls>
          <c:marker>
            <c:symbol val="none"/>
            <c:size val="6"/>
            <c:spPr>
              <a:solidFill>
                <a:srgbClr val="4B5563"/>
              </a:solidFill>
              <a:ln w="9525" cap="flat">
                <a:solidFill>
                  <a:srgbClr val="4B5563"/>
                </a:solidFill>
                <a:prstDash val="solid"/>
                <a:round/>
              </a:ln>
              <a:effectLst/>
            </c:spPr>
          </c:marker>
          <c:cat>
            <c:multiLvlStrRef>
              <c:f>Sheet1!$A$2:$A$60</c:f>
              <c:multiLvlStrCache>
                <c:ptCount val="59"/>
                <c:lvl>
                  <c:pt idx="0">
                    <c:v>2019</c:v>
                  </c:pt>
                  <c:pt idx="1">
                    <c:v/>
                  </c:pt>
                  <c:pt idx="2">
                    <c:v/>
                  </c:pt>
                  <c:pt idx="3">
                    <c:v/>
                  </c:pt>
                  <c:pt idx="4">
                    <c:v/>
                  </c:pt>
                  <c:pt idx="5">
                    <c:v/>
                  </c:pt>
                  <c:pt idx="6">
                    <c:v/>
                  </c:pt>
                  <c:pt idx="7">
                    <c:v/>
                  </c:pt>
                  <c:pt idx="8">
                    <c:v/>
                  </c:pt>
                  <c:pt idx="9">
                    <c:v/>
                  </c:pt>
                  <c:pt idx="10">
                    <c:v/>
                  </c:pt>
                  <c:pt idx="11">
                    <c:v/>
                  </c:pt>
                  <c:pt idx="12">
                    <c:v>2020</c:v>
                  </c:pt>
                  <c:pt idx="13">
                    <c:v/>
                  </c:pt>
                  <c:pt idx="14">
                    <c:v/>
                  </c:pt>
                  <c:pt idx="15">
                    <c:v/>
                  </c:pt>
                  <c:pt idx="16">
                    <c:v/>
                  </c:pt>
                  <c:pt idx="17">
                    <c:v/>
                  </c:pt>
                  <c:pt idx="18">
                    <c:v/>
                  </c:pt>
                  <c:pt idx="19">
                    <c:v/>
                  </c:pt>
                  <c:pt idx="20">
                    <c:v/>
                  </c:pt>
                  <c:pt idx="21">
                    <c:v/>
                  </c:pt>
                  <c:pt idx="22">
                    <c:v/>
                  </c:pt>
                  <c:pt idx="23">
                    <c:v>2021</c:v>
                  </c:pt>
                  <c:pt idx="24">
                    <c:v/>
                  </c:pt>
                  <c:pt idx="25">
                    <c:v/>
                  </c:pt>
                  <c:pt idx="26">
                    <c:v/>
                  </c:pt>
                  <c:pt idx="27">
                    <c:v/>
                  </c:pt>
                  <c:pt idx="28">
                    <c:v/>
                  </c:pt>
                  <c:pt idx="29">
                    <c:v/>
                  </c:pt>
                  <c:pt idx="30">
                    <c:v/>
                  </c:pt>
                  <c:pt idx="31">
                    <c:v/>
                  </c:pt>
                  <c:pt idx="32">
                    <c:v/>
                  </c:pt>
                  <c:pt idx="33">
                    <c:v/>
                  </c:pt>
                  <c:pt idx="34">
                    <c:v/>
                  </c:pt>
                  <c:pt idx="35">
                    <c:v>2022</c:v>
                  </c:pt>
                  <c:pt idx="36">
                    <c:v/>
                  </c:pt>
                  <c:pt idx="37">
                    <c:v/>
                  </c:pt>
                  <c:pt idx="38">
                    <c:v/>
                  </c:pt>
                  <c:pt idx="39">
                    <c:v/>
                  </c:pt>
                  <c:pt idx="40">
                    <c:v/>
                  </c:pt>
                  <c:pt idx="41">
                    <c:v/>
                  </c:pt>
                  <c:pt idx="42">
                    <c:v/>
                  </c:pt>
                  <c:pt idx="43">
                    <c:v/>
                  </c:pt>
                  <c:pt idx="44">
                    <c:v/>
                  </c:pt>
                  <c:pt idx="45">
                    <c:v/>
                  </c:pt>
                  <c:pt idx="46">
                    <c:v/>
                  </c:pt>
                  <c:pt idx="47">
                    <c:v>2023</c:v>
                  </c:pt>
                  <c:pt idx="48">
                    <c:v/>
                  </c:pt>
                  <c:pt idx="49">
                    <c:v/>
                  </c:pt>
                  <c:pt idx="50">
                    <c:v/>
                  </c:pt>
                  <c:pt idx="51">
                    <c:v/>
                  </c:pt>
                  <c:pt idx="52">
                    <c:v/>
                  </c:pt>
                  <c:pt idx="53">
                    <c:v/>
                  </c:pt>
                  <c:pt idx="54">
                    <c:v/>
                  </c:pt>
                  <c:pt idx="55">
                    <c:v/>
                  </c:pt>
                  <c:pt idx="56">
                    <c:v/>
                  </c:pt>
                  <c:pt idx="57">
                    <c:v/>
                  </c:pt>
                  <c:pt idx="58">
                    <c:v/>
                  </c:pt>
                </c:lvl>
              </c:multiLvlStrCache>
            </c:multiLvlStrRef>
          </c:cat>
          <c:val>
            <c:numRef>
              <c:f>Sheet1!$B$2:$B$60</c:f>
              <c:numCache>
                <c:formatCode>General</c:formatCode>
                <c:ptCount val="59"/>
                <c:pt idx="0">
                  <c:v>9.99</c:v>
                </c:pt>
                <c:pt idx="1">
                  <c:v>9.72</c:v>
                </c:pt>
                <c:pt idx="2">
                  <c:v>9.8</c:v>
                </c:pt>
                <c:pt idx="3">
                  <c:v>9.75</c:v>
                </c:pt>
                <c:pt idx="4">
                  <c:v>9.62</c:v>
                </c:pt>
                <c:pt idx="5">
                  <c:v>9.68</c:v>
                </c:pt>
                <c:pt idx="6">
                  <c:v>9.97</c:v>
                </c:pt>
                <c:pt idx="7">
                  <c:v>10.16</c:v>
                </c:pt>
                <c:pt idx="8">
                  <c:v>9.53</c:v>
                </c:pt>
                <c:pt idx="9">
                  <c:v>9.13</c:v>
                </c:pt>
                <c:pt idx="10">
                  <c:v>9.27</c:v>
                </c:pt>
                <c:pt idx="11">
                  <c:v>9.38</c:v>
                </c:pt>
                <c:pt idx="12">
                  <c:v>10.05</c:v>
                </c:pt>
                <c:pt idx="13">
                  <c:v>9.73</c:v>
                </c:pt>
                <c:pt idx="14">
                  <c:v>10.43</c:v>
                </c:pt>
                <c:pt idx="15">
                  <c:v>14.21</c:v>
                </c:pt>
                <c:pt idx="16">
                  <c:v>12.91</c:v>
                </c:pt>
                <c:pt idx="17">
                  <c:v>12.35</c:v>
                </c:pt>
                <c:pt idx="18">
                  <c:v>11.85</c:v>
                </c:pt>
                <c:pt idx="19">
                  <c:v>11.16</c:v>
                </c:pt>
                <c:pt idx="20">
                  <c:v>10.62</c:v>
                </c:pt>
                <c:pt idx="21">
                  <c:v>10.84</c:v>
                </c:pt>
                <c:pt idx="22">
                  <c:v>10.63</c:v>
                </c:pt>
                <c:pt idx="23">
                  <c:v>11.75</c:v>
                </c:pt>
                <c:pt idx="24">
                  <c:v>10.93</c:v>
                </c:pt>
                <c:pt idx="25">
                  <c:v>11.08</c:v>
                </c:pt>
                <c:pt idx="26">
                  <c:v>10.95</c:v>
                </c:pt>
                <c:pt idx="27">
                  <c:v>10.94</c:v>
                </c:pt>
                <c:pt idx="28">
                  <c:v>10.56</c:v>
                </c:pt>
                <c:pt idx="29">
                  <c:v>11.02</c:v>
                </c:pt>
                <c:pt idx="30">
                  <c:v>11.18</c:v>
                </c:pt>
                <c:pt idx="31">
                  <c:v>10.32</c:v>
                </c:pt>
                <c:pt idx="32">
                  <c:v>9.89</c:v>
                </c:pt>
                <c:pt idx="33">
                  <c:v>9.81</c:v>
                </c:pt>
                <c:pt idx="34">
                  <c:v>10.06</c:v>
                </c:pt>
                <c:pt idx="35">
                  <c:v>10.89</c:v>
                </c:pt>
                <c:pt idx="36">
                  <c:v>10.06</c:v>
                </c:pt>
                <c:pt idx="37">
                  <c:v>10.1</c:v>
                </c:pt>
                <c:pt idx="38">
                  <c:v>10.14</c:v>
                </c:pt>
                <c:pt idx="39">
                  <c:v>9.98</c:v>
                </c:pt>
                <c:pt idx="40">
                  <c:v>9.99</c:v>
                </c:pt>
                <c:pt idx="41">
                  <c:v>10.58</c:v>
                </c:pt>
                <c:pt idx="42">
                  <c:v>10.5</c:v>
                </c:pt>
                <c:pt idx="43">
                  <c:v>9.67</c:v>
                </c:pt>
                <c:pt idx="44">
                  <c:v>9.57</c:v>
                </c:pt>
                <c:pt idx="45">
                  <c:v>9.5</c:v>
                </c:pt>
                <c:pt idx="46">
                  <c:v>9.48</c:v>
                </c:pt>
                <c:pt idx="47">
                  <c:v>10.08</c:v>
                </c:pt>
                <c:pt idx="48">
                  <c:v>9.8</c:v>
                </c:pt>
                <c:pt idx="49">
                  <c:v>9.65</c:v>
                </c:pt>
                <c:pt idx="50">
                  <c:v>9.72</c:v>
                </c:pt>
                <c:pt idx="51">
                  <c:v>9.38</c:v>
                </c:pt>
                <c:pt idx="52">
                  <c:v>9.47</c:v>
                </c:pt>
                <c:pt idx="53">
                  <c:v>9.86</c:v>
                </c:pt>
                <c:pt idx="54">
                  <c:v>9.85</c:v>
                </c:pt>
                <c:pt idx="55">
                  <c:v>8.83</c:v>
                </c:pt>
                <c:pt idx="56">
                  <c:v>8.82</c:v>
                </c:pt>
                <c:pt idx="57">
                  <c:v>8.72</c:v>
                </c:pt>
                <c:pt idx="58">
                  <c:v>8.82</c:v>
                </c:pt>
              </c:numCache>
            </c:numRef>
          </c:val>
          <c:smooth val="0"/>
        </c:ser>
        <c:dLbls>
          <c:numFmt formatCode="#,##0" sourceLinked="0"/>
          <c:txPr>
            <a:bodyPr/>
            <a:lstStyle/>
            <a:p>
              <a:pPr>
                <a:defRPr b="0" i="0" strike="noStrike" sz="1200" u="none">
                  <a:solidFill>
                    <a:srgbClr val="1E242C"/>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9DDE2"/>
            </a:solidFill>
            <a:prstDash val="solid"/>
            <a:round/>
          </a:ln>
        </c:spPr>
        <c:txPr>
          <a:bodyPr/>
          <a:lstStyle/>
          <a:p>
            <a:pPr>
              <a:defRPr sz="1100" b="0" i="0" u="none" strike="noStrike">
                <a:solidFill>
                  <a:srgbClr val="1E242C"/>
                </a:solidFill>
                <a:latin typeface="+mn-lt"/>
              </a:defRPr>
            </a:pPr>
            <a:endParaRPr lang="en-US"/>
          </a:p>
        </c:txPr>
        <c:crossAx val="2094734552"/>
        <c:crosses val="autoZero"/>
        <c:auto val="1"/>
        <c:lblAlgn val="ctr"/>
        <c:noMultiLvlLbl val="1"/>
        <c:tickLblSkip val="1"/>
      </c:catAx>
      <c:valAx>
        <c:axId val="2094734552"/>
        <c:scaling>
          <c:orientation val="minMax"/>
          <c:max val="15"/>
          <c:min val="8"/>
        </c:scaling>
        <c:delete val="0"/>
        <c:axPos val="l"/>
        <c:majorGridlines>
          <c:spPr>
            <a:ln w="6350" cap="flat">
              <a:solidFill>
                <a:srgbClr val="E6E8EB"/>
              </a:solidFill>
              <a:prstDash val="solid"/>
              <a:round/>
            </a:ln>
          </c:spPr>
        </c:majorGridlines>
        <c:title>
          <c:tx>
            <c:rich>
              <a:bodyPr/>
              <a:lstStyle/>
              <a:p>
                <a:pPr>
                  <a:defRPr sz="1100" b="0" i="0" u="none" strike="noStrike">
                    <a:solidFill>
                      <a:srgbClr val="5F6772"/>
                    </a:solidFill>
                    <a:latin typeface="Arial"/>
                  </a:defRPr>
                </a:pPr>
                <a:r>
                  <a:rPr sz="1100" b="0" i="0" u="none" strike="noStrike">
                    <a:solidFill>
                      <a:srgbClr val="5F6772"/>
                    </a:solidFill>
                    <a:latin typeface="Arial"/>
                  </a:rPr>
                  <a:t>Median taxi speed (mph)</a:t>
                </a:r>
              </a:p>
            </c:rich>
          </c:tx>
          <c:layout/>
          <c:overlay val="0"/>
        </c:title>
        <c:numFmt formatCode="General" sourceLinked="0"/>
        <c:majorTickMark val="out"/>
        <c:minorTickMark val="none"/>
        <c:tickLblPos val="nextTo"/>
        <c:spPr>
          <a:ln w="12700" cap="flat">
            <a:noFill/>
            <a:prstDash val="solid"/>
            <a:round/>
          </a:ln>
        </c:spPr>
        <c:txPr>
          <a:bodyPr/>
          <a:lstStyle/>
          <a:p>
            <a:pPr>
              <a:defRPr sz="1100" b="0" i="0" u="none" strike="noStrike">
                <a:solidFill>
                  <a:srgbClr val="5F6772"/>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Neural network</c:v>
                </c:pt>
              </c:strCache>
            </c:strRef>
          </c:tx>
          <c:spPr>
            <a:solidFill>
              <a:srgbClr val="1E242C"/>
            </a:solidFill>
            <a:ln w="31750" cap="flat">
              <a:solidFill>
                <a:srgbClr val="1E242C"/>
              </a:solidFill>
              <a:prstDash val="solid"/>
              <a:round/>
            </a:ln>
            <a:effectLst/>
          </c:spPr>
          <c:invertIfNegative val="0"/>
          <c:dLbls>
            <c:numFmt formatCode="#,##0" sourceLinked="0"/>
            <c:txPr>
              <a:bodyPr/>
              <a:lstStyle/>
              <a:p>
                <a:pPr>
                  <a:defRPr b="0" i="0" strike="noStrike" sz="1200" u="none">
                    <a:solidFill>
                      <a:srgbClr val="1E242C"/>
                    </a:solidFill>
                    <a:latin typeface="+mn-lt"/>
                  </a:defRPr>
                </a:pPr>
              </a:p>
            </c:txPr>
            <c:showLegendKey val="0"/>
            <c:showVal val="0"/>
            <c:showCatName val="0"/>
            <c:showSerName val="0"/>
            <c:showPercent val="0"/>
            <c:showBubbleSize val="0"/>
            <c:showLeaderLines val="0"/>
          </c:dLbls>
          <c:marker>
            <c:symbol val="circle"/>
            <c:size val="8"/>
            <c:spPr>
              <a:solidFill>
                <a:srgbClr val="1E242C"/>
              </a:solidFill>
              <a:ln w="9525" cap="flat">
                <a:solidFill>
                  <a:srgbClr val="1E242C"/>
                </a:solidFill>
                <a:prstDash val="solid"/>
                <a:round/>
              </a:ln>
              <a:effectLst/>
            </c:spPr>
          </c:marker>
          <c:cat>
            <c:multiLvlStrRef>
              <c:f>Sheet1!$A$2:$A$6</c:f>
              <c:multiLvlStrCache>
                <c:ptCount val="5"/>
                <c:lvl>
                  <c:pt idx="0">
                    <c:v>25k</c:v>
                  </c:pt>
                  <c:pt idx="1">
                    <c:v>50k</c:v>
                  </c:pt>
                  <c:pt idx="2">
                    <c:v>100k</c:v>
                  </c:pt>
                  <c:pt idx="3">
                    <c:v>200k</c:v>
                  </c:pt>
                  <c:pt idx="4">
                    <c:v>400k</c:v>
                  </c:pt>
                </c:lvl>
              </c:multiLvlStrCache>
            </c:multiLvlStrRef>
          </c:cat>
          <c:val>
            <c:numRef>
              <c:f>Sheet1!$B$2:$B$6</c:f>
              <c:numCache>
                <c:formatCode>General</c:formatCode>
                <c:ptCount val="5"/>
                <c:pt idx="0">
                  <c:v>2.411</c:v>
                </c:pt>
                <c:pt idx="1">
                  <c:v>2.181</c:v>
                </c:pt>
                <c:pt idx="2">
                  <c:v>2.054</c:v>
                </c:pt>
                <c:pt idx="3">
                  <c:v>2.026</c:v>
                </c:pt>
                <c:pt idx="4">
                  <c:v>2.012</c:v>
                </c:pt>
              </c:numCache>
            </c:numRef>
          </c:val>
          <c:smooth val="0"/>
        </c:ser>
        <c:ser>
          <c:idx val="1"/>
          <c:order val="1"/>
          <c:tx>
            <c:strRef>
              <c:f>Sheet1!$C$1</c:f>
              <c:strCache>
                <c:ptCount val="1"/>
                <c:pt idx="0">
                  <c:v>Linear regression</c:v>
                </c:pt>
              </c:strCache>
            </c:strRef>
          </c:tx>
          <c:spPr>
            <a:solidFill>
              <a:srgbClr val="C4C9D0"/>
            </a:solidFill>
            <a:ln w="31750" cap="flat">
              <a:solidFill>
                <a:srgbClr val="C4C9D0"/>
              </a:solidFill>
              <a:prstDash val="solid"/>
              <a:round/>
            </a:ln>
            <a:effectLst/>
          </c:spPr>
          <c:invertIfNegative val="0"/>
          <c:dLbls>
            <c:numFmt formatCode="#,##0" sourceLinked="0"/>
            <c:txPr>
              <a:bodyPr/>
              <a:lstStyle/>
              <a:p>
                <a:pPr>
                  <a:defRPr b="0" i="0" strike="noStrike" sz="1200" u="none">
                    <a:solidFill>
                      <a:srgbClr val="1E242C"/>
                    </a:solidFill>
                    <a:latin typeface="+mn-lt"/>
                  </a:defRPr>
                </a:pPr>
              </a:p>
            </c:txPr>
            <c:showLegendKey val="0"/>
            <c:showVal val="0"/>
            <c:showCatName val="0"/>
            <c:showSerName val="0"/>
            <c:showPercent val="0"/>
            <c:showBubbleSize val="0"/>
            <c:showLeaderLines val="0"/>
          </c:dLbls>
          <c:marker>
            <c:symbol val="circle"/>
            <c:size val="8"/>
            <c:spPr>
              <a:solidFill>
                <a:srgbClr val="C4C9D0"/>
              </a:solidFill>
              <a:ln w="9525" cap="flat">
                <a:solidFill>
                  <a:srgbClr val="C4C9D0"/>
                </a:solidFill>
                <a:prstDash val="solid"/>
                <a:round/>
              </a:ln>
              <a:effectLst/>
            </c:spPr>
          </c:marker>
          <c:cat>
            <c:multiLvlStrRef>
              <c:f>Sheet1!$A$2:$A$6</c:f>
              <c:multiLvlStrCache>
                <c:ptCount val="5"/>
                <c:lvl>
                  <c:pt idx="0">
                    <c:v>25k</c:v>
                  </c:pt>
                  <c:pt idx="1">
                    <c:v>50k</c:v>
                  </c:pt>
                  <c:pt idx="2">
                    <c:v>100k</c:v>
                  </c:pt>
                  <c:pt idx="3">
                    <c:v>200k</c:v>
                  </c:pt>
                  <c:pt idx="4">
                    <c:v>400k</c:v>
                  </c:pt>
                </c:lvl>
              </c:multiLvlStrCache>
            </c:multiLvlStrRef>
          </c:cat>
          <c:val>
            <c:numRef>
              <c:f>Sheet1!$C$2:$C$6</c:f>
              <c:numCache>
                <c:formatCode>General</c:formatCode>
                <c:ptCount val="5"/>
                <c:pt idx="0">
                  <c:v>2.61</c:v>
                </c:pt>
                <c:pt idx="1">
                  <c:v>2.6</c:v>
                </c:pt>
                <c:pt idx="2">
                  <c:v>2.59</c:v>
                </c:pt>
                <c:pt idx="3">
                  <c:v>2.583</c:v>
                </c:pt>
                <c:pt idx="4">
                  <c:v>2.571</c:v>
                </c:pt>
              </c:numCache>
            </c:numRef>
          </c:val>
          <c:smooth val="0"/>
        </c:ser>
        <c:dLbls>
          <c:numFmt formatCode="#,##0" sourceLinked="0"/>
          <c:txPr>
            <a:bodyPr/>
            <a:lstStyle/>
            <a:p>
              <a:pPr>
                <a:defRPr b="0" i="0" strike="noStrike" sz="1200" u="none">
                  <a:solidFill>
                    <a:srgbClr val="1E242C"/>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F6772"/>
                    </a:solidFill>
                    <a:latin typeface="Arial"/>
                  </a:defRPr>
                </a:pPr>
                <a:r>
                  <a:rPr sz="1100" b="0" i="0" u="none" strike="noStrike">
                    <a:solidFill>
                      <a:srgbClr val="5F6772"/>
                    </a:solidFill>
                    <a:latin typeface="Arial"/>
                  </a:rPr>
                  <a:t>Training trips (Jan 2019 – Jun 2023)</a:t>
                </a:r>
              </a:p>
            </c:rich>
          </c:tx>
          <c:layout/>
          <c:overlay val="0"/>
        </c:title>
        <c:numFmt formatCode="General" sourceLinked="1"/>
        <c:majorTickMark val="out"/>
        <c:minorTickMark val="none"/>
        <c:tickLblPos val="low"/>
        <c:spPr>
          <a:ln w="12700" cap="flat">
            <a:solidFill>
              <a:srgbClr val="D9DDE2"/>
            </a:solidFill>
            <a:prstDash val="solid"/>
            <a:round/>
          </a:ln>
        </c:spPr>
        <c:txPr>
          <a:bodyPr/>
          <a:lstStyle/>
          <a:p>
            <a:pPr>
              <a:defRPr sz="1200" b="0" i="0" u="none" strike="noStrike">
                <a:solidFill>
                  <a:srgbClr val="1E242C"/>
                </a:solidFill>
                <a:latin typeface="+mn-lt"/>
              </a:defRPr>
            </a:pPr>
            <a:endParaRPr lang="en-US"/>
          </a:p>
        </c:txPr>
        <c:crossAx val="2094734552"/>
        <c:crosses val="autoZero"/>
        <c:auto val="1"/>
        <c:lblAlgn val="ctr"/>
        <c:noMultiLvlLbl val="1"/>
      </c:catAx>
      <c:valAx>
        <c:axId val="2094734552"/>
        <c:scaling>
          <c:orientation val="minMax"/>
          <c:max val="2.8"/>
          <c:min val="1.8"/>
        </c:scaling>
        <c:delete val="0"/>
        <c:axPos val="l"/>
        <c:majorGridlines>
          <c:spPr>
            <a:ln w="6350" cap="flat">
              <a:solidFill>
                <a:srgbClr val="E6E8EB"/>
              </a:solidFill>
              <a:prstDash val="solid"/>
              <a:round/>
            </a:ln>
          </c:spPr>
        </c:majorGridlines>
        <c:title>
          <c:tx>
            <c:rich>
              <a:bodyPr/>
              <a:lstStyle/>
              <a:p>
                <a:pPr>
                  <a:defRPr sz="1100" b="0" i="0" u="none" strike="noStrike">
                    <a:solidFill>
                      <a:srgbClr val="5F6772"/>
                    </a:solidFill>
                    <a:latin typeface="Arial"/>
                  </a:defRPr>
                </a:pPr>
                <a:r>
                  <a:rPr sz="1100" b="0" i="0" u="none" strike="noStrike">
                    <a:solidFill>
                      <a:srgbClr val="5F6772"/>
                    </a:solidFill>
                    <a:latin typeface="Arial"/>
                  </a:rPr>
                  <a:t>Validation MAE, Jul–Sep 2023 ($)</a:t>
                </a:r>
              </a:p>
            </c:rich>
          </c:tx>
          <c:layout/>
          <c:overlay val="0"/>
        </c:title>
        <c:numFmt formatCode="&quot;$&quot;0.00" sourceLinked="0"/>
        <c:majorTickMark val="out"/>
        <c:minorTickMark val="none"/>
        <c:tickLblPos val="nextTo"/>
        <c:spPr>
          <a:ln w="12700" cap="flat">
            <a:noFill/>
            <a:prstDash val="solid"/>
            <a:round/>
          </a:ln>
        </c:spPr>
        <c:txPr>
          <a:bodyPr/>
          <a:lstStyle/>
          <a:p>
            <a:pPr>
              <a:defRPr sz="1100" b="0" i="0" u="none" strike="noStrike">
                <a:solidFill>
                  <a:srgbClr val="5F6772"/>
                </a:solidFill>
                <a:latin typeface="+mn-lt"/>
              </a:defRPr>
            </a:pPr>
            <a:endParaRPr lang="en-US"/>
          </a:p>
        </c:txPr>
        <c:crossAx val="2094734554"/>
        <c:crosses val="autoZero"/>
        <c:crossBetween val="between"/>
        <c:majorUnit val="0.2"/>
      </c:valAx>
      <c:spPr>
        <a:noFill/>
        <a:ln>
          <a:noFill/>
        </a:ln>
        <a:effectLst/>
      </c:spPr>
    </c:plotArea>
    <c:legend>
      <c:legendPos val="t"/>
      <c:overlay val="0"/>
      <c:txPr>
        <a:bodyPr/>
        <a:lstStyle/>
        <a:p>
          <a:pPr>
            <a:defRPr sz="1200">
              <a:solidFill>
                <a:srgbClr val="1E242C"/>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Fit time (s)</c:v>
                </c:pt>
              </c:strCache>
            </c:strRef>
          </c:tx>
          <c:spPr>
            <a:solidFill>
              <a:srgbClr val="4B5563"/>
            </a:solidFill>
            <a:ln w="9525" cap="flat">
              <a:solidFill>
                <a:srgbClr val="1E242C"/>
              </a:solidFill>
              <a:prstDash val="solid"/>
              <a:round/>
            </a:ln>
            <a:effectLst/>
          </c:spPr>
          <c:invertIfNegative val="0"/>
          <c:dLbls>
            <c:numFmt formatCode="0.0&quot; s&quot;" sourceLinked="0"/>
            <c:txPr>
              <a:bodyPr/>
              <a:lstStyle/>
              <a:p>
                <a:pPr>
                  <a:defRPr b="0" i="0" strike="noStrike" sz="1200" u="none">
                    <a:solidFill>
                      <a:srgbClr val="1E242C"/>
                    </a:solidFill>
                    <a:latin typeface="+mn-lt"/>
                  </a:defRPr>
                </a:pPr>
              </a:p>
            </c:txPr>
            <c:showLegendKey val="0"/>
            <c:showVal val="1"/>
            <c:showCatName val="0"/>
            <c:showSerName val="0"/>
            <c:showPercent val="0"/>
            <c:showBubbleSize val="0"/>
            <c:showLeaderLines val="0"/>
          </c:dLbls>
          <c:dPt>
            <c:idx val="0"/>
            <c:invertIfNegative val="0"/>
            <c:bubble3D val="0"/>
            <c:spPr>
              <a:solidFill>
                <a:srgbClr val="4B5563"/>
              </a:solidFill>
              <a:effectLst/>
            </c:spPr>
          </c:dPt>
          <c:dPt>
            <c:idx val="1"/>
            <c:invertIfNegative val="0"/>
            <c:bubble3D val="0"/>
            <c:spPr>
              <a:solidFill>
                <a:srgbClr val="4B5563"/>
              </a:solidFill>
              <a:effectLst/>
            </c:spPr>
          </c:dPt>
          <c:dPt>
            <c:idx val="2"/>
            <c:invertIfNegative val="0"/>
            <c:bubble3D val="0"/>
            <c:spPr>
              <a:solidFill>
                <a:srgbClr val="F2B705"/>
              </a:solidFill>
              <a:effectLst/>
            </c:spPr>
          </c:dPt>
          <c:cat>
            <c:multiLvlStrRef>
              <c:f>Sheet1!$A$2:$A$4</c:f>
              <c:multiLvlStrCache>
                <c:ptCount val="3"/>
                <c:lvl>
                  <c:pt idx="0">
                    <c:v>2,500</c:v>
                  </c:pt>
                  <c:pt idx="1">
                    <c:v>5,000</c:v>
                  </c:pt>
                  <c:pt idx="2">
                    <c:v>10,000</c:v>
                  </c:pt>
                </c:lvl>
              </c:multiLvlStrCache>
            </c:multiLvlStrRef>
          </c:cat>
          <c:val>
            <c:numRef>
              <c:f>Sheet1!$B$2:$B$4</c:f>
              <c:numCache>
                <c:formatCode>General</c:formatCode>
                <c:ptCount val="3"/>
                <c:pt idx="0">
                  <c:v>0.4</c:v>
                </c:pt>
                <c:pt idx="1">
                  <c:v>1.6</c:v>
                </c:pt>
                <c:pt idx="2">
                  <c:v>6.5</c:v>
                </c:pt>
              </c:numCache>
            </c:numRef>
          </c:val>
        </c:ser>
        <c:dLbls>
          <c:numFmt formatCode="0.0&quot; s&quot;" sourceLinked="0"/>
          <c:txPr>
            <a:bodyPr/>
            <a:lstStyle/>
            <a:p>
              <a:pPr>
                <a:defRPr b="0" i="0" strike="noStrike" sz="1200" u="none">
                  <a:solidFill>
                    <a:srgbClr val="1E242C"/>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5F6772"/>
                    </a:solidFill>
                    <a:latin typeface="Arial"/>
                  </a:defRPr>
                </a:pPr>
                <a:r>
                  <a:rPr sz="1100" b="0" i="0" u="none" strike="noStrike">
                    <a:solidFill>
                      <a:srgbClr val="5F6772"/>
                    </a:solidFill>
                    <a:latin typeface="Arial"/>
                  </a:rPr>
                  <a:t>Training rows</a:t>
                </a:r>
              </a:p>
            </c:rich>
          </c:tx>
          <c:layout/>
          <c:overlay val="0"/>
        </c:title>
        <c:numFmt formatCode="General" sourceLinked="1"/>
        <c:majorTickMark val="out"/>
        <c:minorTickMark val="none"/>
        <c:tickLblPos val="low"/>
        <c:spPr>
          <a:ln w="12700" cap="flat">
            <a:solidFill>
              <a:srgbClr val="D9DDE2"/>
            </a:solidFill>
            <a:prstDash val="solid"/>
            <a:round/>
          </a:ln>
        </c:spPr>
        <c:txPr>
          <a:bodyPr/>
          <a:lstStyle/>
          <a:p>
            <a:pPr>
              <a:defRPr sz="1200" b="0" i="0" u="none" strike="noStrike">
                <a:solidFill>
                  <a:srgbClr val="1E242C"/>
                </a:solidFill>
                <a:latin typeface="+mn-lt"/>
              </a:defRPr>
            </a:pPr>
            <a:endParaRPr lang="en-US"/>
          </a:p>
        </c:txPr>
        <c:crossAx val="2094734552"/>
        <c:crosses val="autoZero"/>
        <c:auto val="1"/>
        <c:lblAlgn val="ctr"/>
        <c:noMultiLvlLbl val="1"/>
      </c:catAx>
      <c:valAx>
        <c:axId val="2094734552"/>
        <c:scaling>
          <c:orientation val="minMax"/>
          <c:max val="8"/>
          <c:min val="0"/>
        </c:scaling>
        <c:delete val="0"/>
        <c:axPos val="l"/>
        <c:majorGridlines>
          <c:spPr>
            <a:ln w="6350" cap="flat">
              <a:solidFill>
                <a:srgbClr val="E6E8EB"/>
              </a:solidFill>
              <a:prstDash val="solid"/>
              <a:round/>
            </a:ln>
          </c:spPr>
        </c:majorGridlines>
        <c:numFmt formatCode="0&quot; s&quot;" sourceLinked="0"/>
        <c:majorTickMark val="out"/>
        <c:minorTickMark val="none"/>
        <c:tickLblPos val="nextTo"/>
        <c:spPr>
          <a:ln w="12700" cap="flat">
            <a:noFill/>
            <a:prstDash val="solid"/>
            <a:round/>
          </a:ln>
        </c:spPr>
        <c:txPr>
          <a:bodyPr/>
          <a:lstStyle/>
          <a:p>
            <a:pPr>
              <a:defRPr sz="1100" b="0" i="0" u="none" strike="noStrike">
                <a:solidFill>
                  <a:srgbClr val="5F6772"/>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Importance</c:v>
                </c:pt>
              </c:strCache>
            </c:strRef>
          </c:tx>
          <c:spPr>
            <a:solidFill>
              <a:srgbClr val="F2B705"/>
            </a:solidFill>
            <a:ln w="9525" cap="flat">
              <a:solidFill>
                <a:srgbClr val="1E242C"/>
              </a:solidFill>
              <a:prstDash val="solid"/>
              <a:round/>
            </a:ln>
            <a:effectLst/>
          </c:spPr>
          <c:invertIfNegative val="0"/>
          <c:dLbls>
            <c:numFmt formatCode="&quot;$&quot;0.00" sourceLinked="0"/>
            <c:txPr>
              <a:bodyPr/>
              <a:lstStyle/>
              <a:p>
                <a:pPr>
                  <a:defRPr b="0" i="0" strike="noStrike" sz="1200" u="none">
                    <a:solidFill>
                      <a:srgbClr val="1E242C"/>
                    </a:solidFill>
                    <a:latin typeface="+mn-lt"/>
                  </a:defRPr>
                </a:pPr>
              </a:p>
            </c:txPr>
            <c:showLegendKey val="0"/>
            <c:showVal val="1"/>
            <c:showCatName val="0"/>
            <c:showSerName val="0"/>
            <c:showPercent val="0"/>
            <c:showBubbleSize val="0"/>
            <c:showLeaderLines val="0"/>
          </c:dLbls>
          <c:dPt>
            <c:idx val="0"/>
            <c:invertIfNegative val="0"/>
            <c:bubble3D val="0"/>
            <c:spPr>
              <a:solidFill>
                <a:srgbClr val="F2B705"/>
              </a:solidFill>
              <a:effectLst/>
            </c:spPr>
          </c:dPt>
          <c:dPt>
            <c:idx val="1"/>
            <c:invertIfNegative val="0"/>
            <c:bubble3D val="0"/>
            <c:spPr>
              <a:solidFill>
                <a:srgbClr val="4B5563"/>
              </a:solidFill>
              <a:effectLst/>
            </c:spPr>
          </c:dPt>
          <c:dPt>
            <c:idx val="2"/>
            <c:invertIfNegative val="0"/>
            <c:bubble3D val="0"/>
            <c:spPr>
              <a:solidFill>
                <a:srgbClr val="4B5563"/>
              </a:solidFill>
              <a:effectLst/>
            </c:spPr>
          </c:dPt>
          <c:dPt>
            <c:idx val="3"/>
            <c:invertIfNegative val="0"/>
            <c:bubble3D val="0"/>
            <c:spPr>
              <a:solidFill>
                <a:srgbClr val="4B5563"/>
              </a:solidFill>
              <a:effectLst/>
            </c:spPr>
          </c:dPt>
          <c:dPt>
            <c:idx val="4"/>
            <c:invertIfNegative val="0"/>
            <c:bubble3D val="0"/>
            <c:spPr>
              <a:solidFill>
                <a:srgbClr val="4B5563"/>
              </a:solidFill>
              <a:effectLst/>
            </c:spPr>
          </c:dPt>
          <c:dPt>
            <c:idx val="5"/>
            <c:invertIfNegative val="0"/>
            <c:bubble3D val="0"/>
            <c:spPr>
              <a:solidFill>
                <a:srgbClr val="4B5563"/>
              </a:solidFill>
              <a:effectLst/>
            </c:spPr>
          </c:dPt>
          <c:dPt>
            <c:idx val="6"/>
            <c:invertIfNegative val="0"/>
            <c:bubble3D val="0"/>
            <c:spPr>
              <a:solidFill>
                <a:srgbClr val="4B5563"/>
              </a:solidFill>
              <a:effectLst/>
            </c:spPr>
          </c:dPt>
          <c:dPt>
            <c:idx val="7"/>
            <c:invertIfNegative val="0"/>
            <c:bubble3D val="0"/>
            <c:spPr>
              <a:solidFill>
                <a:srgbClr val="4B5563"/>
              </a:solidFill>
              <a:effectLst/>
            </c:spPr>
          </c:dPt>
          <c:dPt>
            <c:idx val="8"/>
            <c:invertIfNegative val="0"/>
            <c:bubble3D val="0"/>
            <c:spPr>
              <a:solidFill>
                <a:srgbClr val="4B5563"/>
              </a:solidFill>
              <a:effectLst/>
            </c:spPr>
          </c:dPt>
          <c:dPt>
            <c:idx val="9"/>
            <c:invertIfNegative val="0"/>
            <c:bubble3D val="0"/>
            <c:spPr>
              <a:solidFill>
                <a:srgbClr val="4B5563"/>
              </a:solidFill>
              <a:effectLst/>
            </c:spPr>
          </c:dPt>
          <c:cat>
            <c:multiLvlStrRef>
              <c:f>Sheet1!$A$2:$A$11</c:f>
              <c:multiLvlStrCache>
                <c:ptCount val="10"/>
                <c:lvl>
                  <c:pt idx="0">
                    <c:v>trip_distance</c:v>
                  </c:pt>
                  <c:pt idx="1">
                    <c:v>RatecodeID</c:v>
                  </c:pt>
                  <c:pt idx="2">
                    <c:v>hour_cos</c:v>
                  </c:pt>
                  <c:pt idx="3">
                    <c:v>hour_sin</c:v>
                  </c:pt>
                  <c:pt idx="4">
                    <c:v>DOLocationID</c:v>
                  </c:pt>
                  <c:pt idx="5">
                    <c:v>PULocationID</c:v>
                  </c:pt>
                  <c:pt idx="6">
                    <c:v>pickup_dow</c:v>
                  </c:pt>
                  <c:pt idx="7">
                    <c:v>airport_trip</c:v>
                  </c:pt>
                  <c:pt idx="8">
                    <c:v>is_weekend</c:v>
                  </c:pt>
                  <c:pt idx="9">
                    <c:v>passenger_count</c:v>
                  </c:pt>
                </c:lvl>
              </c:multiLvlStrCache>
            </c:multiLvlStrRef>
          </c:cat>
          <c:val>
            <c:numRef>
              <c:f>Sheet1!$B$2:$B$11</c:f>
              <c:numCache>
                <c:formatCode>General</c:formatCode>
                <c:ptCount val="10"/>
                <c:pt idx="0">
                  <c:v>11.21</c:v>
                </c:pt>
                <c:pt idx="1">
                  <c:v>2.09</c:v>
                </c:pt>
                <c:pt idx="2">
                  <c:v>0.38</c:v>
                </c:pt>
                <c:pt idx="3">
                  <c:v>0.2</c:v>
                </c:pt>
                <c:pt idx="4">
                  <c:v>0.17</c:v>
                </c:pt>
                <c:pt idx="5">
                  <c:v>0.15</c:v>
                </c:pt>
                <c:pt idx="6">
                  <c:v>0.07</c:v>
                </c:pt>
                <c:pt idx="7">
                  <c:v>0.03</c:v>
                </c:pt>
                <c:pt idx="8">
                  <c:v>0.02</c:v>
                </c:pt>
                <c:pt idx="9">
                  <c:v>0</c:v>
                </c:pt>
              </c:numCache>
            </c:numRef>
          </c:val>
        </c:ser>
        <c:dLbls>
          <c:numFmt formatCode="&quot;$&quot;0.00" sourceLinked="0"/>
          <c:txPr>
            <a:bodyPr/>
            <a:lstStyle/>
            <a:p>
              <a:pPr>
                <a:defRPr b="0" i="0" strike="noStrike" sz="1200" u="none">
                  <a:solidFill>
                    <a:srgbClr val="1E242C"/>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D9DDE2"/>
            </a:solidFill>
            <a:prstDash val="solid"/>
            <a:round/>
          </a:ln>
        </c:spPr>
        <c:txPr>
          <a:bodyPr/>
          <a:lstStyle/>
          <a:p>
            <a:pPr>
              <a:defRPr sz="1100" b="0" i="0" u="none" strike="noStrike">
                <a:solidFill>
                  <a:srgbClr val="1E242C"/>
                </a:solidFill>
                <a:latin typeface="+mn-lt"/>
              </a:defRPr>
            </a:pPr>
            <a:endParaRPr lang="en-US"/>
          </a:p>
        </c:txPr>
        <c:crossAx val="2094734552"/>
        <c:crosses val="autoZero"/>
        <c:auto val="1"/>
        <c:lblAlgn val="ctr"/>
        <c:noMultiLvlLbl val="1"/>
      </c:catAx>
      <c:valAx>
        <c:axId val="2094734552"/>
        <c:scaling>
          <c:orientation val="minMax"/>
          <c:max val="13"/>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5F677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project predicts the metered fare of a New York yellow-taxi trip using only information available when the trip starts. This time we used five years of TLC data, January 2019 to December 2023: about 218 million trips. The headline: our best model, a random forest, predicts the fares of the last quarter of 2023 to within $2.20 per trip on average. The small chart shows trips per month: the COVID collapse in spring 2020 is the first thing anyone working with these five years has to deal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of the talk. In slide show mode every tile is clickable, and the small bar at the top of every slide jumps between sections, which is handy during questions. The six lettered boxes go straight to the appendix deep dives on each method, the cleaning rules and the split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is learnable: the meter fare is mostly a formula. Since 19 December 2022 it is $3.00 on entry plus 70 cents per fifth of a mile, or per minute when the cab is slow or stopped, and a flat $70 between JFK and Manhattan. Before that the same structure used $2.50, 50 cents and $52. Distance is known in advance, but time in traffic is not, which is where the difficulty lies. The data set is big and messy: 218 million trips in 59 monthly files, with three different file schemas.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research question: using only what is known at pickup, how accurately can a model trained on five years predict the fares of the newest quarter, October to December 2023? The target is fare_amount, so this is regression. We deliberately did not predict total_amount, because it includes the tip, which is decided after the ride. The models learn the fare converted to 2023 prices; I will explain why on slide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breaks shape everything that follows. On the left, trips per month: about 7 million a month in 2019, then COVID. By May 2020 there were only 348,000 trips, a fall of about 95%, and even in 2023 volume is under half of 2019. On the right, the median fare: flat at about $9 to $10 for almost four years, then a jump when the TLC raised the meter rates on 19 December 2022. A model has to cope with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modelling we cleaned the data with one function applied identically to every month. Across the five years it removes 6% of sampled trips. The biggest rule is rows with no meter record: no rate code, no passenger count. They were half a percent of trips in 2019 but 17% in May 2020 and 3 to 5% since, and they look different from normal trips, so we drop them. The thresholds are loose, so we only remove broken records, not unusual but real trips like long airport runs. The full rule list is in Appendix 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years would need about 37 GB in pandas, so the pipeline never loads them at once. Step 1 reads every file's footer and finds three different schemas: a column that changes type, one that changes name, and integer columns that used to be decimals. Step 2 uses DuckDB to run SQL over all 218 million rows straight from disk. Step 3 loads one month at a time, harmonises it, keeps a 1% random sample and runs the same cleaning and feature functions. Step 4 saves the 2-million-trip sample, so the next run reloads it in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data decision. On 19 December 2022 the TLC raised the meter rates: the median two-mile fare went from $9.50 one day to $12.80 the next. A model trained on raw fares sees two price lists for the same trip, and our test quarter is entirely under the new one. But the meter counts whole units: every old standard fare is exactly $2.50 plus a whole number of 50-cent units, and every new one $3.00 plus 70-cent units. So we can convert each old fare exactly to what the same trip costs today. The grey line is the real median fare; the yellow line is the same fares in 2023 prices: the jump disappears.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variables can we use? The strongest correlations with the fare are total amount and trip duration, but both are only known after the ride, so using them would be data leakage. The strongest legitimate feature is trip distance, at 0.91. Over five years, the year and the tariff flag also matter, because they tell the model which period and which price list a trip belongs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split by time, not at random, because a real fare model always predicts the future. Each model was tuned by fitting on January 2019 to June 2023 and scoring on July to September 2023. The chosen settings were then refitted on 200,000 trips up to September and scored once on the last quarter. Why not hold out all of 2023? Then only two weeks of trips at the new prices would be in training. Alternatives are compared in Appendix 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tuning anything we asked how to use five years at all. A model trained only on trips before the increase misses 2023 fares by $5.50, because it charges old prices. Giving the model the year and a tariff flag fixes most of that, but a random forest then has to learn every pattern twice, once per price list. Converting the old fares to 2023 prices gives the lowest error for both test models. Once fares are converted, going back further than 2022 adds little, but it costs nothing either, so all our models use all five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compared four methods, a neural network, a support vector machine, a random forest, and Ridge and Lasso regression, against plain linear regression as the bar to beat. Naive Bayes was not used because it is a classification method. Every model got exactly the same inputs, the same converted fares, the same tuning months and the same test quarter, so differences come from the method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main result. On the same 93,000 trips from the last quarter of 2023, the random forest has the lowest average error, $2.20 per trip, with an R-squared of 0.945 and 64% of trips within $2. That is 11% of the average fare, the same relative accuracy our 2019-only model reached. The neural network is a close second at $2.29 and makes the fewest very large mistakes. Ridge and Lasso land on linear regression at $2.85, and always predicting the median fare would be off by about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 the non-linear models win? One clear reason: 3,376 of the test trips used the flat $70 JFK fare. The random forest misses those by only 7 cents on average, because a tree can learn the rule 'JFK rate code means $70'. Linear models try to price those trips by distance and miss by $6.50 to $7. Converting the old $52 JFK fares to $70 is what lets all five years teach this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the error $2.20 and not lower? Taxis were fastest during the 2020 lockdown, 14 miles an hour, and slowest at the very end of 2023, our test months, under 9 miles an hour. Slow traffic adds time charges, so two trips of the same length can cost quite different amounts. The spread of two-mile fares peaks in December 2023, and every model's error rises from October to December. So the test is deliberately tough.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much data do we need? We trained the neural network and linear regression on growing samples and scored them on July to September 2023. The network improves quickly up to 100,000 trips and flattens by 200,000; doubling again to 400,000 gains less than one percent. Linear regression is flat, because a straight line is limited by its shape, not by data. So all final models use 200,000 trips, which also keeps them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main limitations. Negotiated fares are agreed with the driver, so no feature predicts them, and every model misses those trips by $22 to $35. The test quarter is the hardest stretch of the five years. The distance we used is the metered distance recorded after the trip; a real app would use a route planner's estimate, so real-world error would be somewhat higher. And the data has gaps: the April 2020 file is missing, a few days hold only a fraction of their trips, and some rows lack a meter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first, pickup-time information predicts the fares of the last quarter of 2023 to within $2.20 per trip, 11% of the average fare. Second, non-linear models beat linear ones by about a fifth, largely by learning flat-fare rules. Third, five years of data only help once every fare is on the same price list; converting the old fares beat every other set-up we tried. I'll leave this slide up for questions; the bar at the top jumps to the appendix deep dives.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references for the data, the fare rule, the methods and the tools cited on the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questions about the neural network: grid search over three network sizes and two penalties; the two-layer network won, and the largest one over-fitted the 40,000 tuning trips when the penalty was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questions about the SVM: kernel SVR training time grows far faster than linearly, so it was trained on 20,000 trips, chosen at random across all five years so every season and traffic level is represented.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questions about the random forest: permutation importance confirms that distance dominates, followed by rate code and time of day. The period features matter during training, where they separate the years, but cannot show importance on a test set that sits inside one quarter.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questions about Ridge and Lasso: they match linear regression because the linear model does not over-fit; its limitation is that it cannot bend. Its distance coefficient recovers the 2023 meter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questions about cleaning: every rule and the share of trips it removed across the five-year sample.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the question 'why not a random split?': a comparison of five ways to split the five years, with what each one gets right and where it leaks.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232A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960120"/>
            <a:ext cx="8046720" cy="141732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3" name="Text 0"/>
          <p:cNvSpPr/>
          <p:nvPr>
            <p:ph idx="101" type="body" hasCustomPrompt="1"/>
          </p:nvPr>
        </p:nvSpPr>
        <p:spPr>
          <a:xfrm>
            <a:off x="548640" y="2514600"/>
            <a:ext cx="8046720" cy="411480"/>
          </a:xfrm>
          <a:prstGeom prst="rect">
            <a:avLst/>
          </a:prstGeom>
          <a:noFill/>
          <a:ln/>
        </p:spPr>
        <p:txBody>
          <a:bodyPr wrap="square" rtlCol="0"/>
          <a:lstStyle>
            <a:lvl1pPr algn="l" indent="0" marL="0">
              <a:buNone/>
              <a:defRPr lang="en-US" sz="1600" dirty="0">
                <a:solidFill>
                  <a:srgbClr val="D9DDE2"/>
                </a:solidFill>
              </a:defRPr>
            </a:lvl1pPr>
          </a:lstStyle>
          <a:p>
            <a:pPr algn="l" indent="0" marL="0">
              <a:buNone/>
            </a:pPr>
            <a:endParaRPr lang="en-US" sz="1600" dirty="0"/>
          </a:p>
        </p:txBody>
      </p:sp>
      <p:sp>
        <p:nvSpPr>
          <p:cNvPr id="4" name="Text 0"/>
          <p:cNvSpPr/>
          <p:nvPr>
            <p:ph idx="102" type="body" hasCustomPrompt="1"/>
          </p:nvPr>
        </p:nvSpPr>
        <p:spPr>
          <a:xfrm>
            <a:off x="548640" y="3154680"/>
            <a:ext cx="4206240" cy="822960"/>
          </a:xfrm>
          <a:prstGeom prst="rect">
            <a:avLst/>
          </a:prstGeom>
          <a:noFill/>
          <a:ln/>
        </p:spPr>
        <p:txBody>
          <a:bodyPr wrap="square" rtlCol="0"/>
          <a:lstStyle>
            <a:lvl1pPr algn="l" indent="0" marL="0">
              <a:buNone/>
              <a:defRPr lang="en-US" sz="1400" dirty="0">
                <a:solidFill>
                  <a:srgbClr val="C4C9D0"/>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475488"/>
            <a:ext cx="8229600" cy="777240"/>
          </a:xfrm>
          <a:prstGeom prst="rect">
            <a:avLst/>
          </a:prstGeom>
          <a:noFill/>
          <a:ln/>
        </p:spPr>
        <p:txBody>
          <a:bodyPr wrap="square" rtlCol="0"/>
          <a:lstStyle>
            <a:lvl1pPr algn="l" indent="0" marL="0">
              <a:buNone/>
              <a:defRPr lang="en-US" sz="2200" b="1" dirty="0">
                <a:solidFill>
                  <a:schemeClr val="tx1"/>
                </a:solidFill>
              </a:defRPr>
            </a:lvl1pPr>
          </a:lstStyle>
          <a:p>
            <a:pPr algn="l" indent="0" marL="0">
              <a:buNone/>
            </a:pPr>
            <a:endParaRPr lang="en-US" sz="2200" dirty="0"/>
          </a:p>
        </p:txBody>
      </p:sp>
      <p:sp>
        <p:nvSpPr>
          <p:cNvPr id="25" name="Slide Number Placeholder 0"/>
          <p:cNvSpPr>
            <a:spLocks noGrp="1"/>
          </p:cNvSpPr>
          <p:nvPr>
            <p:ph type="sldNum" sz="quarter" idx="4294967295"/>
          </p:nvPr>
        </p:nvSpPr>
        <p:spPr>
          <a:xfrm>
            <a:off x="8275320" y="4754880"/>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77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PPENDIX">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676656"/>
            <a:ext cx="8229600" cy="640080"/>
          </a:xfrm>
          <a:prstGeom prst="rect">
            <a:avLst/>
          </a:prstGeom>
          <a:noFill/>
          <a:ln/>
        </p:spPr>
        <p:txBody>
          <a:bodyPr wrap="square" rtlCol="0"/>
          <a:lstStyle>
            <a:lvl1pPr algn="l" indent="0" marL="0">
              <a:buNone/>
              <a:defRPr lang="en-US" sz="1900" b="1" dirty="0">
                <a:solidFill>
                  <a:schemeClr val="tx1"/>
                </a:solidFill>
              </a:defRPr>
            </a:lvl1pPr>
          </a:lstStyle>
          <a:p>
            <a:pPr algn="l" indent="0" marL="0">
              <a:buNone/>
            </a:pPr>
            <a:endParaRPr lang="en-US" sz="1900" dirty="0"/>
          </a:p>
        </p:txBody>
      </p:sp>
      <p:sp>
        <p:nvSpPr>
          <p:cNvPr id="25" name="Slide Number Placeholder 0"/>
          <p:cNvSpPr>
            <a:spLocks noGrp="1"/>
          </p:cNvSpPr>
          <p:nvPr>
            <p:ph type="sldNum" sz="quarter" idx="4294967295"/>
          </p:nvPr>
        </p:nvSpPr>
        <p:spPr>
          <a:xfrm>
            <a:off x="8275320" y="4754880"/>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77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232A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502920"/>
            <a:ext cx="8229600" cy="457200"/>
          </a:xfrm>
          <a:prstGeom prst="rect">
            <a:avLst/>
          </a:prstGeom>
          <a:noFill/>
          <a:ln/>
        </p:spPr>
        <p:txBody>
          <a:bodyPr wrap="square" rtlCol="0"/>
          <a:lstStyle>
            <a:lvl1pPr algn="l" indent="0" marL="0">
              <a:buNone/>
              <a:defRPr lang="en-US" sz="2200" b="1" dirty="0">
                <a:solidFill>
                  <a:schemeClr val="accent1"/>
                </a:solidFill>
              </a:defRPr>
            </a:lvl1pPr>
          </a:lstStyle>
          <a:p>
            <a:pPr algn="l" indent="0" marL="0">
              <a:buNone/>
            </a:pPr>
            <a:endParaRPr lang="en-US" sz="2200" dirty="0"/>
          </a:p>
        </p:txBody>
      </p:sp>
      <p:sp>
        <p:nvSpPr>
          <p:cNvPr id="25" name="Slide Number Placeholder 0"/>
          <p:cNvSpPr>
            <a:spLocks noGrp="1"/>
          </p:cNvSpPr>
          <p:nvPr>
            <p:ph type="sldNum" sz="quarter" idx="4294967295"/>
          </p:nvPr>
        </p:nvSpPr>
        <p:spPr>
          <a:xfrm>
            <a:off x="8275320" y="4754880"/>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C4C9D0"/>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75320" y="4754880"/>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77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5.xml"/><Relationship Id="rId4" Type="http://schemas.openxmlformats.org/officeDocument/2006/relationships/slide" Target="slide10.xml"/><Relationship Id="rId5" Type="http://schemas.openxmlformats.org/officeDocument/2006/relationships/slide" Target="slide13.xml"/><Relationship Id="rId6" Type="http://schemas.openxmlformats.org/officeDocument/2006/relationships/slide" Target="slide17.xml"/><Relationship Id="rId7" Type="http://schemas.openxmlformats.org/officeDocument/2006/relationships/slide" Target="slide20.xml"/><Relationship Id="rId8" Type="http://schemas.openxmlformats.org/officeDocument/2006/relationships/slide" Target="slide3.xml"/><Relationship Id="rId9" Type="http://schemas.openxmlformats.org/officeDocument/2006/relationships/slide" Target="slide5.xml"/><Relationship Id="rId10" Type="http://schemas.openxmlformats.org/officeDocument/2006/relationships/slide" Target="slide10.xml"/><Relationship Id="rId11" Type="http://schemas.openxmlformats.org/officeDocument/2006/relationships/slide" Target="slide13.xml"/><Relationship Id="rId12" Type="http://schemas.openxmlformats.org/officeDocument/2006/relationships/slide" Target="slide17.xml"/><Relationship Id="rId13" Type="http://schemas.openxmlformats.org/officeDocument/2006/relationships/slide" Target="slide20.xml"/><Relationship Id="rId14" Type="http://schemas.openxmlformats.org/officeDocument/2006/relationships/slide" Target="slide20.xml"/><Relationship Id="rId15" Type="http://schemas.openxmlformats.org/officeDocument/2006/relationships/slide" Target="slide21.xml"/><Relationship Id="rId16" Type="http://schemas.openxmlformats.org/officeDocument/2006/relationships/slide" Target="slide22.xml"/><Relationship Id="rId17" Type="http://schemas.openxmlformats.org/officeDocument/2006/relationships/slide" Target="slide23.xml"/><Relationship Id="rId18" Type="http://schemas.openxmlformats.org/officeDocument/2006/relationships/slide" Target="slide24.xml"/><Relationship Id="rId19" Type="http://schemas.openxmlformats.org/officeDocument/2006/relationships/slide" Target="slide25.xml"/><Relationship Id="rId20" Type="http://schemas.openxmlformats.org/officeDocument/2006/relationships/slideLayout" Target="../slideLayouts/slideLayout3.xml"/><Relationship Id="rId2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5.xml"/><Relationship Id="rId4" Type="http://schemas.openxmlformats.org/officeDocument/2006/relationships/slide" Target="slide10.xml"/><Relationship Id="rId5" Type="http://schemas.openxmlformats.org/officeDocument/2006/relationships/slide" Target="slide13.xml"/><Relationship Id="rId6" Type="http://schemas.openxmlformats.org/officeDocument/2006/relationships/slide" Target="slide17.xml"/><Relationship Id="rId7" Type="http://schemas.openxmlformats.org/officeDocument/2006/relationships/slide" Target="slide20.xml"/><Relationship Id="rId8" Type="http://schemas.openxmlformats.org/officeDocument/2006/relationships/slideLayout" Target="../slideLayouts/slideLayout3.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5.xml"/><Relationship Id="rId4" Type="http://schemas.openxmlformats.org/officeDocument/2006/relationships/slide" Target="slide10.xml"/><Relationship Id="rId5" Type="http://schemas.openxmlformats.org/officeDocument/2006/relationships/slide" Target="slide13.xml"/><Relationship Id="rId6" Type="http://schemas.openxmlformats.org/officeDocument/2006/relationships/slide" Target="slide17.xml"/><Relationship Id="rId7" Type="http://schemas.openxmlformats.org/officeDocument/2006/relationships/slide" Target="slide20.xml"/><Relationship Id="rId8" Type="http://schemas.openxmlformats.org/officeDocument/2006/relationships/slideLayout" Target="../slideLayouts/slideLayout3.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5.xml"/><Relationship Id="rId4" Type="http://schemas.openxmlformats.org/officeDocument/2006/relationships/slide" Target="slide10.xml"/><Relationship Id="rId5" Type="http://schemas.openxmlformats.org/officeDocument/2006/relationships/slide" Target="slide13.xml"/><Relationship Id="rId6" Type="http://schemas.openxmlformats.org/officeDocument/2006/relationships/slide" Target="slide17.xml"/><Relationship Id="rId7" Type="http://schemas.openxmlformats.org/officeDocument/2006/relationships/slide" Target="slide20.xml"/><Relationship Id="rId8" Type="http://schemas.openxmlformats.org/officeDocument/2006/relationships/chart" Target="/ppt/charts/chart2.xml"/><Relationship Id="rId9" Type="http://schemas.openxmlformats.org/officeDocument/2006/relationships/chart" Target="/ppt/charts/chart3.xml"/><Relationship Id="rId10" Type="http://schemas.openxmlformats.org/officeDocument/2006/relationships/slideLayout" Target="../slideLayouts/slideLayout3.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5.xml"/><Relationship Id="rId4" Type="http://schemas.openxmlformats.org/officeDocument/2006/relationships/slide" Target="slide10.xml"/><Relationship Id="rId5" Type="http://schemas.openxmlformats.org/officeDocument/2006/relationships/slide" Target="slide13.xml"/><Relationship Id="rId6" Type="http://schemas.openxmlformats.org/officeDocument/2006/relationships/slide" Target="slide17.xml"/><Relationship Id="rId7" Type="http://schemas.openxmlformats.org/officeDocument/2006/relationships/slide" Target="slide20.xml"/><Relationship Id="rId8" Type="http://schemas.openxmlformats.org/officeDocument/2006/relationships/chart" Target="/ppt/charts/chart4.xml"/><Relationship Id="rId9" Type="http://schemas.openxmlformats.org/officeDocument/2006/relationships/slideLayout" Target="../slideLayouts/slideLayout3.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5.xml"/><Relationship Id="rId4" Type="http://schemas.openxmlformats.org/officeDocument/2006/relationships/slide" Target="slide10.xml"/><Relationship Id="rId5" Type="http://schemas.openxmlformats.org/officeDocument/2006/relationships/slide" Target="slide13.xml"/><Relationship Id="rId6" Type="http://schemas.openxmlformats.org/officeDocument/2006/relationships/slide" Target="slide17.xml"/><Relationship Id="rId7" Type="http://schemas.openxmlformats.org/officeDocument/2006/relationships/slide" Target="slide20.xml"/><Relationship Id="rId8" Type="http://schemas.openxmlformats.org/officeDocument/2006/relationships/slideLayout" Target="../slideLayouts/slideLayout3.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5.xml"/><Relationship Id="rId4" Type="http://schemas.openxmlformats.org/officeDocument/2006/relationships/slide" Target="slide10.xml"/><Relationship Id="rId5" Type="http://schemas.openxmlformats.org/officeDocument/2006/relationships/slide" Target="slide13.xml"/><Relationship Id="rId6" Type="http://schemas.openxmlformats.org/officeDocument/2006/relationships/slide" Target="slide17.xml"/><Relationship Id="rId7" Type="http://schemas.openxmlformats.org/officeDocument/2006/relationships/slide" Target="slide20.xml"/><Relationship Id="rId8" Type="http://schemas.openxmlformats.org/officeDocument/2006/relationships/chart" Target="/ppt/charts/chart5.xml"/><Relationship Id="rId9" Type="http://schemas.openxmlformats.org/officeDocument/2006/relationships/slideLayout" Target="../slideLayouts/slideLayout3.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5.xml"/><Relationship Id="rId4" Type="http://schemas.openxmlformats.org/officeDocument/2006/relationships/slide" Target="slide10.xml"/><Relationship Id="rId5" Type="http://schemas.openxmlformats.org/officeDocument/2006/relationships/slide" Target="slide13.xml"/><Relationship Id="rId6" Type="http://schemas.openxmlformats.org/officeDocument/2006/relationships/slide" Target="slide17.xml"/><Relationship Id="rId7" Type="http://schemas.openxmlformats.org/officeDocument/2006/relationships/slide" Target="slide20.xml"/><Relationship Id="rId8" Type="http://schemas.openxmlformats.org/officeDocument/2006/relationships/chart" Target="/ppt/charts/chart6.xml"/><Relationship Id="rId9" Type="http://schemas.openxmlformats.org/officeDocument/2006/relationships/slideLayout" Target="../slideLayouts/slideLayout3.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5.xml"/><Relationship Id="rId4" Type="http://schemas.openxmlformats.org/officeDocument/2006/relationships/slide" Target="slide10.xml"/><Relationship Id="rId5" Type="http://schemas.openxmlformats.org/officeDocument/2006/relationships/slide" Target="slide13.xml"/><Relationship Id="rId6" Type="http://schemas.openxmlformats.org/officeDocument/2006/relationships/slide" Target="slide17.xml"/><Relationship Id="rId7" Type="http://schemas.openxmlformats.org/officeDocument/2006/relationships/slide" Target="slide20.xml"/><Relationship Id="rId8" Type="http://schemas.openxmlformats.org/officeDocument/2006/relationships/slideLayout" Target="../slideLayouts/slideLayout3.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5.xml"/><Relationship Id="rId4" Type="http://schemas.openxmlformats.org/officeDocument/2006/relationships/slide" Target="slide10.xml"/><Relationship Id="rId5" Type="http://schemas.openxmlformats.org/officeDocument/2006/relationships/slide" Target="slide13.xml"/><Relationship Id="rId6" Type="http://schemas.openxmlformats.org/officeDocument/2006/relationships/slide" Target="slide17.xml"/><Relationship Id="rId7" Type="http://schemas.openxmlformats.org/officeDocument/2006/relationships/slide" Target="slide20.xml"/><Relationship Id="rId8" Type="http://schemas.openxmlformats.org/officeDocument/2006/relationships/chart" Target="/ppt/charts/chart7.xml"/><Relationship Id="rId9" Type="http://schemas.openxmlformats.org/officeDocument/2006/relationships/slideLayout" Target="../slideLayouts/slideLayout3.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5.xml"/><Relationship Id="rId4" Type="http://schemas.openxmlformats.org/officeDocument/2006/relationships/slide" Target="slide10.xml"/><Relationship Id="rId5" Type="http://schemas.openxmlformats.org/officeDocument/2006/relationships/slide" Target="slide13.xml"/><Relationship Id="rId6" Type="http://schemas.openxmlformats.org/officeDocument/2006/relationships/slide" Target="slide17.xml"/><Relationship Id="rId7" Type="http://schemas.openxmlformats.org/officeDocument/2006/relationships/slide" Target="slide20.xml"/><Relationship Id="rId8" Type="http://schemas.openxmlformats.org/officeDocument/2006/relationships/slideLayout" Target="../slideLayouts/slideLayout3.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5.xml"/><Relationship Id="rId4" Type="http://schemas.openxmlformats.org/officeDocument/2006/relationships/slide" Target="slide10.xml"/><Relationship Id="rId5" Type="http://schemas.openxmlformats.org/officeDocument/2006/relationships/slide" Target="slide13.xml"/><Relationship Id="rId6" Type="http://schemas.openxmlformats.org/officeDocument/2006/relationships/slide" Target="slide17.xml"/><Relationship Id="rId7" Type="http://schemas.openxmlformats.org/officeDocument/2006/relationships/slide" Target="slide20.xml"/><Relationship Id="rId8" Type="http://schemas.openxmlformats.org/officeDocument/2006/relationships/chart" Target="/ppt/charts/chart8.xml"/><Relationship Id="rId9" Type="http://schemas.openxmlformats.org/officeDocument/2006/relationships/slideLayout" Target="../slideLayouts/slideLayout3.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5.xml"/><Relationship Id="rId4" Type="http://schemas.openxmlformats.org/officeDocument/2006/relationships/slide" Target="slide10.xml"/><Relationship Id="rId5" Type="http://schemas.openxmlformats.org/officeDocument/2006/relationships/slide" Target="slide13.xml"/><Relationship Id="rId6" Type="http://schemas.openxmlformats.org/officeDocument/2006/relationships/slide" Target="slide17.xml"/><Relationship Id="rId7" Type="http://schemas.openxmlformats.org/officeDocument/2006/relationships/slide" Target="slide20.xml"/><Relationship Id="rId8" Type="http://schemas.openxmlformats.org/officeDocument/2006/relationships/chart" Target="/ppt/charts/chart9.xml"/><Relationship Id="rId9" Type="http://schemas.openxmlformats.org/officeDocument/2006/relationships/slideLayout" Target="../slideLayouts/slideLayout3.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5.xml"/><Relationship Id="rId4" Type="http://schemas.openxmlformats.org/officeDocument/2006/relationships/slide" Target="slide10.xml"/><Relationship Id="rId5" Type="http://schemas.openxmlformats.org/officeDocument/2006/relationships/slide" Target="slide13.xml"/><Relationship Id="rId6" Type="http://schemas.openxmlformats.org/officeDocument/2006/relationships/slide" Target="slide17.xml"/><Relationship Id="rId7" Type="http://schemas.openxmlformats.org/officeDocument/2006/relationships/slide" Target="slide20.xml"/><Relationship Id="rId8" Type="http://schemas.openxmlformats.org/officeDocument/2006/relationships/chart" Target="/ppt/charts/chart10.xml"/><Relationship Id="rId9" Type="http://schemas.openxmlformats.org/officeDocument/2006/relationships/slideLayout" Target="../slideLayouts/slideLayout3.xml"/><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5.xml"/><Relationship Id="rId4" Type="http://schemas.openxmlformats.org/officeDocument/2006/relationships/slide" Target="slide10.xml"/><Relationship Id="rId5" Type="http://schemas.openxmlformats.org/officeDocument/2006/relationships/slide" Target="slide13.xml"/><Relationship Id="rId6" Type="http://schemas.openxmlformats.org/officeDocument/2006/relationships/slide" Target="slide17.xml"/><Relationship Id="rId7" Type="http://schemas.openxmlformats.org/officeDocument/2006/relationships/slide" Target="slide20.xml"/><Relationship Id="rId8" Type="http://schemas.openxmlformats.org/officeDocument/2006/relationships/chart" Target="/ppt/charts/chart11.xml"/><Relationship Id="rId9" Type="http://schemas.openxmlformats.org/officeDocument/2006/relationships/slideLayout" Target="../slideLayouts/slideLayout3.xml"/><Relationship Id="rId1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5.xml"/><Relationship Id="rId4" Type="http://schemas.openxmlformats.org/officeDocument/2006/relationships/slide" Target="slide10.xml"/><Relationship Id="rId5" Type="http://schemas.openxmlformats.org/officeDocument/2006/relationships/slide" Target="slide13.xml"/><Relationship Id="rId6" Type="http://schemas.openxmlformats.org/officeDocument/2006/relationships/slide" Target="slide17.xml"/><Relationship Id="rId7" Type="http://schemas.openxmlformats.org/officeDocument/2006/relationships/slide" Target="slide20.xml"/><Relationship Id="rId8" Type="http://schemas.openxmlformats.org/officeDocument/2006/relationships/slideLayout" Target="../slideLayouts/slideLayout3.xml"/><Relationship Id="rId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5.xml"/><Relationship Id="rId4" Type="http://schemas.openxmlformats.org/officeDocument/2006/relationships/slide" Target="slide10.xml"/><Relationship Id="rId5" Type="http://schemas.openxmlformats.org/officeDocument/2006/relationships/slide" Target="slide13.xml"/><Relationship Id="rId6" Type="http://schemas.openxmlformats.org/officeDocument/2006/relationships/slide" Target="slide17.xml"/><Relationship Id="rId7" Type="http://schemas.openxmlformats.org/officeDocument/2006/relationships/slide" Target="slide20.xml"/><Relationship Id="rId8" Type="http://schemas.openxmlformats.org/officeDocument/2006/relationships/slideLayout" Target="../slideLayouts/slideLayout5.xml"/><Relationship Id="rId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5.xml"/><Relationship Id="rId4" Type="http://schemas.openxmlformats.org/officeDocument/2006/relationships/slide" Target="slide10.xml"/><Relationship Id="rId5" Type="http://schemas.openxmlformats.org/officeDocument/2006/relationships/slide" Target="slide13.xml"/><Relationship Id="rId6" Type="http://schemas.openxmlformats.org/officeDocument/2006/relationships/slide" Target="slide17.xml"/><Relationship Id="rId7" Type="http://schemas.openxmlformats.org/officeDocument/2006/relationships/slide" Target="slide20.xml"/><Relationship Id="rId8" Type="http://schemas.openxmlformats.org/officeDocument/2006/relationships/slideLayout" Target="../slideLayouts/slideLayout3.xml"/><Relationship Id="rId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5.xml"/><Relationship Id="rId4" Type="http://schemas.openxmlformats.org/officeDocument/2006/relationships/slide" Target="slide10.xml"/><Relationship Id="rId5" Type="http://schemas.openxmlformats.org/officeDocument/2006/relationships/slide" Target="slide13.xml"/><Relationship Id="rId6" Type="http://schemas.openxmlformats.org/officeDocument/2006/relationships/slide" Target="slide17.xml"/><Relationship Id="rId7" Type="http://schemas.openxmlformats.org/officeDocument/2006/relationships/slide" Target="slide20.xml"/><Relationship Id="rId8" Type="http://schemas.openxmlformats.org/officeDocument/2006/relationships/slideLayout" Target="../slideLayouts/slideLayout4.xml"/><Relationship Id="rId9"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5.xml"/><Relationship Id="rId4" Type="http://schemas.openxmlformats.org/officeDocument/2006/relationships/slide" Target="slide10.xml"/><Relationship Id="rId5" Type="http://schemas.openxmlformats.org/officeDocument/2006/relationships/slide" Target="slide13.xml"/><Relationship Id="rId6" Type="http://schemas.openxmlformats.org/officeDocument/2006/relationships/slide" Target="slide17.xml"/><Relationship Id="rId7" Type="http://schemas.openxmlformats.org/officeDocument/2006/relationships/slide" Target="slide20.xml"/><Relationship Id="rId8" Type="http://schemas.openxmlformats.org/officeDocument/2006/relationships/chart" Target="/ppt/charts/chart12.xml"/><Relationship Id="rId9" Type="http://schemas.openxmlformats.org/officeDocument/2006/relationships/slideLayout" Target="../slideLayouts/slideLayout4.xml"/><Relationship Id="rId10"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5.xml"/><Relationship Id="rId4" Type="http://schemas.openxmlformats.org/officeDocument/2006/relationships/slide" Target="slide10.xml"/><Relationship Id="rId5" Type="http://schemas.openxmlformats.org/officeDocument/2006/relationships/slide" Target="slide13.xml"/><Relationship Id="rId6" Type="http://schemas.openxmlformats.org/officeDocument/2006/relationships/slide" Target="slide17.xml"/><Relationship Id="rId7" Type="http://schemas.openxmlformats.org/officeDocument/2006/relationships/slide" Target="slide20.xml"/><Relationship Id="rId8" Type="http://schemas.openxmlformats.org/officeDocument/2006/relationships/chart" Target="/ppt/charts/chart13.xml"/><Relationship Id="rId9" Type="http://schemas.openxmlformats.org/officeDocument/2006/relationships/slideLayout" Target="../slideLayouts/slideLayout4.xml"/><Relationship Id="rId10"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5.xml"/><Relationship Id="rId4" Type="http://schemas.openxmlformats.org/officeDocument/2006/relationships/slide" Target="slide10.xml"/><Relationship Id="rId5" Type="http://schemas.openxmlformats.org/officeDocument/2006/relationships/slide" Target="slide13.xml"/><Relationship Id="rId6" Type="http://schemas.openxmlformats.org/officeDocument/2006/relationships/slide" Target="slide17.xml"/><Relationship Id="rId7" Type="http://schemas.openxmlformats.org/officeDocument/2006/relationships/slide" Target="slide20.xml"/><Relationship Id="rId8" Type="http://schemas.openxmlformats.org/officeDocument/2006/relationships/slideLayout" Target="../slideLayouts/slideLayout4.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5.xml"/><Relationship Id="rId4" Type="http://schemas.openxmlformats.org/officeDocument/2006/relationships/slide" Target="slide10.xml"/><Relationship Id="rId5" Type="http://schemas.openxmlformats.org/officeDocument/2006/relationships/slide" Target="slide13.xml"/><Relationship Id="rId6" Type="http://schemas.openxmlformats.org/officeDocument/2006/relationships/slide" Target="slide17.xml"/><Relationship Id="rId7" Type="http://schemas.openxmlformats.org/officeDocument/2006/relationships/slide" Target="slide20.xml"/><Relationship Id="rId8" Type="http://schemas.openxmlformats.org/officeDocument/2006/relationships/slideLayout" Target="../slideLayouts/slideLayout4.xml"/><Relationship Id="rId9"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5.xml"/><Relationship Id="rId4" Type="http://schemas.openxmlformats.org/officeDocument/2006/relationships/slide" Target="slide10.xml"/><Relationship Id="rId5" Type="http://schemas.openxmlformats.org/officeDocument/2006/relationships/slide" Target="slide13.xml"/><Relationship Id="rId6" Type="http://schemas.openxmlformats.org/officeDocument/2006/relationships/slide" Target="slide17.xml"/><Relationship Id="rId7" Type="http://schemas.openxmlformats.org/officeDocument/2006/relationships/slide" Target="slide20.xml"/><Relationship Id="rId8" Type="http://schemas.openxmlformats.org/officeDocument/2006/relationships/slideLayout" Target="../slideLayouts/slideLayout4.xml"/><Relationship Id="rId9"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tag"/>
          <p:cNvSpPr txBox="1"/>
          <p:nvPr/>
        </p:nvSpPr>
        <p:spPr>
          <a:xfrm>
            <a:off x="548640" y="502920"/>
            <a:ext cx="3429000" cy="292608"/>
          </a:xfrm>
          <a:prstGeom prst="roundRect">
            <a:avLst>
              <a:gd name="adj" fmla="val 50000"/>
            </a:avLst>
          </a:prstGeom>
          <a:solidFill>
            <a:srgbClr val="F2B705"/>
          </a:solidFill>
          <a:ln/>
        </p:spPr>
        <p:txBody>
          <a:bodyPr wrap="square" lIns="0" tIns="0" rIns="0" bIns="0" rtlCol="0" anchor="ctr"/>
          <a:lstStyle/>
          <a:p>
            <a:pPr algn="ctr" indent="0" marL="0">
              <a:buNone/>
            </a:pPr>
            <a:r>
              <a:rPr lang="en-US" sz="1100" b="1" dirty="0">
                <a:solidFill>
                  <a:schemeClr val="tx1"/>
                </a:solidFill>
              </a:rPr>
              <a:t>NYC TLC yellow-taxi records · 2019–2023</a:t>
            </a:r>
            <a:endParaRPr lang="en-US" sz="1100" dirty="0"/>
          </a:p>
        </p:txBody>
      </p:sp>
      <p:sp>
        <p:nvSpPr>
          <p:cNvPr id="3" name="Text 0"/>
          <p:cNvSpPr/>
          <p:nvPr>
            <p:ph idx="100" type="title" hasCustomPrompt="1"/>
          </p:nvPr>
        </p:nvSpPr>
        <p:spPr>
          <a:xfrm>
            <a:off x="548640" y="960120"/>
            <a:ext cx="8046720" cy="1417320"/>
          </a:xfrm>
          <a:prstGeom prst="rect">
            <a:avLst/>
          </a:prstGeom>
          <a:noFill/>
          <a:ln/>
        </p:spPr>
        <p:txBody>
          <a:bodyPr wrap="square" lIns="0" tIns="0" rIns="0" bIns="0" rtlCol="0" anchor="t"/>
          <a:lstStyle/>
          <a:p>
            <a:pPr algn="l" indent="0" marL="0">
              <a:buNone/>
            </a:pPr>
            <a:r>
              <a:rPr lang="en-US" sz="3000" b="1" dirty="0">
                <a:solidFill>
                  <a:schemeClr val="bg1"/>
                </a:solidFill>
              </a:rPr>
              <a:t>A random forest predicts late-2023 NYC taxi fares to within $2.20 per trip, learning from five years of trips</a:t>
            </a:r>
            <a:endParaRPr lang="en-US" sz="3000" dirty="0"/>
          </a:p>
        </p:txBody>
      </p:sp>
      <p:sp>
        <p:nvSpPr>
          <p:cNvPr id="4" name="Text 0"/>
          <p:cNvSpPr/>
          <p:nvPr>
            <p:ph idx="101" type="body" hasCustomPrompt="1"/>
          </p:nvPr>
        </p:nvSpPr>
        <p:spPr>
          <a:xfrm>
            <a:off x="548640" y="2514600"/>
            <a:ext cx="8046720" cy="411480"/>
          </a:xfrm>
          <a:prstGeom prst="rect">
            <a:avLst/>
          </a:prstGeom>
          <a:noFill/>
          <a:ln/>
        </p:spPr>
        <p:txBody>
          <a:bodyPr wrap="square" lIns="0" tIns="0" rIns="0" bIns="0" rtlCol="0" anchor="t"/>
          <a:lstStyle/>
          <a:p>
            <a:pPr algn="l" indent="0" marL="0">
              <a:buNone/>
            </a:pPr>
            <a:r>
              <a:rPr lang="en-US" sz="1600" dirty="0">
                <a:solidFill>
                  <a:srgbClr val="D9DDE2"/>
                </a:solidFill>
              </a:rPr>
              <a:t>Exploratory analysis and fare prediction on 218 million yellow-taxi trips</a:t>
            </a:r>
            <a:endParaRPr lang="en-US" sz="1600" dirty="0"/>
          </a:p>
        </p:txBody>
      </p:sp>
      <p:sp>
        <p:nvSpPr>
          <p:cNvPr id="5" name="Text 0"/>
          <p:cNvSpPr/>
          <p:nvPr>
            <p:ph idx="102" type="body" hasCustomPrompt="1"/>
          </p:nvPr>
        </p:nvSpPr>
        <p:spPr>
          <a:xfrm>
            <a:off x="548640" y="3154680"/>
            <a:ext cx="4206240" cy="822960"/>
          </a:xfrm>
          <a:prstGeom prst="rect">
            <a:avLst/>
          </a:prstGeom>
          <a:noFill/>
          <a:ln/>
        </p:spPr>
        <p:txBody>
          <a:bodyPr wrap="square" lIns="0" tIns="0" rIns="0" bIns="0" rtlCol="0" anchor="t"/>
          <a:lstStyle/>
          <a:p>
            <a:pPr algn="l" indent="0" marL="0">
              <a:buNone/>
            </a:pPr>
            <a:r>
              <a:rPr lang="en-US" sz="1400" dirty="0">
                <a:solidFill>
                  <a:srgbClr val="C4C9D0"/>
                </a:solidFill>
              </a:rPr>
              <a:t>[Your names]</a:t>
            </a:r>
            <a:endParaRPr lang="en-US" sz="1400" dirty="0"/>
          </a:p>
          <a:p>
            <a:pPr algn="l" indent="0" marL="0">
              <a:buNone/>
            </a:pPr>
            <a:r>
              <a:rPr lang="en-US" sz="1400" dirty="0">
                <a:solidFill>
                  <a:srgbClr val="C4C9D0"/>
                </a:solidFill>
              </a:rPr>
              <a:t>[Unit code] · [Date]</a:t>
            </a:r>
            <a:endParaRPr lang="en-US" sz="1400" dirty="0"/>
          </a:p>
        </p:txBody>
      </p:sp>
      <p:graphicFrame>
        <p:nvGraphicFramePr>
          <p:cNvPr id="6" name="title-sparkbars" descr=""/>
          <p:cNvGraphicFramePr/>
          <p:nvPr/>
        </p:nvGraphicFramePr>
        <p:xfrm>
          <a:off x="4892040" y="3017520"/>
          <a:ext cx="3794760" cy="1600200"/>
        </p:xfrm>
        <a:graphic xmlns:a="http://schemas.openxmlformats.org/drawingml/2006/main">
          <a:graphicData uri="http://schemas.openxmlformats.org/drawingml/2006/chart">
            <c:chart xmlns:c="http://schemas.openxmlformats.org/drawingml/2006/chart" r:id="rId1"/>
          </a:graphicData>
        </a:graphic>
      </p:graphicFrame>
      <p:sp>
        <p:nvSpPr>
          <p:cNvPr id="7" name="sparkbars-caption"/>
          <p:cNvSpPr txBox="1"/>
          <p:nvPr/>
        </p:nvSpPr>
        <p:spPr>
          <a:xfrm>
            <a:off x="4892040" y="4617720"/>
            <a:ext cx="3794760" cy="256032"/>
          </a:xfrm>
          <a:prstGeom prst="rect">
            <a:avLst/>
          </a:prstGeom>
          <a:noFill/>
          <a:ln/>
        </p:spPr>
        <p:txBody>
          <a:bodyPr wrap="square" lIns="0" tIns="0" rIns="0" bIns="0" rtlCol="0" anchor="ctr"/>
          <a:lstStyle/>
          <a:p>
            <a:pPr algn="ctr" indent="0" marL="0">
              <a:buNone/>
            </a:pPr>
            <a:r>
              <a:rPr lang="en-US" sz="1000" dirty="0">
                <a:solidFill>
                  <a:srgbClr val="C4C9D0"/>
                </a:solidFill>
              </a:rPr>
              <a:t>Trips per month, 2019–2023: COVID cut them by 95%</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nav-pill-Agenda"/>
          <p:cNvSpPr/>
          <p:nvPr/>
        </p:nvSpPr>
        <p:spPr>
          <a:xfrm>
            <a:off x="457200" y="118872"/>
            <a:ext cx="713232" cy="256032"/>
          </a:xfrm>
          <a:prstGeom prst="roundRect">
            <a:avLst>
              <a:gd name="adj" fmla="val 50000"/>
            </a:avLst>
          </a:prstGeom>
          <a:solidFill>
            <a:srgbClr val="F2B705"/>
          </a:solidFill>
          <a:ln w="6350">
            <a:solidFill>
              <a:srgbClr val="F2B705"/>
            </a:solidFill>
            <a:prstDash val="solid"/>
          </a:ln>
        </p:spPr>
      </p:sp>
      <p:sp>
        <p:nvSpPr>
          <p:cNvPr id="3" name="nav-Agenda"/>
          <p:cNvSpPr txBox="1"/>
          <p:nvPr/>
        </p:nvSpPr>
        <p:spPr>
          <a:xfrm>
            <a:off x="457200" y="118872"/>
            <a:ext cx="713232" cy="256032"/>
          </a:xfrm>
          <a:prstGeom prst="rect">
            <a:avLst/>
          </a:prstGeom>
          <a:noFill/>
          <a:ln/>
        </p:spPr>
        <p:txBody>
          <a:bodyPr wrap="square" lIns="0" tIns="0" rIns="0" bIns="0" rtlCol="0" anchor="ctr"/>
          <a:lstStyle/>
          <a:p>
            <a:pPr algn="ctr" indent="0" marL="0">
              <a:buNone/>
            </a:pPr>
            <a:r>
              <a:rPr lang="en-US" sz="1050" b="1" dirty="0">
                <a:solidFill>
                  <a:schemeClr val="tx1"/>
                </a:solidFill>
              </a:rPr>
              <a:t>Agenda</a:t>
            </a:r>
            <a:endParaRPr lang="en-US" sz="1050" dirty="0"/>
          </a:p>
        </p:txBody>
      </p:sp>
      <p:sp>
        <p:nvSpPr>
          <p:cNvPr id="4" name="nav-link-Agenda">
            <a:hlinkClick r:id="rId1" tooltip="Go to Agenda" action="ppaction://hlinksldjump"/>
          </p:cNvPr>
          <p:cNvSpPr/>
          <p:nvPr/>
        </p:nvSpPr>
        <p:spPr>
          <a:xfrm>
            <a:off x="457200" y="118872"/>
            <a:ext cx="713232" cy="256032"/>
          </a:xfrm>
          <a:prstGeom prst="rect">
            <a:avLst/>
          </a:prstGeom>
          <a:solidFill>
            <a:srgbClr val="FFFFFF">
              <a:alpha val="0"/>
            </a:srgbClr>
          </a:solidFill>
          <a:ln/>
        </p:spPr>
      </p:sp>
      <p:sp>
        <p:nvSpPr>
          <p:cNvPr id="5" name="nav-Question"/>
          <p:cNvSpPr txBox="1"/>
          <p:nvPr/>
        </p:nvSpPr>
        <p:spPr>
          <a:xfrm>
            <a:off x="1225296" y="118872"/>
            <a:ext cx="822960" cy="256032"/>
          </a:xfrm>
          <a:prstGeom prst="rect">
            <a:avLst/>
          </a:prstGeom>
          <a:noFill/>
          <a:ln/>
        </p:spPr>
        <p:txBody>
          <a:bodyPr wrap="square" lIns="0" tIns="0" rIns="0" bIns="0" rtlCol="0" anchor="ctr"/>
          <a:lstStyle/>
          <a:p>
            <a:pPr algn="ctr" indent="0" marL="0">
              <a:buNone/>
            </a:pPr>
            <a:r>
              <a:rPr lang="en-US" sz="1050" dirty="0">
                <a:solidFill>
                  <a:srgbClr val="5F6772"/>
                </a:solidFill>
              </a:rPr>
              <a:t>Question</a:t>
            </a:r>
            <a:endParaRPr lang="en-US" sz="1050" dirty="0"/>
          </a:p>
        </p:txBody>
      </p:sp>
      <p:sp>
        <p:nvSpPr>
          <p:cNvPr id="6" name="nav-link-Question">
            <a:hlinkClick r:id="rId2" tooltip="Go to Question" action="ppaction://hlinksldjump"/>
          </p:cNvPr>
          <p:cNvSpPr/>
          <p:nvPr/>
        </p:nvSpPr>
        <p:spPr>
          <a:xfrm>
            <a:off x="1225296" y="118872"/>
            <a:ext cx="822960" cy="256032"/>
          </a:xfrm>
          <a:prstGeom prst="rect">
            <a:avLst/>
          </a:prstGeom>
          <a:solidFill>
            <a:srgbClr val="FFFFFF">
              <a:alpha val="0"/>
            </a:srgbClr>
          </a:solidFill>
          <a:ln/>
        </p:spPr>
      </p:sp>
      <p:sp>
        <p:nvSpPr>
          <p:cNvPr id="7" name="nav-Data"/>
          <p:cNvSpPr txBox="1"/>
          <p:nvPr/>
        </p:nvSpPr>
        <p:spPr>
          <a:xfrm>
            <a:off x="2103120" y="118872"/>
            <a:ext cx="566928" cy="256032"/>
          </a:xfrm>
          <a:prstGeom prst="rect">
            <a:avLst/>
          </a:prstGeom>
          <a:noFill/>
          <a:ln/>
        </p:spPr>
        <p:txBody>
          <a:bodyPr wrap="square" lIns="0" tIns="0" rIns="0" bIns="0" rtlCol="0" anchor="ctr"/>
          <a:lstStyle/>
          <a:p>
            <a:pPr algn="ctr" indent="0" marL="0">
              <a:buNone/>
            </a:pPr>
            <a:r>
              <a:rPr lang="en-US" sz="1050" dirty="0">
                <a:solidFill>
                  <a:srgbClr val="5F6772"/>
                </a:solidFill>
              </a:rPr>
              <a:t>Data</a:t>
            </a:r>
            <a:endParaRPr lang="en-US" sz="1050" dirty="0"/>
          </a:p>
        </p:txBody>
      </p:sp>
      <p:sp>
        <p:nvSpPr>
          <p:cNvPr id="8" name="nav-link-Data">
            <a:hlinkClick r:id="rId3" tooltip="Go to Data" action="ppaction://hlinksldjump"/>
          </p:cNvPr>
          <p:cNvSpPr/>
          <p:nvPr/>
        </p:nvSpPr>
        <p:spPr>
          <a:xfrm>
            <a:off x="2103120" y="118872"/>
            <a:ext cx="566928" cy="256032"/>
          </a:xfrm>
          <a:prstGeom prst="rect">
            <a:avLst/>
          </a:prstGeom>
          <a:solidFill>
            <a:srgbClr val="FFFFFF">
              <a:alpha val="0"/>
            </a:srgbClr>
          </a:solidFill>
          <a:ln/>
        </p:spPr>
      </p:sp>
      <p:sp>
        <p:nvSpPr>
          <p:cNvPr id="9" name="nav-Method"/>
          <p:cNvSpPr txBox="1"/>
          <p:nvPr/>
        </p:nvSpPr>
        <p:spPr>
          <a:xfrm>
            <a:off x="2724912" y="118872"/>
            <a:ext cx="713232" cy="256032"/>
          </a:xfrm>
          <a:prstGeom prst="rect">
            <a:avLst/>
          </a:prstGeom>
          <a:noFill/>
          <a:ln/>
        </p:spPr>
        <p:txBody>
          <a:bodyPr wrap="square" lIns="0" tIns="0" rIns="0" bIns="0" rtlCol="0" anchor="ctr"/>
          <a:lstStyle/>
          <a:p>
            <a:pPr algn="ctr" indent="0" marL="0">
              <a:buNone/>
            </a:pPr>
            <a:r>
              <a:rPr lang="en-US" sz="1050" dirty="0">
                <a:solidFill>
                  <a:srgbClr val="5F6772"/>
                </a:solidFill>
              </a:rPr>
              <a:t>Method</a:t>
            </a:r>
            <a:endParaRPr lang="en-US" sz="1050" dirty="0"/>
          </a:p>
        </p:txBody>
      </p:sp>
      <p:sp>
        <p:nvSpPr>
          <p:cNvPr id="10" name="nav-link-Method">
            <a:hlinkClick r:id="rId4" tooltip="Go to Method" action="ppaction://hlinksldjump"/>
          </p:cNvPr>
          <p:cNvSpPr/>
          <p:nvPr/>
        </p:nvSpPr>
        <p:spPr>
          <a:xfrm>
            <a:off x="2724912" y="118872"/>
            <a:ext cx="713232" cy="256032"/>
          </a:xfrm>
          <a:prstGeom prst="rect">
            <a:avLst/>
          </a:prstGeom>
          <a:solidFill>
            <a:srgbClr val="FFFFFF">
              <a:alpha val="0"/>
            </a:srgbClr>
          </a:solidFill>
          <a:ln/>
        </p:spPr>
      </p:sp>
      <p:sp>
        <p:nvSpPr>
          <p:cNvPr id="11" name="nav-Results"/>
          <p:cNvSpPr txBox="1"/>
          <p:nvPr/>
        </p:nvSpPr>
        <p:spPr>
          <a:xfrm>
            <a:off x="3493008" y="118872"/>
            <a:ext cx="731520" cy="256032"/>
          </a:xfrm>
          <a:prstGeom prst="rect">
            <a:avLst/>
          </a:prstGeom>
          <a:noFill/>
          <a:ln/>
        </p:spPr>
        <p:txBody>
          <a:bodyPr wrap="square" lIns="0" tIns="0" rIns="0" bIns="0" rtlCol="0" anchor="ctr"/>
          <a:lstStyle/>
          <a:p>
            <a:pPr algn="ctr" indent="0" marL="0">
              <a:buNone/>
            </a:pPr>
            <a:r>
              <a:rPr lang="en-US" sz="1050" dirty="0">
                <a:solidFill>
                  <a:srgbClr val="5F6772"/>
                </a:solidFill>
              </a:rPr>
              <a:t>Results</a:t>
            </a:r>
            <a:endParaRPr lang="en-US" sz="1050" dirty="0"/>
          </a:p>
        </p:txBody>
      </p:sp>
      <p:sp>
        <p:nvSpPr>
          <p:cNvPr id="12" name="nav-link-Results">
            <a:hlinkClick r:id="rId5" tooltip="Go to Results" action="ppaction://hlinksldjump"/>
          </p:cNvPr>
          <p:cNvSpPr/>
          <p:nvPr/>
        </p:nvSpPr>
        <p:spPr>
          <a:xfrm>
            <a:off x="3493008" y="118872"/>
            <a:ext cx="731520" cy="256032"/>
          </a:xfrm>
          <a:prstGeom prst="rect">
            <a:avLst/>
          </a:prstGeom>
          <a:solidFill>
            <a:srgbClr val="FFFFFF">
              <a:alpha val="0"/>
            </a:srgbClr>
          </a:solidFill>
          <a:ln/>
        </p:spPr>
      </p:sp>
      <p:sp>
        <p:nvSpPr>
          <p:cNvPr id="13" name="nav-Wrap-up"/>
          <p:cNvSpPr txBox="1"/>
          <p:nvPr/>
        </p:nvSpPr>
        <p:spPr>
          <a:xfrm>
            <a:off x="4279392" y="118872"/>
            <a:ext cx="786384" cy="256032"/>
          </a:xfrm>
          <a:prstGeom prst="rect">
            <a:avLst/>
          </a:prstGeom>
          <a:noFill/>
          <a:ln/>
        </p:spPr>
        <p:txBody>
          <a:bodyPr wrap="square" lIns="0" tIns="0" rIns="0" bIns="0" rtlCol="0" anchor="ctr"/>
          <a:lstStyle/>
          <a:p>
            <a:pPr algn="ctr" indent="0" marL="0">
              <a:buNone/>
            </a:pPr>
            <a:r>
              <a:rPr lang="en-US" sz="1050" dirty="0">
                <a:solidFill>
                  <a:srgbClr val="5F6772"/>
                </a:solidFill>
              </a:rPr>
              <a:t>Wrap-up</a:t>
            </a:r>
            <a:endParaRPr lang="en-US" sz="1050" dirty="0"/>
          </a:p>
        </p:txBody>
      </p:sp>
      <p:sp>
        <p:nvSpPr>
          <p:cNvPr id="14" name="nav-link-Wrap-up">
            <a:hlinkClick r:id="rId6" tooltip="Go to Wrap-up" action="ppaction://hlinksldjump"/>
          </p:cNvPr>
          <p:cNvSpPr/>
          <p:nvPr/>
        </p:nvSpPr>
        <p:spPr>
          <a:xfrm>
            <a:off x="4279392" y="118872"/>
            <a:ext cx="786384" cy="256032"/>
          </a:xfrm>
          <a:prstGeom prst="rect">
            <a:avLst/>
          </a:prstGeom>
          <a:solidFill>
            <a:srgbClr val="FFFFFF">
              <a:alpha val="0"/>
            </a:srgbClr>
          </a:solidFill>
          <a:ln/>
        </p:spPr>
      </p:sp>
      <p:sp>
        <p:nvSpPr>
          <p:cNvPr id="15" name="nav-Appendix"/>
          <p:cNvSpPr txBox="1"/>
          <p:nvPr/>
        </p:nvSpPr>
        <p:spPr>
          <a:xfrm>
            <a:off x="5120640" y="118872"/>
            <a:ext cx="859536" cy="256032"/>
          </a:xfrm>
          <a:prstGeom prst="rect">
            <a:avLst/>
          </a:prstGeom>
          <a:noFill/>
          <a:ln/>
        </p:spPr>
        <p:txBody>
          <a:bodyPr wrap="square" lIns="0" tIns="0" rIns="0" bIns="0" rtlCol="0" anchor="ctr"/>
          <a:lstStyle/>
          <a:p>
            <a:pPr algn="ctr" indent="0" marL="0">
              <a:buNone/>
            </a:pPr>
            <a:r>
              <a:rPr lang="en-US" sz="1050" dirty="0">
                <a:solidFill>
                  <a:srgbClr val="5F6772"/>
                </a:solidFill>
              </a:rPr>
              <a:t>Appendix</a:t>
            </a:r>
            <a:endParaRPr lang="en-US" sz="1050" dirty="0"/>
          </a:p>
        </p:txBody>
      </p:sp>
      <p:sp>
        <p:nvSpPr>
          <p:cNvPr id="16" name="nav-link-Appendix">
            <a:hlinkClick r:id="rId7" tooltip="Go to Appendix" action="ppaction://hlinksldjump"/>
          </p:cNvPr>
          <p:cNvSpPr/>
          <p:nvPr/>
        </p:nvSpPr>
        <p:spPr>
          <a:xfrm>
            <a:off x="5120640" y="118872"/>
            <a:ext cx="859536" cy="256032"/>
          </a:xfrm>
          <a:prstGeom prst="rect">
            <a:avLst/>
          </a:prstGeom>
          <a:solidFill>
            <a:srgbClr val="FFFFFF">
              <a:alpha val="0"/>
            </a:srgbClr>
          </a:solidFill>
          <a:ln/>
        </p:spPr>
      </p:sp>
      <p:sp>
        <p:nvSpPr>
          <p:cNvPr id="17" name="Text 0"/>
          <p:cNvSpPr/>
          <p:nvPr>
            <p:ph idx="100" type="title" hasCustomPrompt="1"/>
          </p:nvPr>
        </p:nvSpPr>
        <p:spPr>
          <a:xfrm>
            <a:off x="457200" y="475488"/>
            <a:ext cx="8229600" cy="777240"/>
          </a:xfrm>
          <a:prstGeom prst="rect">
            <a:avLst/>
          </a:prstGeom>
          <a:noFill/>
          <a:ln/>
        </p:spPr>
        <p:txBody>
          <a:bodyPr wrap="square" lIns="0" tIns="0" rIns="0" bIns="0" rtlCol="0" anchor="t"/>
          <a:lstStyle/>
          <a:p>
            <a:pPr algn="l" indent="0" marL="0">
              <a:buNone/>
            </a:pPr>
            <a:r>
              <a:rPr lang="en-US" sz="2200" b="1" dirty="0">
                <a:solidFill>
                  <a:schemeClr val="tx1"/>
                </a:solidFill>
              </a:rPr>
              <a:t>From 218 million raw trips to a late-2023 fare prediction in five steps</a:t>
            </a:r>
            <a:endParaRPr lang="en-US" sz="2200" dirty="0"/>
          </a:p>
        </p:txBody>
      </p:sp>
      <p:sp>
        <p:nvSpPr>
          <p:cNvPr id="18" name="agenda-hint"/>
          <p:cNvSpPr txBox="1"/>
          <p:nvPr/>
        </p:nvSpPr>
        <p:spPr>
          <a:xfrm>
            <a:off x="457200" y="1298448"/>
            <a:ext cx="8229600" cy="274320"/>
          </a:xfrm>
          <a:prstGeom prst="rect">
            <a:avLst/>
          </a:prstGeom>
          <a:noFill/>
          <a:ln/>
        </p:spPr>
        <p:txBody>
          <a:bodyPr wrap="square" lIns="0" tIns="0" rIns="0" bIns="0" rtlCol="0" anchor="ctr"/>
          <a:lstStyle/>
          <a:p>
            <a:pPr indent="0" marL="0">
              <a:buNone/>
            </a:pPr>
            <a:r>
              <a:rPr lang="en-US" sz="1200" i="1" dirty="0">
                <a:solidFill>
                  <a:srgbClr val="5F6772"/>
                </a:solidFill>
              </a:rPr>
              <a:t>Click a tile to jump to that part. The bar at the top of every slide links back here.</a:t>
            </a:r>
            <a:endParaRPr lang="en-US" sz="1200" dirty="0"/>
          </a:p>
        </p:txBody>
      </p:sp>
      <p:sp>
        <p:nvSpPr>
          <p:cNvPr id="19" name="tile-1"/>
          <p:cNvSpPr/>
          <p:nvPr/>
        </p:nvSpPr>
        <p:spPr>
          <a:xfrm>
            <a:off x="457200" y="1682496"/>
            <a:ext cx="2606040" cy="1389888"/>
          </a:xfrm>
          <a:prstGeom prst="roundRect">
            <a:avLst>
              <a:gd name="adj" fmla="val 5263"/>
            </a:avLst>
          </a:prstGeom>
          <a:solidFill>
            <a:srgbClr val="F1F3F5"/>
          </a:solidFill>
          <a:ln/>
        </p:spPr>
      </p:sp>
      <p:sp>
        <p:nvSpPr>
          <p:cNvPr id="20" name="tile-num-1"/>
          <p:cNvSpPr txBox="1"/>
          <p:nvPr/>
        </p:nvSpPr>
        <p:spPr>
          <a:xfrm>
            <a:off x="621792" y="1837944"/>
            <a:ext cx="384048" cy="384048"/>
          </a:xfrm>
          <a:prstGeom prst="ellipse">
            <a:avLst/>
          </a:prstGeom>
          <a:solidFill>
            <a:srgbClr val="F2B705"/>
          </a:solidFill>
          <a:ln/>
        </p:spPr>
        <p:txBody>
          <a:bodyPr wrap="square" lIns="0" tIns="0" rIns="0" bIns="0" rtlCol="0" anchor="ctr"/>
          <a:lstStyle/>
          <a:p>
            <a:pPr algn="ctr" indent="0" marL="0">
              <a:buNone/>
            </a:pPr>
            <a:r>
              <a:rPr lang="en-US" sz="1500" b="1" dirty="0">
                <a:solidFill>
                  <a:schemeClr val="tx1"/>
                </a:solidFill>
              </a:rPr>
              <a:t>1</a:t>
            </a:r>
            <a:endParaRPr lang="en-US" sz="1500" dirty="0"/>
          </a:p>
        </p:txBody>
      </p:sp>
      <p:sp>
        <p:nvSpPr>
          <p:cNvPr id="21" name="tile-title-1"/>
          <p:cNvSpPr txBox="1"/>
          <p:nvPr/>
        </p:nvSpPr>
        <p:spPr>
          <a:xfrm>
            <a:off x="1115568" y="1837944"/>
            <a:ext cx="1783080" cy="384048"/>
          </a:xfrm>
          <a:prstGeom prst="rect">
            <a:avLst/>
          </a:prstGeom>
          <a:noFill/>
          <a:ln/>
        </p:spPr>
        <p:txBody>
          <a:bodyPr wrap="square" lIns="0" tIns="0" rIns="0" bIns="0" rtlCol="0" anchor="ctr"/>
          <a:lstStyle/>
          <a:p>
            <a:pPr indent="0" marL="0">
              <a:buNone/>
            </a:pPr>
            <a:r>
              <a:rPr lang="en-US" sz="1600" b="1" dirty="0">
                <a:solidFill>
                  <a:schemeClr val="tx1"/>
                </a:solidFill>
              </a:rPr>
              <a:t>The question</a:t>
            </a:r>
            <a:endParaRPr lang="en-US" sz="1600" dirty="0"/>
          </a:p>
        </p:txBody>
      </p:sp>
      <p:sp>
        <p:nvSpPr>
          <p:cNvPr id="22" name="tile-desc-1"/>
          <p:cNvSpPr txBox="1"/>
          <p:nvPr/>
        </p:nvSpPr>
        <p:spPr>
          <a:xfrm>
            <a:off x="621792" y="2286000"/>
            <a:ext cx="2276856" cy="420624"/>
          </a:xfrm>
          <a:prstGeom prst="rect">
            <a:avLst/>
          </a:prstGeom>
          <a:noFill/>
          <a:ln/>
        </p:spPr>
        <p:txBody>
          <a:bodyPr wrap="square" lIns="0" tIns="0" rIns="0" bIns="0" rtlCol="0" anchor="t"/>
          <a:lstStyle/>
          <a:p>
            <a:pPr indent="0" marL="0">
              <a:buNone/>
            </a:pPr>
            <a:r>
              <a:rPr lang="en-US" sz="1200" dirty="0">
                <a:solidFill>
                  <a:schemeClr val="tx1"/>
                </a:solidFill>
              </a:rPr>
              <a:t>What we predict, and why five years make it hard</a:t>
            </a:r>
            <a:endParaRPr lang="en-US" sz="1200" dirty="0"/>
          </a:p>
        </p:txBody>
      </p:sp>
      <p:sp>
        <p:nvSpPr>
          <p:cNvPr id="23" name="tile-range-1"/>
          <p:cNvSpPr txBox="1"/>
          <p:nvPr/>
        </p:nvSpPr>
        <p:spPr>
          <a:xfrm>
            <a:off x="621792" y="2761488"/>
            <a:ext cx="2276856" cy="219456"/>
          </a:xfrm>
          <a:prstGeom prst="rect">
            <a:avLst/>
          </a:prstGeom>
          <a:noFill/>
          <a:ln/>
        </p:spPr>
        <p:txBody>
          <a:bodyPr wrap="square" lIns="0" tIns="0" rIns="0" bIns="0" rtlCol="0" anchor="ctr"/>
          <a:lstStyle/>
          <a:p>
            <a:pPr indent="0" marL="0">
              <a:buNone/>
            </a:pPr>
            <a:r>
              <a:rPr lang="en-US" sz="1100" dirty="0">
                <a:solidFill>
                  <a:srgbClr val="5F6772"/>
                </a:solidFill>
              </a:rPr>
              <a:t>Slides 3–4  →</a:t>
            </a:r>
            <a:endParaRPr lang="en-US" sz="1100" dirty="0"/>
          </a:p>
        </p:txBody>
      </p:sp>
      <p:sp>
        <p:nvSpPr>
          <p:cNvPr id="24" name="tile-link-1">
            <a:hlinkClick r:id="rId8" tooltip="Go to The question" action="ppaction://hlinksldjump"/>
          </p:cNvPr>
          <p:cNvSpPr/>
          <p:nvPr/>
        </p:nvSpPr>
        <p:spPr>
          <a:xfrm>
            <a:off x="457200" y="1682496"/>
            <a:ext cx="2606040" cy="1389888"/>
          </a:xfrm>
          <a:prstGeom prst="rect">
            <a:avLst/>
          </a:prstGeom>
          <a:solidFill>
            <a:srgbClr val="FFFFFF">
              <a:alpha val="0"/>
            </a:srgbClr>
          </a:solidFill>
          <a:ln/>
        </p:spPr>
      </p:sp>
      <p:sp>
        <p:nvSpPr>
          <p:cNvPr id="25" name="tile-2"/>
          <p:cNvSpPr/>
          <p:nvPr/>
        </p:nvSpPr>
        <p:spPr>
          <a:xfrm>
            <a:off x="3268980" y="1682496"/>
            <a:ext cx="2606040" cy="1389888"/>
          </a:xfrm>
          <a:prstGeom prst="roundRect">
            <a:avLst>
              <a:gd name="adj" fmla="val 5263"/>
            </a:avLst>
          </a:prstGeom>
          <a:solidFill>
            <a:srgbClr val="F1F3F5"/>
          </a:solidFill>
          <a:ln/>
        </p:spPr>
      </p:sp>
      <p:sp>
        <p:nvSpPr>
          <p:cNvPr id="26" name="tile-num-2"/>
          <p:cNvSpPr txBox="1"/>
          <p:nvPr/>
        </p:nvSpPr>
        <p:spPr>
          <a:xfrm>
            <a:off x="3433572" y="1837944"/>
            <a:ext cx="384048" cy="384048"/>
          </a:xfrm>
          <a:prstGeom prst="ellipse">
            <a:avLst/>
          </a:prstGeom>
          <a:solidFill>
            <a:srgbClr val="F2B705"/>
          </a:solidFill>
          <a:ln/>
        </p:spPr>
        <p:txBody>
          <a:bodyPr wrap="square" lIns="0" tIns="0" rIns="0" bIns="0" rtlCol="0" anchor="ctr"/>
          <a:lstStyle/>
          <a:p>
            <a:pPr algn="ctr" indent="0" marL="0">
              <a:buNone/>
            </a:pPr>
            <a:r>
              <a:rPr lang="en-US" sz="1500" b="1" dirty="0">
                <a:solidFill>
                  <a:schemeClr val="tx1"/>
                </a:solidFill>
              </a:rPr>
              <a:t>2</a:t>
            </a:r>
            <a:endParaRPr lang="en-US" sz="1500" dirty="0"/>
          </a:p>
        </p:txBody>
      </p:sp>
      <p:sp>
        <p:nvSpPr>
          <p:cNvPr id="27" name="tile-title-2"/>
          <p:cNvSpPr txBox="1"/>
          <p:nvPr/>
        </p:nvSpPr>
        <p:spPr>
          <a:xfrm>
            <a:off x="3927348" y="1837944"/>
            <a:ext cx="1783080" cy="384048"/>
          </a:xfrm>
          <a:prstGeom prst="rect">
            <a:avLst/>
          </a:prstGeom>
          <a:noFill/>
          <a:ln/>
        </p:spPr>
        <p:txBody>
          <a:bodyPr wrap="square" lIns="0" tIns="0" rIns="0" bIns="0" rtlCol="0" anchor="ctr"/>
          <a:lstStyle/>
          <a:p>
            <a:pPr indent="0" marL="0">
              <a:buNone/>
            </a:pPr>
            <a:r>
              <a:rPr lang="en-US" sz="1600" b="1" dirty="0">
                <a:solidFill>
                  <a:schemeClr val="tx1"/>
                </a:solidFill>
              </a:rPr>
              <a:t>Data &amp; pipeline</a:t>
            </a:r>
            <a:endParaRPr lang="en-US" sz="1600" dirty="0"/>
          </a:p>
        </p:txBody>
      </p:sp>
      <p:sp>
        <p:nvSpPr>
          <p:cNvPr id="28" name="tile-desc-2"/>
          <p:cNvSpPr txBox="1"/>
          <p:nvPr/>
        </p:nvSpPr>
        <p:spPr>
          <a:xfrm>
            <a:off x="3433572" y="2286000"/>
            <a:ext cx="2276856" cy="420624"/>
          </a:xfrm>
          <a:prstGeom prst="rect">
            <a:avLst/>
          </a:prstGeom>
          <a:noFill/>
          <a:ln/>
        </p:spPr>
        <p:txBody>
          <a:bodyPr wrap="square" lIns="0" tIns="0" rIns="0" bIns="0" rtlCol="0" anchor="t"/>
          <a:lstStyle/>
          <a:p>
            <a:pPr indent="0" marL="0">
              <a:buNone/>
            </a:pPr>
            <a:r>
              <a:rPr lang="en-US" sz="1200" dirty="0">
                <a:solidFill>
                  <a:schemeClr val="tx1"/>
                </a:solidFill>
              </a:rPr>
              <a:t>218 M trips, COVID, cleaning, the 2022 fare increase</a:t>
            </a:r>
            <a:endParaRPr lang="en-US" sz="1200" dirty="0"/>
          </a:p>
        </p:txBody>
      </p:sp>
      <p:sp>
        <p:nvSpPr>
          <p:cNvPr id="29" name="tile-range-2"/>
          <p:cNvSpPr txBox="1"/>
          <p:nvPr/>
        </p:nvSpPr>
        <p:spPr>
          <a:xfrm>
            <a:off x="3433572" y="2761488"/>
            <a:ext cx="2276856" cy="219456"/>
          </a:xfrm>
          <a:prstGeom prst="rect">
            <a:avLst/>
          </a:prstGeom>
          <a:noFill/>
          <a:ln/>
        </p:spPr>
        <p:txBody>
          <a:bodyPr wrap="square" lIns="0" tIns="0" rIns="0" bIns="0" rtlCol="0" anchor="ctr"/>
          <a:lstStyle/>
          <a:p>
            <a:pPr indent="0" marL="0">
              <a:buNone/>
            </a:pPr>
            <a:r>
              <a:rPr lang="en-US" sz="1100" dirty="0">
                <a:solidFill>
                  <a:srgbClr val="5F6772"/>
                </a:solidFill>
              </a:rPr>
              <a:t>Slides 5–9  →</a:t>
            </a:r>
            <a:endParaRPr lang="en-US" sz="1100" dirty="0"/>
          </a:p>
        </p:txBody>
      </p:sp>
      <p:sp>
        <p:nvSpPr>
          <p:cNvPr id="30" name="tile-link-2">
            <a:hlinkClick r:id="rId9" tooltip="Go to Data &amp; pipeline" action="ppaction://hlinksldjump"/>
          </p:cNvPr>
          <p:cNvSpPr/>
          <p:nvPr/>
        </p:nvSpPr>
        <p:spPr>
          <a:xfrm>
            <a:off x="3268980" y="1682496"/>
            <a:ext cx="2606040" cy="1389888"/>
          </a:xfrm>
          <a:prstGeom prst="rect">
            <a:avLst/>
          </a:prstGeom>
          <a:solidFill>
            <a:srgbClr val="FFFFFF">
              <a:alpha val="0"/>
            </a:srgbClr>
          </a:solidFill>
          <a:ln/>
        </p:spPr>
      </p:sp>
      <p:sp>
        <p:nvSpPr>
          <p:cNvPr id="31" name="tile-3"/>
          <p:cNvSpPr/>
          <p:nvPr/>
        </p:nvSpPr>
        <p:spPr>
          <a:xfrm>
            <a:off x="6080760" y="1682496"/>
            <a:ext cx="2606040" cy="1389888"/>
          </a:xfrm>
          <a:prstGeom prst="roundRect">
            <a:avLst>
              <a:gd name="adj" fmla="val 5263"/>
            </a:avLst>
          </a:prstGeom>
          <a:solidFill>
            <a:srgbClr val="F1F3F5"/>
          </a:solidFill>
          <a:ln/>
        </p:spPr>
      </p:sp>
      <p:sp>
        <p:nvSpPr>
          <p:cNvPr id="32" name="tile-num-3"/>
          <p:cNvSpPr txBox="1"/>
          <p:nvPr/>
        </p:nvSpPr>
        <p:spPr>
          <a:xfrm>
            <a:off x="6245352" y="1837944"/>
            <a:ext cx="384048" cy="384048"/>
          </a:xfrm>
          <a:prstGeom prst="ellipse">
            <a:avLst/>
          </a:prstGeom>
          <a:solidFill>
            <a:srgbClr val="F2B705"/>
          </a:solidFill>
          <a:ln/>
        </p:spPr>
        <p:txBody>
          <a:bodyPr wrap="square" lIns="0" tIns="0" rIns="0" bIns="0" rtlCol="0" anchor="ctr"/>
          <a:lstStyle/>
          <a:p>
            <a:pPr algn="ctr" indent="0" marL="0">
              <a:buNone/>
            </a:pPr>
            <a:r>
              <a:rPr lang="en-US" sz="1500" b="1" dirty="0">
                <a:solidFill>
                  <a:schemeClr val="tx1"/>
                </a:solidFill>
              </a:rPr>
              <a:t>3</a:t>
            </a:r>
            <a:endParaRPr lang="en-US" sz="1500" dirty="0"/>
          </a:p>
        </p:txBody>
      </p:sp>
      <p:sp>
        <p:nvSpPr>
          <p:cNvPr id="33" name="tile-title-3"/>
          <p:cNvSpPr txBox="1"/>
          <p:nvPr/>
        </p:nvSpPr>
        <p:spPr>
          <a:xfrm>
            <a:off x="6739128" y="1837944"/>
            <a:ext cx="1783080" cy="384048"/>
          </a:xfrm>
          <a:prstGeom prst="rect">
            <a:avLst/>
          </a:prstGeom>
          <a:noFill/>
          <a:ln/>
        </p:spPr>
        <p:txBody>
          <a:bodyPr wrap="square" lIns="0" tIns="0" rIns="0" bIns="0" rtlCol="0" anchor="ctr"/>
          <a:lstStyle/>
          <a:p>
            <a:pPr indent="0" marL="0">
              <a:buNone/>
            </a:pPr>
            <a:r>
              <a:rPr lang="en-US" sz="1600" b="1" dirty="0">
                <a:solidFill>
                  <a:schemeClr val="tx1"/>
                </a:solidFill>
              </a:rPr>
              <a:t>Method</a:t>
            </a:r>
            <a:endParaRPr lang="en-US" sz="1600" dirty="0"/>
          </a:p>
        </p:txBody>
      </p:sp>
      <p:sp>
        <p:nvSpPr>
          <p:cNvPr id="34" name="tile-desc-3"/>
          <p:cNvSpPr txBox="1"/>
          <p:nvPr/>
        </p:nvSpPr>
        <p:spPr>
          <a:xfrm>
            <a:off x="6245352" y="2286000"/>
            <a:ext cx="2276856" cy="420624"/>
          </a:xfrm>
          <a:prstGeom prst="rect">
            <a:avLst/>
          </a:prstGeom>
          <a:noFill/>
          <a:ln/>
        </p:spPr>
        <p:txBody>
          <a:bodyPr wrap="square" lIns="0" tIns="0" rIns="0" bIns="0" rtlCol="0" anchor="t"/>
          <a:lstStyle/>
          <a:p>
            <a:pPr indent="0" marL="0">
              <a:buNone/>
            </a:pPr>
            <a:r>
              <a:rPr lang="en-US" sz="1200" dirty="0">
                <a:solidFill>
                  <a:schemeClr val="tx1"/>
                </a:solidFill>
              </a:rPr>
              <a:t>Time-based split, training set-up, five methods</a:t>
            </a:r>
            <a:endParaRPr lang="en-US" sz="1200" dirty="0"/>
          </a:p>
        </p:txBody>
      </p:sp>
      <p:sp>
        <p:nvSpPr>
          <p:cNvPr id="35" name="tile-range-3"/>
          <p:cNvSpPr txBox="1"/>
          <p:nvPr/>
        </p:nvSpPr>
        <p:spPr>
          <a:xfrm>
            <a:off x="6245352" y="2761488"/>
            <a:ext cx="2276856" cy="219456"/>
          </a:xfrm>
          <a:prstGeom prst="rect">
            <a:avLst/>
          </a:prstGeom>
          <a:noFill/>
          <a:ln/>
        </p:spPr>
        <p:txBody>
          <a:bodyPr wrap="square" lIns="0" tIns="0" rIns="0" bIns="0" rtlCol="0" anchor="ctr"/>
          <a:lstStyle/>
          <a:p>
            <a:pPr indent="0" marL="0">
              <a:buNone/>
            </a:pPr>
            <a:r>
              <a:rPr lang="en-US" sz="1100" dirty="0">
                <a:solidFill>
                  <a:srgbClr val="5F6772"/>
                </a:solidFill>
              </a:rPr>
              <a:t>Slides 10–12  →</a:t>
            </a:r>
            <a:endParaRPr lang="en-US" sz="1100" dirty="0"/>
          </a:p>
        </p:txBody>
      </p:sp>
      <p:sp>
        <p:nvSpPr>
          <p:cNvPr id="36" name="tile-link-3">
            <a:hlinkClick r:id="rId10" tooltip="Go to Method" action="ppaction://hlinksldjump"/>
          </p:cNvPr>
          <p:cNvSpPr/>
          <p:nvPr/>
        </p:nvSpPr>
        <p:spPr>
          <a:xfrm>
            <a:off x="6080760" y="1682496"/>
            <a:ext cx="2606040" cy="1389888"/>
          </a:xfrm>
          <a:prstGeom prst="rect">
            <a:avLst/>
          </a:prstGeom>
          <a:solidFill>
            <a:srgbClr val="FFFFFF">
              <a:alpha val="0"/>
            </a:srgbClr>
          </a:solidFill>
          <a:ln/>
        </p:spPr>
      </p:sp>
      <p:sp>
        <p:nvSpPr>
          <p:cNvPr id="37" name="tile-4"/>
          <p:cNvSpPr/>
          <p:nvPr/>
        </p:nvSpPr>
        <p:spPr>
          <a:xfrm>
            <a:off x="457200" y="3218688"/>
            <a:ext cx="2606040" cy="1389888"/>
          </a:xfrm>
          <a:prstGeom prst="roundRect">
            <a:avLst>
              <a:gd name="adj" fmla="val 5263"/>
            </a:avLst>
          </a:prstGeom>
          <a:solidFill>
            <a:srgbClr val="F1F3F5"/>
          </a:solidFill>
          <a:ln/>
        </p:spPr>
      </p:sp>
      <p:sp>
        <p:nvSpPr>
          <p:cNvPr id="38" name="tile-num-4"/>
          <p:cNvSpPr txBox="1"/>
          <p:nvPr/>
        </p:nvSpPr>
        <p:spPr>
          <a:xfrm>
            <a:off x="621792" y="3374136"/>
            <a:ext cx="384048" cy="384048"/>
          </a:xfrm>
          <a:prstGeom prst="ellipse">
            <a:avLst/>
          </a:prstGeom>
          <a:solidFill>
            <a:srgbClr val="F2B705"/>
          </a:solidFill>
          <a:ln/>
        </p:spPr>
        <p:txBody>
          <a:bodyPr wrap="square" lIns="0" tIns="0" rIns="0" bIns="0" rtlCol="0" anchor="ctr"/>
          <a:lstStyle/>
          <a:p>
            <a:pPr algn="ctr" indent="0" marL="0">
              <a:buNone/>
            </a:pPr>
            <a:r>
              <a:rPr lang="en-US" sz="1500" b="1" dirty="0">
                <a:solidFill>
                  <a:schemeClr val="tx1"/>
                </a:solidFill>
              </a:rPr>
              <a:t>4</a:t>
            </a:r>
            <a:endParaRPr lang="en-US" sz="1500" dirty="0"/>
          </a:p>
        </p:txBody>
      </p:sp>
      <p:sp>
        <p:nvSpPr>
          <p:cNvPr id="39" name="tile-title-4"/>
          <p:cNvSpPr txBox="1"/>
          <p:nvPr/>
        </p:nvSpPr>
        <p:spPr>
          <a:xfrm>
            <a:off x="1115568" y="3374136"/>
            <a:ext cx="1783080" cy="384048"/>
          </a:xfrm>
          <a:prstGeom prst="rect">
            <a:avLst/>
          </a:prstGeom>
          <a:noFill/>
          <a:ln/>
        </p:spPr>
        <p:txBody>
          <a:bodyPr wrap="square" lIns="0" tIns="0" rIns="0" bIns="0" rtlCol="0" anchor="ctr"/>
          <a:lstStyle/>
          <a:p>
            <a:pPr indent="0" marL="0">
              <a:buNone/>
            </a:pPr>
            <a:r>
              <a:rPr lang="en-US" sz="1600" b="1" dirty="0">
                <a:solidFill>
                  <a:schemeClr val="tx1"/>
                </a:solidFill>
              </a:rPr>
              <a:t>Results</a:t>
            </a:r>
            <a:endParaRPr lang="en-US" sz="1600" dirty="0"/>
          </a:p>
        </p:txBody>
      </p:sp>
      <p:sp>
        <p:nvSpPr>
          <p:cNvPr id="40" name="tile-desc-4"/>
          <p:cNvSpPr txBox="1"/>
          <p:nvPr/>
        </p:nvSpPr>
        <p:spPr>
          <a:xfrm>
            <a:off x="621792" y="3822192"/>
            <a:ext cx="2276856" cy="420624"/>
          </a:xfrm>
          <a:prstGeom prst="rect">
            <a:avLst/>
          </a:prstGeom>
          <a:noFill/>
          <a:ln/>
        </p:spPr>
        <p:txBody>
          <a:bodyPr wrap="square" lIns="0" tIns="0" rIns="0" bIns="0" rtlCol="0" anchor="t"/>
          <a:lstStyle/>
          <a:p>
            <a:pPr indent="0" marL="0">
              <a:buNone/>
            </a:pPr>
            <a:r>
              <a:rPr lang="en-US" sz="1200" dirty="0">
                <a:solidFill>
                  <a:schemeClr val="tx1"/>
                </a:solidFill>
              </a:rPr>
              <a:t>Which model wins, and why</a:t>
            </a:r>
            <a:endParaRPr lang="en-US" sz="1200" dirty="0"/>
          </a:p>
        </p:txBody>
      </p:sp>
      <p:sp>
        <p:nvSpPr>
          <p:cNvPr id="41" name="tile-range-4"/>
          <p:cNvSpPr txBox="1"/>
          <p:nvPr/>
        </p:nvSpPr>
        <p:spPr>
          <a:xfrm>
            <a:off x="621792" y="4297680"/>
            <a:ext cx="2276856" cy="219456"/>
          </a:xfrm>
          <a:prstGeom prst="rect">
            <a:avLst/>
          </a:prstGeom>
          <a:noFill/>
          <a:ln/>
        </p:spPr>
        <p:txBody>
          <a:bodyPr wrap="square" lIns="0" tIns="0" rIns="0" bIns="0" rtlCol="0" anchor="ctr"/>
          <a:lstStyle/>
          <a:p>
            <a:pPr indent="0" marL="0">
              <a:buNone/>
            </a:pPr>
            <a:r>
              <a:rPr lang="en-US" sz="1100" dirty="0">
                <a:solidFill>
                  <a:srgbClr val="5F6772"/>
                </a:solidFill>
              </a:rPr>
              <a:t>Slides 13–16  →</a:t>
            </a:r>
            <a:endParaRPr lang="en-US" sz="1100" dirty="0"/>
          </a:p>
        </p:txBody>
      </p:sp>
      <p:sp>
        <p:nvSpPr>
          <p:cNvPr id="42" name="tile-link-4">
            <a:hlinkClick r:id="rId11" tooltip="Go to Results" action="ppaction://hlinksldjump"/>
          </p:cNvPr>
          <p:cNvSpPr/>
          <p:nvPr/>
        </p:nvSpPr>
        <p:spPr>
          <a:xfrm>
            <a:off x="457200" y="3218688"/>
            <a:ext cx="2606040" cy="1389888"/>
          </a:xfrm>
          <a:prstGeom prst="rect">
            <a:avLst/>
          </a:prstGeom>
          <a:solidFill>
            <a:srgbClr val="FFFFFF">
              <a:alpha val="0"/>
            </a:srgbClr>
          </a:solidFill>
          <a:ln/>
        </p:spPr>
      </p:sp>
      <p:sp>
        <p:nvSpPr>
          <p:cNvPr id="43" name="tile-5"/>
          <p:cNvSpPr/>
          <p:nvPr/>
        </p:nvSpPr>
        <p:spPr>
          <a:xfrm>
            <a:off x="3268980" y="3218688"/>
            <a:ext cx="2606040" cy="1389888"/>
          </a:xfrm>
          <a:prstGeom prst="roundRect">
            <a:avLst>
              <a:gd name="adj" fmla="val 5263"/>
            </a:avLst>
          </a:prstGeom>
          <a:solidFill>
            <a:srgbClr val="F1F3F5"/>
          </a:solidFill>
          <a:ln/>
        </p:spPr>
      </p:sp>
      <p:sp>
        <p:nvSpPr>
          <p:cNvPr id="44" name="tile-num-5"/>
          <p:cNvSpPr txBox="1"/>
          <p:nvPr/>
        </p:nvSpPr>
        <p:spPr>
          <a:xfrm>
            <a:off x="3433572" y="3374136"/>
            <a:ext cx="384048" cy="384048"/>
          </a:xfrm>
          <a:prstGeom prst="ellipse">
            <a:avLst/>
          </a:prstGeom>
          <a:solidFill>
            <a:srgbClr val="F2B705"/>
          </a:solidFill>
          <a:ln/>
        </p:spPr>
        <p:txBody>
          <a:bodyPr wrap="square" lIns="0" tIns="0" rIns="0" bIns="0" rtlCol="0" anchor="ctr"/>
          <a:lstStyle/>
          <a:p>
            <a:pPr algn="ctr" indent="0" marL="0">
              <a:buNone/>
            </a:pPr>
            <a:r>
              <a:rPr lang="en-US" sz="1500" b="1" dirty="0">
                <a:solidFill>
                  <a:schemeClr val="tx1"/>
                </a:solidFill>
              </a:rPr>
              <a:t>5</a:t>
            </a:r>
            <a:endParaRPr lang="en-US" sz="1500" dirty="0"/>
          </a:p>
        </p:txBody>
      </p:sp>
      <p:sp>
        <p:nvSpPr>
          <p:cNvPr id="45" name="tile-title-5"/>
          <p:cNvSpPr txBox="1"/>
          <p:nvPr/>
        </p:nvSpPr>
        <p:spPr>
          <a:xfrm>
            <a:off x="3927348" y="3374136"/>
            <a:ext cx="1783080" cy="384048"/>
          </a:xfrm>
          <a:prstGeom prst="rect">
            <a:avLst/>
          </a:prstGeom>
          <a:noFill/>
          <a:ln/>
        </p:spPr>
        <p:txBody>
          <a:bodyPr wrap="square" lIns="0" tIns="0" rIns="0" bIns="0" rtlCol="0" anchor="ctr"/>
          <a:lstStyle/>
          <a:p>
            <a:pPr indent="0" marL="0">
              <a:buNone/>
            </a:pPr>
            <a:r>
              <a:rPr lang="en-US" sz="1600" b="1" dirty="0">
                <a:solidFill>
                  <a:schemeClr val="tx1"/>
                </a:solidFill>
              </a:rPr>
              <a:t>Wrap-up</a:t>
            </a:r>
            <a:endParaRPr lang="en-US" sz="1600" dirty="0"/>
          </a:p>
        </p:txBody>
      </p:sp>
      <p:sp>
        <p:nvSpPr>
          <p:cNvPr id="46" name="tile-desc-5"/>
          <p:cNvSpPr txBox="1"/>
          <p:nvPr/>
        </p:nvSpPr>
        <p:spPr>
          <a:xfrm>
            <a:off x="3433572" y="3822192"/>
            <a:ext cx="2276856" cy="420624"/>
          </a:xfrm>
          <a:prstGeom prst="rect">
            <a:avLst/>
          </a:prstGeom>
          <a:noFill/>
          <a:ln/>
        </p:spPr>
        <p:txBody>
          <a:bodyPr wrap="square" lIns="0" tIns="0" rIns="0" bIns="0" rtlCol="0" anchor="t"/>
          <a:lstStyle/>
          <a:p>
            <a:pPr indent="0" marL="0">
              <a:buNone/>
            </a:pPr>
            <a:r>
              <a:rPr lang="en-US" sz="1200" dirty="0">
                <a:solidFill>
                  <a:schemeClr val="tx1"/>
                </a:solidFill>
              </a:rPr>
              <a:t>Limitations, conclusions, references</a:t>
            </a:r>
            <a:endParaRPr lang="en-US" sz="1200" dirty="0"/>
          </a:p>
        </p:txBody>
      </p:sp>
      <p:sp>
        <p:nvSpPr>
          <p:cNvPr id="47" name="tile-range-5"/>
          <p:cNvSpPr txBox="1"/>
          <p:nvPr/>
        </p:nvSpPr>
        <p:spPr>
          <a:xfrm>
            <a:off x="3433572" y="4297680"/>
            <a:ext cx="2276856" cy="219456"/>
          </a:xfrm>
          <a:prstGeom prst="rect">
            <a:avLst/>
          </a:prstGeom>
          <a:noFill/>
          <a:ln/>
        </p:spPr>
        <p:txBody>
          <a:bodyPr wrap="square" lIns="0" tIns="0" rIns="0" bIns="0" rtlCol="0" anchor="ctr"/>
          <a:lstStyle/>
          <a:p>
            <a:pPr indent="0" marL="0">
              <a:buNone/>
            </a:pPr>
            <a:r>
              <a:rPr lang="en-US" sz="1100" dirty="0">
                <a:solidFill>
                  <a:srgbClr val="5F6772"/>
                </a:solidFill>
              </a:rPr>
              <a:t>Slides 17–19  →</a:t>
            </a:r>
            <a:endParaRPr lang="en-US" sz="1100" dirty="0"/>
          </a:p>
        </p:txBody>
      </p:sp>
      <p:sp>
        <p:nvSpPr>
          <p:cNvPr id="48" name="tile-link-5">
            <a:hlinkClick r:id="rId12" tooltip="Go to Wrap-up" action="ppaction://hlinksldjump"/>
          </p:cNvPr>
          <p:cNvSpPr/>
          <p:nvPr/>
        </p:nvSpPr>
        <p:spPr>
          <a:xfrm>
            <a:off x="3268980" y="3218688"/>
            <a:ext cx="2606040" cy="1389888"/>
          </a:xfrm>
          <a:prstGeom prst="rect">
            <a:avLst/>
          </a:prstGeom>
          <a:solidFill>
            <a:srgbClr val="FFFFFF">
              <a:alpha val="0"/>
            </a:srgbClr>
          </a:solidFill>
          <a:ln/>
        </p:spPr>
      </p:sp>
      <p:sp>
        <p:nvSpPr>
          <p:cNvPr id="49" name="tile-6"/>
          <p:cNvSpPr/>
          <p:nvPr/>
        </p:nvSpPr>
        <p:spPr>
          <a:xfrm>
            <a:off x="6080760" y="3218688"/>
            <a:ext cx="2606040" cy="1389888"/>
          </a:xfrm>
          <a:prstGeom prst="roundRect">
            <a:avLst>
              <a:gd name="adj" fmla="val 5263"/>
            </a:avLst>
          </a:prstGeom>
          <a:solidFill>
            <a:srgbClr val="F1F3F5"/>
          </a:solidFill>
          <a:ln/>
        </p:spPr>
      </p:sp>
      <p:sp>
        <p:nvSpPr>
          <p:cNvPr id="50" name="tile-num-6"/>
          <p:cNvSpPr txBox="1"/>
          <p:nvPr/>
        </p:nvSpPr>
        <p:spPr>
          <a:xfrm>
            <a:off x="6245352" y="3374136"/>
            <a:ext cx="384048" cy="384048"/>
          </a:xfrm>
          <a:prstGeom prst="ellipse">
            <a:avLst/>
          </a:prstGeom>
          <a:solidFill>
            <a:srgbClr val="F2B705"/>
          </a:solidFill>
          <a:ln/>
        </p:spPr>
        <p:txBody>
          <a:bodyPr wrap="square" lIns="0" tIns="0" rIns="0" bIns="0" rtlCol="0" anchor="ctr"/>
          <a:lstStyle/>
          <a:p>
            <a:pPr algn="ctr" indent="0" marL="0">
              <a:buNone/>
            </a:pPr>
            <a:r>
              <a:rPr lang="en-US" sz="1500" b="1" dirty="0">
                <a:solidFill>
                  <a:schemeClr val="tx1"/>
                </a:solidFill>
              </a:rPr>
              <a:t>+</a:t>
            </a:r>
            <a:endParaRPr lang="en-US" sz="1500" dirty="0"/>
          </a:p>
        </p:txBody>
      </p:sp>
      <p:sp>
        <p:nvSpPr>
          <p:cNvPr id="51" name="tile-title-6"/>
          <p:cNvSpPr txBox="1"/>
          <p:nvPr/>
        </p:nvSpPr>
        <p:spPr>
          <a:xfrm>
            <a:off x="6739128" y="3374136"/>
            <a:ext cx="1783080" cy="384048"/>
          </a:xfrm>
          <a:prstGeom prst="rect">
            <a:avLst/>
          </a:prstGeom>
          <a:noFill/>
          <a:ln/>
        </p:spPr>
        <p:txBody>
          <a:bodyPr wrap="square" lIns="0" tIns="0" rIns="0" bIns="0" rtlCol="0" anchor="ctr"/>
          <a:lstStyle/>
          <a:p>
            <a:pPr indent="0" marL="0">
              <a:buNone/>
            </a:pPr>
            <a:r>
              <a:rPr lang="en-US" sz="1600" b="1" dirty="0">
                <a:solidFill>
                  <a:schemeClr val="tx1"/>
                </a:solidFill>
              </a:rPr>
              <a:t>Deep dives</a:t>
            </a:r>
            <a:endParaRPr lang="en-US" sz="1600" dirty="0"/>
          </a:p>
        </p:txBody>
      </p:sp>
      <p:sp>
        <p:nvSpPr>
          <p:cNvPr id="52" name="tile-range-6"/>
          <p:cNvSpPr txBox="1"/>
          <p:nvPr/>
        </p:nvSpPr>
        <p:spPr>
          <a:xfrm>
            <a:off x="6245352" y="4297680"/>
            <a:ext cx="2276856" cy="219456"/>
          </a:xfrm>
          <a:prstGeom prst="rect">
            <a:avLst/>
          </a:prstGeom>
          <a:noFill/>
          <a:ln/>
        </p:spPr>
        <p:txBody>
          <a:bodyPr wrap="square" lIns="0" tIns="0" rIns="0" bIns="0" rtlCol="0" anchor="ctr"/>
          <a:lstStyle/>
          <a:p>
            <a:pPr indent="0" marL="0">
              <a:buNone/>
            </a:pPr>
            <a:r>
              <a:rPr lang="en-US" sz="1100" dirty="0">
                <a:solidFill>
                  <a:srgbClr val="5F6772"/>
                </a:solidFill>
              </a:rPr>
              <a:t>Appendix A–F  →</a:t>
            </a:r>
            <a:endParaRPr lang="en-US" sz="1100" dirty="0"/>
          </a:p>
        </p:txBody>
      </p:sp>
      <p:sp>
        <p:nvSpPr>
          <p:cNvPr id="53" name="tile-link-6">
            <a:hlinkClick r:id="rId13" tooltip="Go to the appendix" action="ppaction://hlinksldjump"/>
          </p:cNvPr>
          <p:cNvSpPr/>
          <p:nvPr/>
        </p:nvSpPr>
        <p:spPr>
          <a:xfrm>
            <a:off x="6080760" y="3218688"/>
            <a:ext cx="2606040" cy="566928"/>
          </a:xfrm>
          <a:prstGeom prst="rect">
            <a:avLst/>
          </a:prstGeom>
          <a:solidFill>
            <a:srgbClr val="FFFFFF">
              <a:alpha val="0"/>
            </a:srgbClr>
          </a:solidFill>
          <a:ln/>
        </p:spPr>
      </p:sp>
      <p:sp>
        <p:nvSpPr>
          <p:cNvPr id="54" name="app-pill-A"/>
          <p:cNvSpPr txBox="1"/>
          <p:nvPr/>
        </p:nvSpPr>
        <p:spPr>
          <a:xfrm>
            <a:off x="6245352" y="3895344"/>
            <a:ext cx="329184" cy="329184"/>
          </a:xfrm>
          <a:prstGeom prst="roundRect">
            <a:avLst>
              <a:gd name="adj" fmla="val 22222"/>
            </a:avLst>
          </a:prstGeom>
          <a:solidFill>
            <a:srgbClr val="FFFFFF"/>
          </a:solidFill>
          <a:ln w="9525">
            <a:solidFill>
              <a:srgbClr val="D9DDE2"/>
            </a:solidFill>
          </a:ln>
        </p:spPr>
        <p:txBody>
          <a:bodyPr wrap="square" lIns="0" tIns="0" rIns="0" bIns="0" rtlCol="0" anchor="ctr"/>
          <a:lstStyle/>
          <a:p>
            <a:pPr algn="ctr" indent="0" marL="0">
              <a:buNone/>
            </a:pPr>
            <a:r>
              <a:rPr lang="en-US" sz="1200" b="1" dirty="0">
                <a:solidFill>
                  <a:schemeClr val="tx1"/>
                </a:solidFill>
              </a:rPr>
              <a:t>A</a:t>
            </a:r>
            <a:endParaRPr lang="en-US" sz="1200" dirty="0"/>
          </a:p>
        </p:txBody>
      </p:sp>
      <p:sp>
        <p:nvSpPr>
          <p:cNvPr id="55" name="app-link-A">
            <a:hlinkClick r:id="rId14" tooltip="Appendix A: Neural network" action="ppaction://hlinksldjump"/>
          </p:cNvPr>
          <p:cNvSpPr/>
          <p:nvPr/>
        </p:nvSpPr>
        <p:spPr>
          <a:xfrm>
            <a:off x="6245352" y="3895344"/>
            <a:ext cx="329184" cy="329184"/>
          </a:xfrm>
          <a:prstGeom prst="rect">
            <a:avLst/>
          </a:prstGeom>
          <a:solidFill>
            <a:srgbClr val="FFFFFF">
              <a:alpha val="0"/>
            </a:srgbClr>
          </a:solidFill>
          <a:ln/>
        </p:spPr>
      </p:sp>
      <p:sp>
        <p:nvSpPr>
          <p:cNvPr id="56" name="app-pill-B"/>
          <p:cNvSpPr txBox="1"/>
          <p:nvPr/>
        </p:nvSpPr>
        <p:spPr>
          <a:xfrm>
            <a:off x="6629400" y="3895344"/>
            <a:ext cx="329184" cy="329184"/>
          </a:xfrm>
          <a:prstGeom prst="roundRect">
            <a:avLst>
              <a:gd name="adj" fmla="val 22222"/>
            </a:avLst>
          </a:prstGeom>
          <a:solidFill>
            <a:srgbClr val="FFFFFF"/>
          </a:solidFill>
          <a:ln w="9525">
            <a:solidFill>
              <a:srgbClr val="D9DDE2"/>
            </a:solidFill>
          </a:ln>
        </p:spPr>
        <p:txBody>
          <a:bodyPr wrap="square" lIns="0" tIns="0" rIns="0" bIns="0" rtlCol="0" anchor="ctr"/>
          <a:lstStyle/>
          <a:p>
            <a:pPr algn="ctr" indent="0" marL="0">
              <a:buNone/>
            </a:pPr>
            <a:r>
              <a:rPr lang="en-US" sz="1200" b="1" dirty="0">
                <a:solidFill>
                  <a:schemeClr val="tx1"/>
                </a:solidFill>
              </a:rPr>
              <a:t>B</a:t>
            </a:r>
            <a:endParaRPr lang="en-US" sz="1200" dirty="0"/>
          </a:p>
        </p:txBody>
      </p:sp>
      <p:sp>
        <p:nvSpPr>
          <p:cNvPr id="57" name="app-link-B">
            <a:hlinkClick r:id="rId15" tooltip="Appendix B: SVM" action="ppaction://hlinksldjump"/>
          </p:cNvPr>
          <p:cNvSpPr/>
          <p:nvPr/>
        </p:nvSpPr>
        <p:spPr>
          <a:xfrm>
            <a:off x="6629400" y="3895344"/>
            <a:ext cx="329184" cy="329184"/>
          </a:xfrm>
          <a:prstGeom prst="rect">
            <a:avLst/>
          </a:prstGeom>
          <a:solidFill>
            <a:srgbClr val="FFFFFF">
              <a:alpha val="0"/>
            </a:srgbClr>
          </a:solidFill>
          <a:ln/>
        </p:spPr>
      </p:sp>
      <p:sp>
        <p:nvSpPr>
          <p:cNvPr id="58" name="app-pill-C"/>
          <p:cNvSpPr txBox="1"/>
          <p:nvPr/>
        </p:nvSpPr>
        <p:spPr>
          <a:xfrm>
            <a:off x="7013448" y="3895344"/>
            <a:ext cx="329184" cy="329184"/>
          </a:xfrm>
          <a:prstGeom prst="roundRect">
            <a:avLst>
              <a:gd name="adj" fmla="val 22222"/>
            </a:avLst>
          </a:prstGeom>
          <a:solidFill>
            <a:srgbClr val="FFFFFF"/>
          </a:solidFill>
          <a:ln w="9525">
            <a:solidFill>
              <a:srgbClr val="D9DDE2"/>
            </a:solidFill>
          </a:ln>
        </p:spPr>
        <p:txBody>
          <a:bodyPr wrap="square" lIns="0" tIns="0" rIns="0" bIns="0" rtlCol="0" anchor="ctr"/>
          <a:lstStyle/>
          <a:p>
            <a:pPr algn="ctr" indent="0" marL="0">
              <a:buNone/>
            </a:pPr>
            <a:r>
              <a:rPr lang="en-US" sz="1200" b="1" dirty="0">
                <a:solidFill>
                  <a:schemeClr val="tx1"/>
                </a:solidFill>
              </a:rPr>
              <a:t>C</a:t>
            </a:r>
            <a:endParaRPr lang="en-US" sz="1200" dirty="0"/>
          </a:p>
        </p:txBody>
      </p:sp>
      <p:sp>
        <p:nvSpPr>
          <p:cNvPr id="59" name="app-link-C">
            <a:hlinkClick r:id="rId16" tooltip="Appendix C: Random forest" action="ppaction://hlinksldjump"/>
          </p:cNvPr>
          <p:cNvSpPr/>
          <p:nvPr/>
        </p:nvSpPr>
        <p:spPr>
          <a:xfrm>
            <a:off x="7013448" y="3895344"/>
            <a:ext cx="329184" cy="329184"/>
          </a:xfrm>
          <a:prstGeom prst="rect">
            <a:avLst/>
          </a:prstGeom>
          <a:solidFill>
            <a:srgbClr val="FFFFFF">
              <a:alpha val="0"/>
            </a:srgbClr>
          </a:solidFill>
          <a:ln/>
        </p:spPr>
      </p:sp>
      <p:sp>
        <p:nvSpPr>
          <p:cNvPr id="60" name="app-pill-D"/>
          <p:cNvSpPr txBox="1"/>
          <p:nvPr/>
        </p:nvSpPr>
        <p:spPr>
          <a:xfrm>
            <a:off x="7397496" y="3895344"/>
            <a:ext cx="329184" cy="329184"/>
          </a:xfrm>
          <a:prstGeom prst="roundRect">
            <a:avLst>
              <a:gd name="adj" fmla="val 22222"/>
            </a:avLst>
          </a:prstGeom>
          <a:solidFill>
            <a:srgbClr val="FFFFFF"/>
          </a:solidFill>
          <a:ln w="9525">
            <a:solidFill>
              <a:srgbClr val="D9DDE2"/>
            </a:solidFill>
          </a:ln>
        </p:spPr>
        <p:txBody>
          <a:bodyPr wrap="square" lIns="0" tIns="0" rIns="0" bIns="0" rtlCol="0" anchor="ctr"/>
          <a:lstStyle/>
          <a:p>
            <a:pPr algn="ctr" indent="0" marL="0">
              <a:buNone/>
            </a:pPr>
            <a:r>
              <a:rPr lang="en-US" sz="1200" b="1" dirty="0">
                <a:solidFill>
                  <a:schemeClr val="tx1"/>
                </a:solidFill>
              </a:rPr>
              <a:t>D</a:t>
            </a:r>
            <a:endParaRPr lang="en-US" sz="1200" dirty="0"/>
          </a:p>
        </p:txBody>
      </p:sp>
      <p:sp>
        <p:nvSpPr>
          <p:cNvPr id="61" name="app-link-D">
            <a:hlinkClick r:id="rId17" tooltip="Appendix D: Ridge &amp; Lasso" action="ppaction://hlinksldjump"/>
          </p:cNvPr>
          <p:cNvSpPr/>
          <p:nvPr/>
        </p:nvSpPr>
        <p:spPr>
          <a:xfrm>
            <a:off x="7397496" y="3895344"/>
            <a:ext cx="329184" cy="329184"/>
          </a:xfrm>
          <a:prstGeom prst="rect">
            <a:avLst/>
          </a:prstGeom>
          <a:solidFill>
            <a:srgbClr val="FFFFFF">
              <a:alpha val="0"/>
            </a:srgbClr>
          </a:solidFill>
          <a:ln/>
        </p:spPr>
      </p:sp>
      <p:sp>
        <p:nvSpPr>
          <p:cNvPr id="62" name="app-pill-E"/>
          <p:cNvSpPr txBox="1"/>
          <p:nvPr/>
        </p:nvSpPr>
        <p:spPr>
          <a:xfrm>
            <a:off x="7781544" y="3895344"/>
            <a:ext cx="329184" cy="329184"/>
          </a:xfrm>
          <a:prstGeom prst="roundRect">
            <a:avLst>
              <a:gd name="adj" fmla="val 22222"/>
            </a:avLst>
          </a:prstGeom>
          <a:solidFill>
            <a:srgbClr val="FFFFFF"/>
          </a:solidFill>
          <a:ln w="9525">
            <a:solidFill>
              <a:srgbClr val="D9DDE2"/>
            </a:solidFill>
          </a:ln>
        </p:spPr>
        <p:txBody>
          <a:bodyPr wrap="square" lIns="0" tIns="0" rIns="0" bIns="0" rtlCol="0" anchor="ctr"/>
          <a:lstStyle/>
          <a:p>
            <a:pPr algn="ctr" indent="0" marL="0">
              <a:buNone/>
            </a:pPr>
            <a:r>
              <a:rPr lang="en-US" sz="1200" b="1" dirty="0">
                <a:solidFill>
                  <a:schemeClr val="tx1"/>
                </a:solidFill>
              </a:rPr>
              <a:t>E</a:t>
            </a:r>
            <a:endParaRPr lang="en-US" sz="1200" dirty="0"/>
          </a:p>
        </p:txBody>
      </p:sp>
      <p:sp>
        <p:nvSpPr>
          <p:cNvPr id="63" name="app-link-E">
            <a:hlinkClick r:id="rId18" tooltip="Appendix E: Cleaning rules" action="ppaction://hlinksldjump"/>
          </p:cNvPr>
          <p:cNvSpPr/>
          <p:nvPr/>
        </p:nvSpPr>
        <p:spPr>
          <a:xfrm>
            <a:off x="7781544" y="3895344"/>
            <a:ext cx="329184" cy="329184"/>
          </a:xfrm>
          <a:prstGeom prst="rect">
            <a:avLst/>
          </a:prstGeom>
          <a:solidFill>
            <a:srgbClr val="FFFFFF">
              <a:alpha val="0"/>
            </a:srgbClr>
          </a:solidFill>
          <a:ln/>
        </p:spPr>
      </p:sp>
      <p:sp>
        <p:nvSpPr>
          <p:cNvPr id="64" name="app-pill-F"/>
          <p:cNvSpPr txBox="1"/>
          <p:nvPr/>
        </p:nvSpPr>
        <p:spPr>
          <a:xfrm>
            <a:off x="8165592" y="3895344"/>
            <a:ext cx="329184" cy="329184"/>
          </a:xfrm>
          <a:prstGeom prst="roundRect">
            <a:avLst>
              <a:gd name="adj" fmla="val 22222"/>
            </a:avLst>
          </a:prstGeom>
          <a:solidFill>
            <a:srgbClr val="FFFFFF"/>
          </a:solidFill>
          <a:ln w="9525">
            <a:solidFill>
              <a:srgbClr val="D9DDE2"/>
            </a:solidFill>
          </a:ln>
        </p:spPr>
        <p:txBody>
          <a:bodyPr wrap="square" lIns="0" tIns="0" rIns="0" bIns="0" rtlCol="0" anchor="ctr"/>
          <a:lstStyle/>
          <a:p>
            <a:pPr algn="ctr" indent="0" marL="0">
              <a:buNone/>
            </a:pPr>
            <a:r>
              <a:rPr lang="en-US" sz="1200" b="1" dirty="0">
                <a:solidFill>
                  <a:schemeClr val="tx1"/>
                </a:solidFill>
              </a:rPr>
              <a:t>F</a:t>
            </a:r>
            <a:endParaRPr lang="en-US" sz="1200" dirty="0"/>
          </a:p>
        </p:txBody>
      </p:sp>
      <p:sp>
        <p:nvSpPr>
          <p:cNvPr id="65" name="app-link-F">
            <a:hlinkClick r:id="rId19" tooltip="Appendix F: Split options" action="ppaction://hlinksldjump"/>
          </p:cNvPr>
          <p:cNvSpPr/>
          <p:nvPr/>
        </p:nvSpPr>
        <p:spPr>
          <a:xfrm>
            <a:off x="8165592" y="3895344"/>
            <a:ext cx="329184" cy="329184"/>
          </a:xfrm>
          <a:prstGeom prst="rect">
            <a:avLst/>
          </a:prstGeom>
          <a:solidFill>
            <a:srgbClr val="FFFFFF">
              <a:alpha val="0"/>
            </a:srgbClr>
          </a:solidFill>
          <a:ln/>
        </p:spPr>
      </p:sp>
      <p:sp>
        <p:nvSpPr>
          <p:cNvPr id="25" name="Slide Number Placeholder 0"/>
          <p:cNvSpPr>
            <a:spLocks noGrp="1"/>
          </p:cNvSpPr>
          <p:nvPr>
            <p:ph type="sldNum" sz="quarter" idx="4294967295"/>
          </p:nvPr>
        </p:nvSpPr>
        <p:spPr>
          <a:xfrm>
            <a:off x="8275320" y="4754880"/>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77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nav-Agenda"/>
          <p:cNvSpPr txBox="1"/>
          <p:nvPr/>
        </p:nvSpPr>
        <p:spPr>
          <a:xfrm>
            <a:off x="457200" y="118872"/>
            <a:ext cx="713232" cy="256032"/>
          </a:xfrm>
          <a:prstGeom prst="rect">
            <a:avLst/>
          </a:prstGeom>
          <a:noFill/>
          <a:ln/>
        </p:spPr>
        <p:txBody>
          <a:bodyPr wrap="square" lIns="0" tIns="0" rIns="0" bIns="0" rtlCol="0" anchor="ctr"/>
          <a:lstStyle/>
          <a:p>
            <a:pPr algn="ctr" indent="0" marL="0">
              <a:buNone/>
            </a:pPr>
            <a:r>
              <a:rPr lang="en-US" sz="1050" dirty="0">
                <a:solidFill>
                  <a:srgbClr val="5F6772"/>
                </a:solidFill>
              </a:rPr>
              <a:t>Agenda</a:t>
            </a:r>
            <a:endParaRPr lang="en-US" sz="1050" dirty="0"/>
          </a:p>
        </p:txBody>
      </p:sp>
      <p:sp>
        <p:nvSpPr>
          <p:cNvPr id="3" name="nav-link-Agenda">
            <a:hlinkClick r:id="rId1" tooltip="Go to Agenda" action="ppaction://hlinksldjump"/>
          </p:cNvPr>
          <p:cNvSpPr/>
          <p:nvPr/>
        </p:nvSpPr>
        <p:spPr>
          <a:xfrm>
            <a:off x="457200" y="118872"/>
            <a:ext cx="713232" cy="256032"/>
          </a:xfrm>
          <a:prstGeom prst="rect">
            <a:avLst/>
          </a:prstGeom>
          <a:solidFill>
            <a:srgbClr val="FFFFFF">
              <a:alpha val="0"/>
            </a:srgbClr>
          </a:solidFill>
          <a:ln/>
        </p:spPr>
      </p:sp>
      <p:sp>
        <p:nvSpPr>
          <p:cNvPr id="4" name="nav-pill-Question"/>
          <p:cNvSpPr/>
          <p:nvPr/>
        </p:nvSpPr>
        <p:spPr>
          <a:xfrm>
            <a:off x="1225296" y="118872"/>
            <a:ext cx="822960" cy="256032"/>
          </a:xfrm>
          <a:prstGeom prst="roundRect">
            <a:avLst>
              <a:gd name="adj" fmla="val 50000"/>
            </a:avLst>
          </a:prstGeom>
          <a:solidFill>
            <a:srgbClr val="F2B705"/>
          </a:solidFill>
          <a:ln w="6350">
            <a:solidFill>
              <a:srgbClr val="F2B705"/>
            </a:solidFill>
            <a:prstDash val="solid"/>
          </a:ln>
        </p:spPr>
      </p:sp>
      <p:sp>
        <p:nvSpPr>
          <p:cNvPr id="5" name="nav-Question"/>
          <p:cNvSpPr txBox="1"/>
          <p:nvPr/>
        </p:nvSpPr>
        <p:spPr>
          <a:xfrm>
            <a:off x="1225296" y="118872"/>
            <a:ext cx="822960" cy="256032"/>
          </a:xfrm>
          <a:prstGeom prst="rect">
            <a:avLst/>
          </a:prstGeom>
          <a:noFill/>
          <a:ln/>
        </p:spPr>
        <p:txBody>
          <a:bodyPr wrap="square" lIns="0" tIns="0" rIns="0" bIns="0" rtlCol="0" anchor="ctr"/>
          <a:lstStyle/>
          <a:p>
            <a:pPr algn="ctr" indent="0" marL="0">
              <a:buNone/>
            </a:pPr>
            <a:r>
              <a:rPr lang="en-US" sz="1050" b="1" dirty="0">
                <a:solidFill>
                  <a:schemeClr val="tx1"/>
                </a:solidFill>
              </a:rPr>
              <a:t>Question</a:t>
            </a:r>
            <a:endParaRPr lang="en-US" sz="1050" dirty="0"/>
          </a:p>
        </p:txBody>
      </p:sp>
      <p:sp>
        <p:nvSpPr>
          <p:cNvPr id="6" name="nav-link-Question">
            <a:hlinkClick r:id="rId2" tooltip="Go to Question" action="ppaction://hlinksldjump"/>
          </p:cNvPr>
          <p:cNvSpPr/>
          <p:nvPr/>
        </p:nvSpPr>
        <p:spPr>
          <a:xfrm>
            <a:off x="1225296" y="118872"/>
            <a:ext cx="822960" cy="256032"/>
          </a:xfrm>
          <a:prstGeom prst="rect">
            <a:avLst/>
          </a:prstGeom>
          <a:solidFill>
            <a:srgbClr val="FFFFFF">
              <a:alpha val="0"/>
            </a:srgbClr>
          </a:solidFill>
          <a:ln/>
        </p:spPr>
      </p:sp>
      <p:sp>
        <p:nvSpPr>
          <p:cNvPr id="7" name="nav-Data"/>
          <p:cNvSpPr txBox="1"/>
          <p:nvPr/>
        </p:nvSpPr>
        <p:spPr>
          <a:xfrm>
            <a:off x="2103120" y="118872"/>
            <a:ext cx="566928" cy="256032"/>
          </a:xfrm>
          <a:prstGeom prst="rect">
            <a:avLst/>
          </a:prstGeom>
          <a:noFill/>
          <a:ln/>
        </p:spPr>
        <p:txBody>
          <a:bodyPr wrap="square" lIns="0" tIns="0" rIns="0" bIns="0" rtlCol="0" anchor="ctr"/>
          <a:lstStyle/>
          <a:p>
            <a:pPr algn="ctr" indent="0" marL="0">
              <a:buNone/>
            </a:pPr>
            <a:r>
              <a:rPr lang="en-US" sz="1050" dirty="0">
                <a:solidFill>
                  <a:srgbClr val="5F6772"/>
                </a:solidFill>
              </a:rPr>
              <a:t>Data</a:t>
            </a:r>
            <a:endParaRPr lang="en-US" sz="1050" dirty="0"/>
          </a:p>
        </p:txBody>
      </p:sp>
      <p:sp>
        <p:nvSpPr>
          <p:cNvPr id="8" name="nav-link-Data">
            <a:hlinkClick r:id="rId3" tooltip="Go to Data" action="ppaction://hlinksldjump"/>
          </p:cNvPr>
          <p:cNvSpPr/>
          <p:nvPr/>
        </p:nvSpPr>
        <p:spPr>
          <a:xfrm>
            <a:off x="2103120" y="118872"/>
            <a:ext cx="566928" cy="256032"/>
          </a:xfrm>
          <a:prstGeom prst="rect">
            <a:avLst/>
          </a:prstGeom>
          <a:solidFill>
            <a:srgbClr val="FFFFFF">
              <a:alpha val="0"/>
            </a:srgbClr>
          </a:solidFill>
          <a:ln/>
        </p:spPr>
      </p:sp>
      <p:sp>
        <p:nvSpPr>
          <p:cNvPr id="9" name="nav-Method"/>
          <p:cNvSpPr txBox="1"/>
          <p:nvPr/>
        </p:nvSpPr>
        <p:spPr>
          <a:xfrm>
            <a:off x="2724912" y="118872"/>
            <a:ext cx="713232" cy="256032"/>
          </a:xfrm>
          <a:prstGeom prst="rect">
            <a:avLst/>
          </a:prstGeom>
          <a:noFill/>
          <a:ln/>
        </p:spPr>
        <p:txBody>
          <a:bodyPr wrap="square" lIns="0" tIns="0" rIns="0" bIns="0" rtlCol="0" anchor="ctr"/>
          <a:lstStyle/>
          <a:p>
            <a:pPr algn="ctr" indent="0" marL="0">
              <a:buNone/>
            </a:pPr>
            <a:r>
              <a:rPr lang="en-US" sz="1050" dirty="0">
                <a:solidFill>
                  <a:srgbClr val="5F6772"/>
                </a:solidFill>
              </a:rPr>
              <a:t>Method</a:t>
            </a:r>
            <a:endParaRPr lang="en-US" sz="1050" dirty="0"/>
          </a:p>
        </p:txBody>
      </p:sp>
      <p:sp>
        <p:nvSpPr>
          <p:cNvPr id="10" name="nav-link-Method">
            <a:hlinkClick r:id="rId4" tooltip="Go to Method" action="ppaction://hlinksldjump"/>
          </p:cNvPr>
          <p:cNvSpPr/>
          <p:nvPr/>
        </p:nvSpPr>
        <p:spPr>
          <a:xfrm>
            <a:off x="2724912" y="118872"/>
            <a:ext cx="713232" cy="256032"/>
          </a:xfrm>
          <a:prstGeom prst="rect">
            <a:avLst/>
          </a:prstGeom>
          <a:solidFill>
            <a:srgbClr val="FFFFFF">
              <a:alpha val="0"/>
            </a:srgbClr>
          </a:solidFill>
          <a:ln/>
        </p:spPr>
      </p:sp>
      <p:sp>
        <p:nvSpPr>
          <p:cNvPr id="11" name="nav-Results"/>
          <p:cNvSpPr txBox="1"/>
          <p:nvPr/>
        </p:nvSpPr>
        <p:spPr>
          <a:xfrm>
            <a:off x="3493008" y="118872"/>
            <a:ext cx="731520" cy="256032"/>
          </a:xfrm>
          <a:prstGeom prst="rect">
            <a:avLst/>
          </a:prstGeom>
          <a:noFill/>
          <a:ln/>
        </p:spPr>
        <p:txBody>
          <a:bodyPr wrap="square" lIns="0" tIns="0" rIns="0" bIns="0" rtlCol="0" anchor="ctr"/>
          <a:lstStyle/>
          <a:p>
            <a:pPr algn="ctr" indent="0" marL="0">
              <a:buNone/>
            </a:pPr>
            <a:r>
              <a:rPr lang="en-US" sz="1050" dirty="0">
                <a:solidFill>
                  <a:srgbClr val="5F6772"/>
                </a:solidFill>
              </a:rPr>
              <a:t>Results</a:t>
            </a:r>
            <a:endParaRPr lang="en-US" sz="1050" dirty="0"/>
          </a:p>
        </p:txBody>
      </p:sp>
      <p:sp>
        <p:nvSpPr>
          <p:cNvPr id="12" name="nav-link-Results">
            <a:hlinkClick r:id="rId5" tooltip="Go to Results" action="ppaction://hlinksldjump"/>
          </p:cNvPr>
          <p:cNvSpPr/>
          <p:nvPr/>
        </p:nvSpPr>
        <p:spPr>
          <a:xfrm>
            <a:off x="3493008" y="118872"/>
            <a:ext cx="731520" cy="256032"/>
          </a:xfrm>
          <a:prstGeom prst="rect">
            <a:avLst/>
          </a:prstGeom>
          <a:solidFill>
            <a:srgbClr val="FFFFFF">
              <a:alpha val="0"/>
            </a:srgbClr>
          </a:solidFill>
          <a:ln/>
        </p:spPr>
      </p:sp>
      <p:sp>
        <p:nvSpPr>
          <p:cNvPr id="13" name="nav-Wrap-up"/>
          <p:cNvSpPr txBox="1"/>
          <p:nvPr/>
        </p:nvSpPr>
        <p:spPr>
          <a:xfrm>
            <a:off x="4279392" y="118872"/>
            <a:ext cx="786384" cy="256032"/>
          </a:xfrm>
          <a:prstGeom prst="rect">
            <a:avLst/>
          </a:prstGeom>
          <a:noFill/>
          <a:ln/>
        </p:spPr>
        <p:txBody>
          <a:bodyPr wrap="square" lIns="0" tIns="0" rIns="0" bIns="0" rtlCol="0" anchor="ctr"/>
          <a:lstStyle/>
          <a:p>
            <a:pPr algn="ctr" indent="0" marL="0">
              <a:buNone/>
            </a:pPr>
            <a:r>
              <a:rPr lang="en-US" sz="1050" dirty="0">
                <a:solidFill>
                  <a:srgbClr val="5F6772"/>
                </a:solidFill>
              </a:rPr>
              <a:t>Wrap-up</a:t>
            </a:r>
            <a:endParaRPr lang="en-US" sz="1050" dirty="0"/>
          </a:p>
        </p:txBody>
      </p:sp>
      <p:sp>
        <p:nvSpPr>
          <p:cNvPr id="14" name="nav-link-Wrap-up">
            <a:hlinkClick r:id="rId6" tooltip="Go to Wrap-up" action="ppaction://hlinksldjump"/>
          </p:cNvPr>
          <p:cNvSpPr/>
          <p:nvPr/>
        </p:nvSpPr>
        <p:spPr>
          <a:xfrm>
            <a:off x="4279392" y="118872"/>
            <a:ext cx="786384" cy="256032"/>
          </a:xfrm>
          <a:prstGeom prst="rect">
            <a:avLst/>
          </a:prstGeom>
          <a:solidFill>
            <a:srgbClr val="FFFFFF">
              <a:alpha val="0"/>
            </a:srgbClr>
          </a:solidFill>
          <a:ln/>
        </p:spPr>
      </p:sp>
      <p:sp>
        <p:nvSpPr>
          <p:cNvPr id="15" name="nav-Appendix"/>
          <p:cNvSpPr txBox="1"/>
          <p:nvPr/>
        </p:nvSpPr>
        <p:spPr>
          <a:xfrm>
            <a:off x="5120640" y="118872"/>
            <a:ext cx="859536" cy="256032"/>
          </a:xfrm>
          <a:prstGeom prst="rect">
            <a:avLst/>
          </a:prstGeom>
          <a:noFill/>
          <a:ln/>
        </p:spPr>
        <p:txBody>
          <a:bodyPr wrap="square" lIns="0" tIns="0" rIns="0" bIns="0" rtlCol="0" anchor="ctr"/>
          <a:lstStyle/>
          <a:p>
            <a:pPr algn="ctr" indent="0" marL="0">
              <a:buNone/>
            </a:pPr>
            <a:r>
              <a:rPr lang="en-US" sz="1050" dirty="0">
                <a:solidFill>
                  <a:srgbClr val="5F6772"/>
                </a:solidFill>
              </a:rPr>
              <a:t>Appendix</a:t>
            </a:r>
            <a:endParaRPr lang="en-US" sz="1050" dirty="0"/>
          </a:p>
        </p:txBody>
      </p:sp>
      <p:sp>
        <p:nvSpPr>
          <p:cNvPr id="16" name="nav-link-Appendix">
            <a:hlinkClick r:id="rId7" tooltip="Go to Appendix" action="ppaction://hlinksldjump"/>
          </p:cNvPr>
          <p:cNvSpPr/>
          <p:nvPr/>
        </p:nvSpPr>
        <p:spPr>
          <a:xfrm>
            <a:off x="5120640" y="118872"/>
            <a:ext cx="859536" cy="256032"/>
          </a:xfrm>
          <a:prstGeom prst="rect">
            <a:avLst/>
          </a:prstGeom>
          <a:solidFill>
            <a:srgbClr val="FFFFFF">
              <a:alpha val="0"/>
            </a:srgbClr>
          </a:solidFill>
          <a:ln/>
        </p:spPr>
      </p:sp>
      <p:sp>
        <p:nvSpPr>
          <p:cNvPr id="17" name="Text 0"/>
          <p:cNvSpPr/>
          <p:nvPr>
            <p:ph idx="100" type="title" hasCustomPrompt="1"/>
          </p:nvPr>
        </p:nvSpPr>
        <p:spPr>
          <a:xfrm>
            <a:off x="457200" y="475488"/>
            <a:ext cx="8229600" cy="777240"/>
          </a:xfrm>
          <a:prstGeom prst="rect">
            <a:avLst/>
          </a:prstGeom>
          <a:noFill/>
          <a:ln/>
        </p:spPr>
        <p:txBody>
          <a:bodyPr wrap="square" lIns="0" tIns="0" rIns="0" bIns="0" rtlCol="0" anchor="t"/>
          <a:lstStyle/>
          <a:p>
            <a:pPr algn="l" indent="0" marL="0">
              <a:buNone/>
            </a:pPr>
            <a:r>
              <a:rPr lang="en-US" sz="2200" b="1" dirty="0">
                <a:solidFill>
                  <a:schemeClr val="tx1"/>
                </a:solidFill>
              </a:rPr>
              <a:t>New York's yellow taxis made 218 million metered trips in 2019–2023, and the meter follows rules a model can learn</a:t>
            </a:r>
            <a:endParaRPr lang="en-US" sz="2200" dirty="0"/>
          </a:p>
        </p:txBody>
      </p:sp>
      <p:sp>
        <p:nvSpPr>
          <p:cNvPr id="18" name="stat-card-1"/>
          <p:cNvSpPr/>
          <p:nvPr/>
        </p:nvSpPr>
        <p:spPr>
          <a:xfrm>
            <a:off x="457200" y="1463040"/>
            <a:ext cx="1920240" cy="1325880"/>
          </a:xfrm>
          <a:prstGeom prst="roundRect">
            <a:avLst>
              <a:gd name="adj" fmla="val 5517"/>
            </a:avLst>
          </a:prstGeom>
          <a:solidFill>
            <a:srgbClr val="F2B705"/>
          </a:solidFill>
          <a:ln/>
        </p:spPr>
      </p:sp>
      <p:sp>
        <p:nvSpPr>
          <p:cNvPr id="19" name="stat-num-1"/>
          <p:cNvSpPr txBox="1"/>
          <p:nvPr/>
        </p:nvSpPr>
        <p:spPr>
          <a:xfrm>
            <a:off x="621792" y="1572768"/>
            <a:ext cx="1591056" cy="640080"/>
          </a:xfrm>
          <a:prstGeom prst="rect">
            <a:avLst/>
          </a:prstGeom>
          <a:noFill/>
          <a:ln/>
        </p:spPr>
        <p:txBody>
          <a:bodyPr wrap="square" lIns="0" tIns="0" rIns="0" bIns="0" rtlCol="0" anchor="ctr"/>
          <a:lstStyle/>
          <a:p>
            <a:pPr indent="0" marL="0">
              <a:buNone/>
            </a:pPr>
            <a:r>
              <a:rPr lang="en-US" sz="3200" b="1" dirty="0">
                <a:solidFill>
                  <a:schemeClr val="tx1"/>
                </a:solidFill>
              </a:rPr>
              <a:t>218 M</a:t>
            </a:r>
            <a:endParaRPr lang="en-US" sz="3200" dirty="0"/>
          </a:p>
        </p:txBody>
      </p:sp>
      <p:sp>
        <p:nvSpPr>
          <p:cNvPr id="20" name="stat-label-1"/>
          <p:cNvSpPr txBox="1"/>
          <p:nvPr/>
        </p:nvSpPr>
        <p:spPr>
          <a:xfrm>
            <a:off x="621792" y="2212848"/>
            <a:ext cx="1591056" cy="457200"/>
          </a:xfrm>
          <a:prstGeom prst="rect">
            <a:avLst/>
          </a:prstGeom>
          <a:noFill/>
          <a:ln/>
        </p:spPr>
        <p:txBody>
          <a:bodyPr wrap="square" lIns="0" tIns="0" rIns="0" bIns="0" rtlCol="0" anchor="t"/>
          <a:lstStyle/>
          <a:p>
            <a:pPr indent="0" marL="0">
              <a:buNone/>
            </a:pPr>
            <a:r>
              <a:rPr lang="en-US" sz="1250" dirty="0">
                <a:solidFill>
                  <a:schemeClr val="tx1"/>
                </a:solidFill>
              </a:rPr>
              <a:t>trips, January 2019 – December 2023</a:t>
            </a:r>
            <a:endParaRPr lang="en-US" sz="1250" dirty="0"/>
          </a:p>
        </p:txBody>
      </p:sp>
      <p:sp>
        <p:nvSpPr>
          <p:cNvPr id="21" name="stat-card-2"/>
          <p:cNvSpPr/>
          <p:nvPr/>
        </p:nvSpPr>
        <p:spPr>
          <a:xfrm>
            <a:off x="2560320" y="1463040"/>
            <a:ext cx="1920240" cy="1325880"/>
          </a:xfrm>
          <a:prstGeom prst="roundRect">
            <a:avLst>
              <a:gd name="adj" fmla="val 5517"/>
            </a:avLst>
          </a:prstGeom>
          <a:solidFill>
            <a:srgbClr val="F1F3F5"/>
          </a:solidFill>
          <a:ln/>
        </p:spPr>
      </p:sp>
      <p:sp>
        <p:nvSpPr>
          <p:cNvPr id="22" name="stat-num-2"/>
          <p:cNvSpPr txBox="1"/>
          <p:nvPr/>
        </p:nvSpPr>
        <p:spPr>
          <a:xfrm>
            <a:off x="2724912" y="1572768"/>
            <a:ext cx="1591056" cy="640080"/>
          </a:xfrm>
          <a:prstGeom prst="rect">
            <a:avLst/>
          </a:prstGeom>
          <a:noFill/>
          <a:ln/>
        </p:spPr>
        <p:txBody>
          <a:bodyPr wrap="square" lIns="0" tIns="0" rIns="0" bIns="0" rtlCol="0" anchor="ctr"/>
          <a:lstStyle/>
          <a:p>
            <a:pPr indent="0" marL="0">
              <a:buNone/>
            </a:pPr>
            <a:r>
              <a:rPr lang="en-US" sz="3200" b="1" dirty="0">
                <a:solidFill>
                  <a:schemeClr val="tx1"/>
                </a:solidFill>
              </a:rPr>
              <a:t>59</a:t>
            </a:r>
            <a:endParaRPr lang="en-US" sz="3200" dirty="0"/>
          </a:p>
        </p:txBody>
      </p:sp>
      <p:sp>
        <p:nvSpPr>
          <p:cNvPr id="23" name="stat-label-2"/>
          <p:cNvSpPr txBox="1"/>
          <p:nvPr/>
        </p:nvSpPr>
        <p:spPr>
          <a:xfrm>
            <a:off x="2724912" y="2212848"/>
            <a:ext cx="1591056" cy="457200"/>
          </a:xfrm>
          <a:prstGeom prst="rect">
            <a:avLst/>
          </a:prstGeom>
          <a:noFill/>
          <a:ln/>
        </p:spPr>
        <p:txBody>
          <a:bodyPr wrap="square" lIns="0" tIns="0" rIns="0" bIns="0" rtlCol="0" anchor="t"/>
          <a:lstStyle/>
          <a:p>
            <a:pPr indent="0" marL="0">
              <a:buNone/>
            </a:pPr>
            <a:r>
              <a:rPr lang="en-US" sz="1250" dirty="0">
                <a:solidFill>
                  <a:schemeClr val="tx1"/>
                </a:solidFill>
              </a:rPr>
              <a:t>monthly Parquet files, 3.3 GB</a:t>
            </a:r>
            <a:endParaRPr lang="en-US" sz="1250" dirty="0"/>
          </a:p>
        </p:txBody>
      </p:sp>
      <p:sp>
        <p:nvSpPr>
          <p:cNvPr id="24" name="stat-card-3"/>
          <p:cNvSpPr/>
          <p:nvPr/>
        </p:nvSpPr>
        <p:spPr>
          <a:xfrm>
            <a:off x="4663440" y="1463040"/>
            <a:ext cx="1920240" cy="1325880"/>
          </a:xfrm>
          <a:prstGeom prst="roundRect">
            <a:avLst>
              <a:gd name="adj" fmla="val 5517"/>
            </a:avLst>
          </a:prstGeom>
          <a:solidFill>
            <a:srgbClr val="F1F3F5"/>
          </a:solidFill>
          <a:ln/>
        </p:spPr>
      </p:sp>
      <p:sp>
        <p:nvSpPr>
          <p:cNvPr id="25" name="stat-num-3"/>
          <p:cNvSpPr txBox="1"/>
          <p:nvPr/>
        </p:nvSpPr>
        <p:spPr>
          <a:xfrm>
            <a:off x="4828032" y="1572768"/>
            <a:ext cx="1591056" cy="640080"/>
          </a:xfrm>
          <a:prstGeom prst="rect">
            <a:avLst/>
          </a:prstGeom>
          <a:noFill/>
          <a:ln/>
        </p:spPr>
        <p:txBody>
          <a:bodyPr wrap="square" lIns="0" tIns="0" rIns="0" bIns="0" rtlCol="0" anchor="ctr"/>
          <a:lstStyle/>
          <a:p>
            <a:pPr indent="0" marL="0">
              <a:buNone/>
            </a:pPr>
            <a:r>
              <a:rPr lang="en-US" sz="3200" b="1" dirty="0">
                <a:solidFill>
                  <a:schemeClr val="tx1"/>
                </a:solidFill>
              </a:rPr>
              <a:t>3</a:t>
            </a:r>
            <a:endParaRPr lang="en-US" sz="3200" dirty="0"/>
          </a:p>
        </p:txBody>
      </p:sp>
      <p:sp>
        <p:nvSpPr>
          <p:cNvPr id="26" name="stat-label-3"/>
          <p:cNvSpPr txBox="1"/>
          <p:nvPr/>
        </p:nvSpPr>
        <p:spPr>
          <a:xfrm>
            <a:off x="4828032" y="2212848"/>
            <a:ext cx="1591056" cy="457200"/>
          </a:xfrm>
          <a:prstGeom prst="rect">
            <a:avLst/>
          </a:prstGeom>
          <a:noFill/>
          <a:ln/>
        </p:spPr>
        <p:txBody>
          <a:bodyPr wrap="square" lIns="0" tIns="0" rIns="0" bIns="0" rtlCol="0" anchor="t"/>
          <a:lstStyle/>
          <a:p>
            <a:pPr indent="0" marL="0">
              <a:buNone/>
            </a:pPr>
            <a:r>
              <a:rPr lang="en-US" sz="1250" dirty="0">
                <a:solidFill>
                  <a:schemeClr val="tx1"/>
                </a:solidFill>
              </a:rPr>
              <a:t>file schemas to reconcile</a:t>
            </a:r>
            <a:endParaRPr lang="en-US" sz="1250" dirty="0"/>
          </a:p>
        </p:txBody>
      </p:sp>
      <p:sp>
        <p:nvSpPr>
          <p:cNvPr id="27" name="stat-card-4"/>
          <p:cNvSpPr/>
          <p:nvPr/>
        </p:nvSpPr>
        <p:spPr>
          <a:xfrm>
            <a:off x="6766560" y="1463040"/>
            <a:ext cx="1920240" cy="1325880"/>
          </a:xfrm>
          <a:prstGeom prst="roundRect">
            <a:avLst>
              <a:gd name="adj" fmla="val 5517"/>
            </a:avLst>
          </a:prstGeom>
          <a:solidFill>
            <a:srgbClr val="F1F3F5"/>
          </a:solidFill>
          <a:ln/>
        </p:spPr>
      </p:sp>
      <p:sp>
        <p:nvSpPr>
          <p:cNvPr id="28" name="stat-num-4"/>
          <p:cNvSpPr txBox="1"/>
          <p:nvPr/>
        </p:nvSpPr>
        <p:spPr>
          <a:xfrm>
            <a:off x="6931152" y="1572768"/>
            <a:ext cx="1591056" cy="640080"/>
          </a:xfrm>
          <a:prstGeom prst="rect">
            <a:avLst/>
          </a:prstGeom>
          <a:noFill/>
          <a:ln/>
        </p:spPr>
        <p:txBody>
          <a:bodyPr wrap="square" lIns="0" tIns="0" rIns="0" bIns="0" rtlCol="0" anchor="ctr"/>
          <a:lstStyle/>
          <a:p>
            <a:pPr indent="0" marL="0">
              <a:buNone/>
            </a:pPr>
            <a:r>
              <a:rPr lang="en-US" sz="3200" b="1" dirty="0">
                <a:solidFill>
                  <a:schemeClr val="tx1"/>
                </a:solidFill>
              </a:rPr>
              <a:t>$13.50</a:t>
            </a:r>
            <a:endParaRPr lang="en-US" sz="3200" dirty="0"/>
          </a:p>
        </p:txBody>
      </p:sp>
      <p:sp>
        <p:nvSpPr>
          <p:cNvPr id="29" name="stat-label-4"/>
          <p:cNvSpPr txBox="1"/>
          <p:nvPr/>
        </p:nvSpPr>
        <p:spPr>
          <a:xfrm>
            <a:off x="6931152" y="2212848"/>
            <a:ext cx="1591056" cy="457200"/>
          </a:xfrm>
          <a:prstGeom prst="rect">
            <a:avLst/>
          </a:prstGeom>
          <a:noFill/>
          <a:ln/>
        </p:spPr>
        <p:txBody>
          <a:bodyPr wrap="square" lIns="0" tIns="0" rIns="0" bIns="0" rtlCol="0" anchor="t"/>
          <a:lstStyle/>
          <a:p>
            <a:pPr indent="0" marL="0">
              <a:buNone/>
            </a:pPr>
            <a:r>
              <a:rPr lang="en-US" sz="1250" dirty="0">
                <a:solidFill>
                  <a:schemeClr val="tx1"/>
                </a:solidFill>
              </a:rPr>
              <a:t>median fare in 2023</a:t>
            </a:r>
            <a:endParaRPr lang="en-US" sz="1250" dirty="0"/>
          </a:p>
        </p:txBody>
      </p:sp>
      <p:sp>
        <p:nvSpPr>
          <p:cNvPr id="30" name="formula-header"/>
          <p:cNvSpPr txBox="1"/>
          <p:nvPr/>
        </p:nvSpPr>
        <p:spPr>
          <a:xfrm>
            <a:off x="457200" y="3017520"/>
            <a:ext cx="8229600" cy="292608"/>
          </a:xfrm>
          <a:prstGeom prst="rect">
            <a:avLst/>
          </a:prstGeom>
          <a:noFill/>
          <a:ln/>
        </p:spPr>
        <p:txBody>
          <a:bodyPr wrap="square" lIns="0" tIns="0" rIns="0" bIns="0" rtlCol="0" anchor="ctr"/>
          <a:lstStyle/>
          <a:p>
            <a:pPr indent="0" marL="0">
              <a:buNone/>
            </a:pPr>
            <a:r>
              <a:rPr lang="en-US" sz="1500" b="1" dirty="0">
                <a:solidFill>
                  <a:schemeClr val="tx1"/>
                </a:solidFill>
              </a:rPr>
              <a:t>How the meter sets a standard fare since 19 December 2022 (earlier rates in brackets)</a:t>
            </a:r>
            <a:endParaRPr lang="en-US" sz="1500" dirty="0"/>
          </a:p>
        </p:txBody>
      </p:sp>
      <p:sp>
        <p:nvSpPr>
          <p:cNvPr id="31" name="formula-part-1"/>
          <p:cNvSpPr/>
          <p:nvPr/>
        </p:nvSpPr>
        <p:spPr>
          <a:xfrm>
            <a:off x="457200" y="3401568"/>
            <a:ext cx="1920240" cy="1097280"/>
          </a:xfrm>
          <a:prstGeom prst="roundRect">
            <a:avLst>
              <a:gd name="adj" fmla="val 6667"/>
            </a:avLst>
          </a:prstGeom>
          <a:solidFill>
            <a:srgbClr val="F1F3F5"/>
          </a:solidFill>
          <a:ln/>
        </p:spPr>
      </p:sp>
      <p:sp>
        <p:nvSpPr>
          <p:cNvPr id="32" name="formula-val-1"/>
          <p:cNvSpPr txBox="1"/>
          <p:nvPr/>
        </p:nvSpPr>
        <p:spPr>
          <a:xfrm>
            <a:off x="621792" y="3493008"/>
            <a:ext cx="1591056" cy="457200"/>
          </a:xfrm>
          <a:prstGeom prst="rect">
            <a:avLst/>
          </a:prstGeom>
          <a:noFill/>
          <a:ln/>
        </p:spPr>
        <p:txBody>
          <a:bodyPr wrap="square" lIns="0" tIns="0" rIns="0" bIns="0" rtlCol="0" anchor="ctr"/>
          <a:lstStyle/>
          <a:p>
            <a:pPr indent="0" marL="0">
              <a:buNone/>
            </a:pPr>
            <a:r>
              <a:rPr lang="en-US" sz="2200" b="1" dirty="0">
                <a:solidFill>
                  <a:schemeClr val="tx1"/>
                </a:solidFill>
              </a:rPr>
              <a:t>$3.00</a:t>
            </a:r>
            <a:endParaRPr lang="en-US" sz="2200" dirty="0"/>
          </a:p>
        </p:txBody>
      </p:sp>
      <p:sp>
        <p:nvSpPr>
          <p:cNvPr id="33" name="formula-desc-1"/>
          <p:cNvSpPr txBox="1"/>
          <p:nvPr/>
        </p:nvSpPr>
        <p:spPr>
          <a:xfrm>
            <a:off x="621792" y="3950208"/>
            <a:ext cx="1591056" cy="502920"/>
          </a:xfrm>
          <a:prstGeom prst="rect">
            <a:avLst/>
          </a:prstGeom>
          <a:noFill/>
          <a:ln/>
        </p:spPr>
        <p:txBody>
          <a:bodyPr wrap="square" lIns="0" tIns="0" rIns="0" bIns="0" rtlCol="0" anchor="t"/>
          <a:lstStyle/>
          <a:p>
            <a:pPr indent="0" marL="0">
              <a:buNone/>
            </a:pPr>
            <a:r>
              <a:rPr lang="en-US" sz="1200" dirty="0">
                <a:solidFill>
                  <a:schemeClr val="tx1"/>
                </a:solidFill>
              </a:rPr>
              <a:t>on entry ($2.50)</a:t>
            </a:r>
            <a:endParaRPr lang="en-US" sz="1200" dirty="0"/>
          </a:p>
        </p:txBody>
      </p:sp>
      <p:sp>
        <p:nvSpPr>
          <p:cNvPr id="34" name="formula-part-2"/>
          <p:cNvSpPr/>
          <p:nvPr/>
        </p:nvSpPr>
        <p:spPr>
          <a:xfrm>
            <a:off x="2560320" y="3401568"/>
            <a:ext cx="1920240" cy="1097280"/>
          </a:xfrm>
          <a:prstGeom prst="roundRect">
            <a:avLst>
              <a:gd name="adj" fmla="val 6667"/>
            </a:avLst>
          </a:prstGeom>
          <a:solidFill>
            <a:srgbClr val="F1F3F5"/>
          </a:solidFill>
          <a:ln/>
        </p:spPr>
      </p:sp>
      <p:sp>
        <p:nvSpPr>
          <p:cNvPr id="35" name="formula-val-2"/>
          <p:cNvSpPr txBox="1"/>
          <p:nvPr/>
        </p:nvSpPr>
        <p:spPr>
          <a:xfrm>
            <a:off x="2724912" y="3493008"/>
            <a:ext cx="1591056" cy="457200"/>
          </a:xfrm>
          <a:prstGeom prst="rect">
            <a:avLst/>
          </a:prstGeom>
          <a:noFill/>
          <a:ln/>
        </p:spPr>
        <p:txBody>
          <a:bodyPr wrap="square" lIns="0" tIns="0" rIns="0" bIns="0" rtlCol="0" anchor="ctr"/>
          <a:lstStyle/>
          <a:p>
            <a:pPr indent="0" marL="0">
              <a:buNone/>
            </a:pPr>
            <a:r>
              <a:rPr lang="en-US" sz="2200" b="1" dirty="0">
                <a:solidFill>
                  <a:schemeClr val="tx1"/>
                </a:solidFill>
              </a:rPr>
              <a:t>+ $3.50</a:t>
            </a:r>
            <a:endParaRPr lang="en-US" sz="2200" dirty="0"/>
          </a:p>
        </p:txBody>
      </p:sp>
      <p:sp>
        <p:nvSpPr>
          <p:cNvPr id="36" name="formula-desc-2"/>
          <p:cNvSpPr txBox="1"/>
          <p:nvPr/>
        </p:nvSpPr>
        <p:spPr>
          <a:xfrm>
            <a:off x="2724912" y="3950208"/>
            <a:ext cx="1591056" cy="502920"/>
          </a:xfrm>
          <a:prstGeom prst="rect">
            <a:avLst/>
          </a:prstGeom>
          <a:noFill/>
          <a:ln/>
        </p:spPr>
        <p:txBody>
          <a:bodyPr wrap="square" lIns="0" tIns="0" rIns="0" bIns="0" rtlCol="0" anchor="t"/>
          <a:lstStyle/>
          <a:p>
            <a:pPr indent="0" marL="0">
              <a:buNone/>
            </a:pPr>
            <a:r>
              <a:rPr lang="en-US" sz="1200" dirty="0">
                <a:solidFill>
                  <a:schemeClr val="tx1"/>
                </a:solidFill>
              </a:rPr>
              <a:t>per mile: 70¢ per fifth of a mile ($2.50)</a:t>
            </a:r>
            <a:endParaRPr lang="en-US" sz="1200" dirty="0"/>
          </a:p>
        </p:txBody>
      </p:sp>
      <p:sp>
        <p:nvSpPr>
          <p:cNvPr id="37" name="formula-part-3"/>
          <p:cNvSpPr/>
          <p:nvPr/>
        </p:nvSpPr>
        <p:spPr>
          <a:xfrm>
            <a:off x="4663440" y="3401568"/>
            <a:ext cx="1920240" cy="1097280"/>
          </a:xfrm>
          <a:prstGeom prst="roundRect">
            <a:avLst>
              <a:gd name="adj" fmla="val 6667"/>
            </a:avLst>
          </a:prstGeom>
          <a:solidFill>
            <a:srgbClr val="F1F3F5"/>
          </a:solidFill>
          <a:ln/>
        </p:spPr>
      </p:sp>
      <p:sp>
        <p:nvSpPr>
          <p:cNvPr id="38" name="formula-val-3"/>
          <p:cNvSpPr txBox="1"/>
          <p:nvPr/>
        </p:nvSpPr>
        <p:spPr>
          <a:xfrm>
            <a:off x="4828032" y="3493008"/>
            <a:ext cx="1591056" cy="457200"/>
          </a:xfrm>
          <a:prstGeom prst="rect">
            <a:avLst/>
          </a:prstGeom>
          <a:noFill/>
          <a:ln/>
        </p:spPr>
        <p:txBody>
          <a:bodyPr wrap="square" lIns="0" tIns="0" rIns="0" bIns="0" rtlCol="0" anchor="ctr"/>
          <a:lstStyle/>
          <a:p>
            <a:pPr indent="0" marL="0">
              <a:buNone/>
            </a:pPr>
            <a:r>
              <a:rPr lang="en-US" sz="2200" b="1" dirty="0">
                <a:solidFill>
                  <a:schemeClr val="tx1"/>
                </a:solidFill>
              </a:rPr>
              <a:t>+ $0.70</a:t>
            </a:r>
            <a:endParaRPr lang="en-US" sz="2200" dirty="0"/>
          </a:p>
        </p:txBody>
      </p:sp>
      <p:sp>
        <p:nvSpPr>
          <p:cNvPr id="39" name="formula-desc-3"/>
          <p:cNvSpPr txBox="1"/>
          <p:nvPr/>
        </p:nvSpPr>
        <p:spPr>
          <a:xfrm>
            <a:off x="4828032" y="3950208"/>
            <a:ext cx="1591056" cy="502920"/>
          </a:xfrm>
          <a:prstGeom prst="rect">
            <a:avLst/>
          </a:prstGeom>
          <a:noFill/>
          <a:ln/>
        </p:spPr>
        <p:txBody>
          <a:bodyPr wrap="square" lIns="0" tIns="0" rIns="0" bIns="0" rtlCol="0" anchor="t"/>
          <a:lstStyle/>
          <a:p>
            <a:pPr indent="0" marL="0">
              <a:buNone/>
            </a:pPr>
            <a:r>
              <a:rPr lang="en-US" sz="1200" dirty="0">
                <a:solidFill>
                  <a:schemeClr val="tx1"/>
                </a:solidFill>
              </a:rPr>
              <a:t>per minute in slow or stopped traffic ($0.50)</a:t>
            </a:r>
            <a:endParaRPr lang="en-US" sz="1200" dirty="0"/>
          </a:p>
        </p:txBody>
      </p:sp>
      <p:sp>
        <p:nvSpPr>
          <p:cNvPr id="40" name="formula-part-4"/>
          <p:cNvSpPr/>
          <p:nvPr/>
        </p:nvSpPr>
        <p:spPr>
          <a:xfrm>
            <a:off x="6766560" y="3401568"/>
            <a:ext cx="1920240" cy="1097280"/>
          </a:xfrm>
          <a:prstGeom prst="roundRect">
            <a:avLst>
              <a:gd name="adj" fmla="val 6667"/>
            </a:avLst>
          </a:prstGeom>
          <a:solidFill>
            <a:srgbClr val="FFFFFF"/>
          </a:solidFill>
          <a:ln/>
        </p:spPr>
      </p:sp>
      <p:sp>
        <p:nvSpPr>
          <p:cNvPr id="41" name="formula-jfk-outline"/>
          <p:cNvSpPr/>
          <p:nvPr/>
        </p:nvSpPr>
        <p:spPr>
          <a:xfrm>
            <a:off x="6766560" y="3401568"/>
            <a:ext cx="1920240" cy="1097280"/>
          </a:xfrm>
          <a:prstGeom prst="roundRect">
            <a:avLst>
              <a:gd name="adj" fmla="val 6667"/>
            </a:avLst>
          </a:prstGeom>
          <a:solidFill>
            <a:srgbClr val="FFFFFF"/>
          </a:solidFill>
          <a:ln w="25400">
            <a:solidFill>
              <a:srgbClr val="F2B705"/>
            </a:solidFill>
            <a:prstDash val="solid"/>
          </a:ln>
        </p:spPr>
      </p:sp>
      <p:sp>
        <p:nvSpPr>
          <p:cNvPr id="42" name="formula-val-4"/>
          <p:cNvSpPr txBox="1"/>
          <p:nvPr/>
        </p:nvSpPr>
        <p:spPr>
          <a:xfrm>
            <a:off x="6931152" y="3493008"/>
            <a:ext cx="1591056" cy="457200"/>
          </a:xfrm>
          <a:prstGeom prst="rect">
            <a:avLst/>
          </a:prstGeom>
          <a:noFill/>
          <a:ln/>
        </p:spPr>
        <p:txBody>
          <a:bodyPr wrap="square" lIns="0" tIns="0" rIns="0" bIns="0" rtlCol="0" anchor="ctr"/>
          <a:lstStyle/>
          <a:p>
            <a:pPr indent="0" marL="0">
              <a:buNone/>
            </a:pPr>
            <a:r>
              <a:rPr lang="en-US" sz="2200" b="1" dirty="0">
                <a:solidFill>
                  <a:schemeClr val="tx1"/>
                </a:solidFill>
              </a:rPr>
              <a:t>or $70</a:t>
            </a:r>
            <a:endParaRPr lang="en-US" sz="2200" dirty="0"/>
          </a:p>
        </p:txBody>
      </p:sp>
      <p:sp>
        <p:nvSpPr>
          <p:cNvPr id="43" name="formula-desc-4"/>
          <p:cNvSpPr txBox="1"/>
          <p:nvPr/>
        </p:nvSpPr>
        <p:spPr>
          <a:xfrm>
            <a:off x="6931152" y="3950208"/>
            <a:ext cx="1591056" cy="502920"/>
          </a:xfrm>
          <a:prstGeom prst="rect">
            <a:avLst/>
          </a:prstGeom>
          <a:noFill/>
          <a:ln/>
        </p:spPr>
        <p:txBody>
          <a:bodyPr wrap="square" lIns="0" tIns="0" rIns="0" bIns="0" rtlCol="0" anchor="t"/>
          <a:lstStyle/>
          <a:p>
            <a:pPr indent="0" marL="0">
              <a:buNone/>
            </a:pPr>
            <a:r>
              <a:rPr lang="en-US" sz="1200" dirty="0">
                <a:solidFill>
                  <a:schemeClr val="tx1"/>
                </a:solidFill>
              </a:rPr>
              <a:t>flat, JFK ↔ Manhattan ($52)</a:t>
            </a:r>
            <a:endParaRPr lang="en-US" sz="1200" dirty="0"/>
          </a:p>
        </p:txBody>
      </p:sp>
      <p:sp>
        <p:nvSpPr>
          <p:cNvPr id="44" name="citation"/>
          <p:cNvSpPr txBox="1"/>
          <p:nvPr/>
        </p:nvSpPr>
        <p:spPr>
          <a:xfrm>
            <a:off x="457200" y="4754880"/>
            <a:ext cx="7680960" cy="256032"/>
          </a:xfrm>
          <a:prstGeom prst="rect">
            <a:avLst/>
          </a:prstGeom>
          <a:noFill/>
          <a:ln/>
        </p:spPr>
        <p:txBody>
          <a:bodyPr wrap="square" lIns="0" tIns="0" rIns="0" bIns="0" rtlCol="0" anchor="ctr"/>
          <a:lstStyle/>
          <a:p>
            <a:pPr indent="0" marL="0">
              <a:buNone/>
            </a:pPr>
            <a:r>
              <a:rPr lang="en-US" sz="1050" dirty="0">
                <a:solidFill>
                  <a:srgbClr val="5F6772"/>
                </a:solidFill>
              </a:rPr>
              <a:t>Sources: NYC Taxi &amp; Limousine Commission (2019–2023), trip records; NYC TLC (2022), taximeter rate rule.</a:t>
            </a:r>
            <a:endParaRPr lang="en-US" sz="1050" dirty="0"/>
          </a:p>
        </p:txBody>
      </p:sp>
      <p:sp>
        <p:nvSpPr>
          <p:cNvPr id="25" name="Slide Number Placeholder 0"/>
          <p:cNvSpPr>
            <a:spLocks noGrp="1"/>
          </p:cNvSpPr>
          <p:nvPr>
            <p:ph type="sldNum" sz="quarter" idx="4294967295"/>
          </p:nvPr>
        </p:nvSpPr>
        <p:spPr>
          <a:xfrm>
            <a:off x="8275320" y="4754880"/>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77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nav-Agenda"/>
          <p:cNvSpPr txBox="1"/>
          <p:nvPr/>
        </p:nvSpPr>
        <p:spPr>
          <a:xfrm>
            <a:off x="457200" y="118872"/>
            <a:ext cx="713232" cy="256032"/>
          </a:xfrm>
          <a:prstGeom prst="rect">
            <a:avLst/>
          </a:prstGeom>
          <a:noFill/>
          <a:ln/>
        </p:spPr>
        <p:txBody>
          <a:bodyPr wrap="square" lIns="0" tIns="0" rIns="0" bIns="0" rtlCol="0" anchor="ctr"/>
          <a:lstStyle/>
          <a:p>
            <a:pPr algn="ctr" indent="0" marL="0">
              <a:buNone/>
            </a:pPr>
            <a:r>
              <a:rPr lang="en-US" sz="1050" dirty="0">
                <a:solidFill>
                  <a:srgbClr val="5F6772"/>
                </a:solidFill>
              </a:rPr>
              <a:t>Agenda</a:t>
            </a:r>
            <a:endParaRPr lang="en-US" sz="1050" dirty="0"/>
          </a:p>
        </p:txBody>
      </p:sp>
      <p:sp>
        <p:nvSpPr>
          <p:cNvPr id="3" name="nav-link-Agenda">
            <a:hlinkClick r:id="rId1" tooltip="Go to Agenda" action="ppaction://hlinksldjump"/>
          </p:cNvPr>
          <p:cNvSpPr/>
          <p:nvPr/>
        </p:nvSpPr>
        <p:spPr>
          <a:xfrm>
            <a:off x="457200" y="118872"/>
            <a:ext cx="713232" cy="256032"/>
          </a:xfrm>
          <a:prstGeom prst="rect">
            <a:avLst/>
          </a:prstGeom>
          <a:solidFill>
            <a:srgbClr val="FFFFFF">
              <a:alpha val="0"/>
            </a:srgbClr>
          </a:solidFill>
          <a:ln/>
        </p:spPr>
      </p:sp>
      <p:sp>
        <p:nvSpPr>
          <p:cNvPr id="4" name="nav-pill-Question"/>
          <p:cNvSpPr/>
          <p:nvPr/>
        </p:nvSpPr>
        <p:spPr>
          <a:xfrm>
            <a:off x="1225296" y="118872"/>
            <a:ext cx="822960" cy="256032"/>
          </a:xfrm>
          <a:prstGeom prst="roundRect">
            <a:avLst>
              <a:gd name="adj" fmla="val 50000"/>
            </a:avLst>
          </a:prstGeom>
          <a:solidFill>
            <a:srgbClr val="F2B705"/>
          </a:solidFill>
          <a:ln w="6350">
            <a:solidFill>
              <a:srgbClr val="F2B705"/>
            </a:solidFill>
            <a:prstDash val="solid"/>
          </a:ln>
        </p:spPr>
      </p:sp>
      <p:sp>
        <p:nvSpPr>
          <p:cNvPr id="5" name="nav-Question"/>
          <p:cNvSpPr txBox="1"/>
          <p:nvPr/>
        </p:nvSpPr>
        <p:spPr>
          <a:xfrm>
            <a:off x="1225296" y="118872"/>
            <a:ext cx="822960" cy="256032"/>
          </a:xfrm>
          <a:prstGeom prst="rect">
            <a:avLst/>
          </a:prstGeom>
          <a:noFill/>
          <a:ln/>
        </p:spPr>
        <p:txBody>
          <a:bodyPr wrap="square" lIns="0" tIns="0" rIns="0" bIns="0" rtlCol="0" anchor="ctr"/>
          <a:lstStyle/>
          <a:p>
            <a:pPr algn="ctr" indent="0" marL="0">
              <a:buNone/>
            </a:pPr>
            <a:r>
              <a:rPr lang="en-US" sz="1050" b="1" dirty="0">
                <a:solidFill>
                  <a:schemeClr val="tx1"/>
                </a:solidFill>
              </a:rPr>
              <a:t>Question</a:t>
            </a:r>
            <a:endParaRPr lang="en-US" sz="1050" dirty="0"/>
          </a:p>
        </p:txBody>
      </p:sp>
      <p:sp>
        <p:nvSpPr>
          <p:cNvPr id="6" name="nav-link-Question">
            <a:hlinkClick r:id="rId2" tooltip="Go to Question" action="ppaction://hlinksldjump"/>
          </p:cNvPr>
          <p:cNvSpPr/>
          <p:nvPr/>
        </p:nvSpPr>
        <p:spPr>
          <a:xfrm>
            <a:off x="1225296" y="118872"/>
            <a:ext cx="822960" cy="256032"/>
          </a:xfrm>
          <a:prstGeom prst="rect">
            <a:avLst/>
          </a:prstGeom>
          <a:solidFill>
            <a:srgbClr val="FFFFFF">
              <a:alpha val="0"/>
            </a:srgbClr>
          </a:solidFill>
          <a:ln/>
        </p:spPr>
      </p:sp>
      <p:sp>
        <p:nvSpPr>
          <p:cNvPr id="7" name="nav-Data"/>
          <p:cNvSpPr txBox="1"/>
          <p:nvPr/>
        </p:nvSpPr>
        <p:spPr>
          <a:xfrm>
            <a:off x="2103120" y="118872"/>
            <a:ext cx="566928" cy="256032"/>
          </a:xfrm>
          <a:prstGeom prst="rect">
            <a:avLst/>
          </a:prstGeom>
          <a:noFill/>
          <a:ln/>
        </p:spPr>
        <p:txBody>
          <a:bodyPr wrap="square" lIns="0" tIns="0" rIns="0" bIns="0" rtlCol="0" anchor="ctr"/>
          <a:lstStyle/>
          <a:p>
            <a:pPr algn="ctr" indent="0" marL="0">
              <a:buNone/>
            </a:pPr>
            <a:r>
              <a:rPr lang="en-US" sz="1050" dirty="0">
                <a:solidFill>
                  <a:srgbClr val="5F6772"/>
                </a:solidFill>
              </a:rPr>
              <a:t>Data</a:t>
            </a:r>
            <a:endParaRPr lang="en-US" sz="1050" dirty="0"/>
          </a:p>
        </p:txBody>
      </p:sp>
      <p:sp>
        <p:nvSpPr>
          <p:cNvPr id="8" name="nav-link-Data">
            <a:hlinkClick r:id="rId3" tooltip="Go to Data" action="ppaction://hlinksldjump"/>
          </p:cNvPr>
          <p:cNvSpPr/>
          <p:nvPr/>
        </p:nvSpPr>
        <p:spPr>
          <a:xfrm>
            <a:off x="2103120" y="118872"/>
            <a:ext cx="566928" cy="256032"/>
          </a:xfrm>
          <a:prstGeom prst="rect">
            <a:avLst/>
          </a:prstGeom>
          <a:solidFill>
            <a:srgbClr val="FFFFFF">
              <a:alpha val="0"/>
            </a:srgbClr>
          </a:solidFill>
          <a:ln/>
        </p:spPr>
      </p:sp>
      <p:sp>
        <p:nvSpPr>
          <p:cNvPr id="9" name="nav-Method"/>
          <p:cNvSpPr txBox="1"/>
          <p:nvPr/>
        </p:nvSpPr>
        <p:spPr>
          <a:xfrm>
            <a:off x="2724912" y="118872"/>
            <a:ext cx="713232" cy="256032"/>
          </a:xfrm>
          <a:prstGeom prst="rect">
            <a:avLst/>
          </a:prstGeom>
          <a:noFill/>
          <a:ln/>
        </p:spPr>
        <p:txBody>
          <a:bodyPr wrap="square" lIns="0" tIns="0" rIns="0" bIns="0" rtlCol="0" anchor="ctr"/>
          <a:lstStyle/>
          <a:p>
            <a:pPr algn="ctr" indent="0" marL="0">
              <a:buNone/>
            </a:pPr>
            <a:r>
              <a:rPr lang="en-US" sz="1050" dirty="0">
                <a:solidFill>
                  <a:srgbClr val="5F6772"/>
                </a:solidFill>
              </a:rPr>
              <a:t>Method</a:t>
            </a:r>
            <a:endParaRPr lang="en-US" sz="1050" dirty="0"/>
          </a:p>
        </p:txBody>
      </p:sp>
      <p:sp>
        <p:nvSpPr>
          <p:cNvPr id="10" name="nav-link-Method">
            <a:hlinkClick r:id="rId4" tooltip="Go to Method" action="ppaction://hlinksldjump"/>
          </p:cNvPr>
          <p:cNvSpPr/>
          <p:nvPr/>
        </p:nvSpPr>
        <p:spPr>
          <a:xfrm>
            <a:off x="2724912" y="118872"/>
            <a:ext cx="713232" cy="256032"/>
          </a:xfrm>
          <a:prstGeom prst="rect">
            <a:avLst/>
          </a:prstGeom>
          <a:solidFill>
            <a:srgbClr val="FFFFFF">
              <a:alpha val="0"/>
            </a:srgbClr>
          </a:solidFill>
          <a:ln/>
        </p:spPr>
      </p:sp>
      <p:sp>
        <p:nvSpPr>
          <p:cNvPr id="11" name="nav-Results"/>
          <p:cNvSpPr txBox="1"/>
          <p:nvPr/>
        </p:nvSpPr>
        <p:spPr>
          <a:xfrm>
            <a:off x="3493008" y="118872"/>
            <a:ext cx="731520" cy="256032"/>
          </a:xfrm>
          <a:prstGeom prst="rect">
            <a:avLst/>
          </a:prstGeom>
          <a:noFill/>
          <a:ln/>
        </p:spPr>
        <p:txBody>
          <a:bodyPr wrap="square" lIns="0" tIns="0" rIns="0" bIns="0" rtlCol="0" anchor="ctr"/>
          <a:lstStyle/>
          <a:p>
            <a:pPr algn="ctr" indent="0" marL="0">
              <a:buNone/>
            </a:pPr>
            <a:r>
              <a:rPr lang="en-US" sz="1050" dirty="0">
                <a:solidFill>
                  <a:srgbClr val="5F6772"/>
                </a:solidFill>
              </a:rPr>
              <a:t>Results</a:t>
            </a:r>
            <a:endParaRPr lang="en-US" sz="1050" dirty="0"/>
          </a:p>
        </p:txBody>
      </p:sp>
      <p:sp>
        <p:nvSpPr>
          <p:cNvPr id="12" name="nav-link-Results">
            <a:hlinkClick r:id="rId5" tooltip="Go to Results" action="ppaction://hlinksldjump"/>
          </p:cNvPr>
          <p:cNvSpPr/>
          <p:nvPr/>
        </p:nvSpPr>
        <p:spPr>
          <a:xfrm>
            <a:off x="3493008" y="118872"/>
            <a:ext cx="731520" cy="256032"/>
          </a:xfrm>
          <a:prstGeom prst="rect">
            <a:avLst/>
          </a:prstGeom>
          <a:solidFill>
            <a:srgbClr val="FFFFFF">
              <a:alpha val="0"/>
            </a:srgbClr>
          </a:solidFill>
          <a:ln/>
        </p:spPr>
      </p:sp>
      <p:sp>
        <p:nvSpPr>
          <p:cNvPr id="13" name="nav-Wrap-up"/>
          <p:cNvSpPr txBox="1"/>
          <p:nvPr/>
        </p:nvSpPr>
        <p:spPr>
          <a:xfrm>
            <a:off x="4279392" y="118872"/>
            <a:ext cx="786384" cy="256032"/>
          </a:xfrm>
          <a:prstGeom prst="rect">
            <a:avLst/>
          </a:prstGeom>
          <a:noFill/>
          <a:ln/>
        </p:spPr>
        <p:txBody>
          <a:bodyPr wrap="square" lIns="0" tIns="0" rIns="0" bIns="0" rtlCol="0" anchor="ctr"/>
          <a:lstStyle/>
          <a:p>
            <a:pPr algn="ctr" indent="0" marL="0">
              <a:buNone/>
            </a:pPr>
            <a:r>
              <a:rPr lang="en-US" sz="1050" dirty="0">
                <a:solidFill>
                  <a:srgbClr val="5F6772"/>
                </a:solidFill>
              </a:rPr>
              <a:t>Wrap-up</a:t>
            </a:r>
            <a:endParaRPr lang="en-US" sz="1050" dirty="0"/>
          </a:p>
        </p:txBody>
      </p:sp>
      <p:sp>
        <p:nvSpPr>
          <p:cNvPr id="14" name="nav-link-Wrap-up">
            <a:hlinkClick r:id="rId6" tooltip="Go to Wrap-up" action="ppaction://hlinksldjump"/>
          </p:cNvPr>
          <p:cNvSpPr/>
          <p:nvPr/>
        </p:nvSpPr>
        <p:spPr>
          <a:xfrm>
            <a:off x="4279392" y="118872"/>
            <a:ext cx="786384" cy="256032"/>
          </a:xfrm>
          <a:prstGeom prst="rect">
            <a:avLst/>
          </a:prstGeom>
          <a:solidFill>
            <a:srgbClr val="FFFFFF">
              <a:alpha val="0"/>
            </a:srgbClr>
          </a:solidFill>
          <a:ln/>
        </p:spPr>
      </p:sp>
      <p:sp>
        <p:nvSpPr>
          <p:cNvPr id="15" name="nav-Appendix"/>
          <p:cNvSpPr txBox="1"/>
          <p:nvPr/>
        </p:nvSpPr>
        <p:spPr>
          <a:xfrm>
            <a:off x="5120640" y="118872"/>
            <a:ext cx="859536" cy="256032"/>
          </a:xfrm>
          <a:prstGeom prst="rect">
            <a:avLst/>
          </a:prstGeom>
          <a:noFill/>
          <a:ln/>
        </p:spPr>
        <p:txBody>
          <a:bodyPr wrap="square" lIns="0" tIns="0" rIns="0" bIns="0" rtlCol="0" anchor="ctr"/>
          <a:lstStyle/>
          <a:p>
            <a:pPr algn="ctr" indent="0" marL="0">
              <a:buNone/>
            </a:pPr>
            <a:r>
              <a:rPr lang="en-US" sz="1050" dirty="0">
                <a:solidFill>
                  <a:srgbClr val="5F6772"/>
                </a:solidFill>
              </a:rPr>
              <a:t>Appendix</a:t>
            </a:r>
            <a:endParaRPr lang="en-US" sz="1050" dirty="0"/>
          </a:p>
        </p:txBody>
      </p:sp>
      <p:sp>
        <p:nvSpPr>
          <p:cNvPr id="16" name="nav-link-Appendix">
            <a:hlinkClick r:id="rId7" tooltip="Go to Appendix" action="ppaction://hlinksldjump"/>
          </p:cNvPr>
          <p:cNvSpPr/>
          <p:nvPr/>
        </p:nvSpPr>
        <p:spPr>
          <a:xfrm>
            <a:off x="5120640" y="118872"/>
            <a:ext cx="859536" cy="256032"/>
          </a:xfrm>
          <a:prstGeom prst="rect">
            <a:avLst/>
          </a:prstGeom>
          <a:solidFill>
            <a:srgbClr val="FFFFFF">
              <a:alpha val="0"/>
            </a:srgbClr>
          </a:solidFill>
          <a:ln/>
        </p:spPr>
      </p:sp>
      <p:sp>
        <p:nvSpPr>
          <p:cNvPr id="17" name="Text 0"/>
          <p:cNvSpPr/>
          <p:nvPr>
            <p:ph idx="100" type="title" hasCustomPrompt="1"/>
          </p:nvPr>
        </p:nvSpPr>
        <p:spPr>
          <a:xfrm>
            <a:off x="457200" y="475488"/>
            <a:ext cx="8229600" cy="777240"/>
          </a:xfrm>
          <a:prstGeom prst="rect">
            <a:avLst/>
          </a:prstGeom>
          <a:noFill/>
          <a:ln/>
        </p:spPr>
        <p:txBody>
          <a:bodyPr wrap="square" lIns="0" tIns="0" rIns="0" bIns="0" rtlCol="0" anchor="t"/>
          <a:lstStyle/>
          <a:p>
            <a:pPr algn="l" indent="0" marL="0">
              <a:buNone/>
            </a:pPr>
            <a:r>
              <a:rPr lang="en-US" sz="2200" b="1" dirty="0">
                <a:solidFill>
                  <a:schemeClr val="tx1"/>
                </a:solidFill>
              </a:rPr>
              <a:t>We ask whether five years of pickup-time information can predict the fares of the newest quarter</a:t>
            </a:r>
            <a:endParaRPr lang="en-US" sz="2200" dirty="0"/>
          </a:p>
        </p:txBody>
      </p:sp>
      <p:sp>
        <p:nvSpPr>
          <p:cNvPr id="18" name="rq-box"/>
          <p:cNvSpPr/>
          <p:nvPr/>
        </p:nvSpPr>
        <p:spPr>
          <a:xfrm>
            <a:off x="457200" y="1463040"/>
            <a:ext cx="8229600" cy="1143000"/>
          </a:xfrm>
          <a:prstGeom prst="roundRect">
            <a:avLst>
              <a:gd name="adj" fmla="val 6400"/>
            </a:avLst>
          </a:prstGeom>
          <a:solidFill>
            <a:srgbClr val="F1F3F5"/>
          </a:solidFill>
          <a:ln w="31750">
            <a:solidFill>
              <a:srgbClr val="F2B705"/>
            </a:solidFill>
            <a:prstDash val="solid"/>
          </a:ln>
        </p:spPr>
      </p:sp>
      <p:sp>
        <p:nvSpPr>
          <p:cNvPr id="19" name="rq-text"/>
          <p:cNvSpPr txBox="1"/>
          <p:nvPr/>
        </p:nvSpPr>
        <p:spPr>
          <a:xfrm>
            <a:off x="685800" y="1536192"/>
            <a:ext cx="7772400" cy="1005840"/>
          </a:xfrm>
          <a:prstGeom prst="rect">
            <a:avLst/>
          </a:prstGeom>
          <a:noFill/>
          <a:ln/>
        </p:spPr>
        <p:txBody>
          <a:bodyPr wrap="square" lIns="0" tIns="0" rIns="0" bIns="0" rtlCol="0" anchor="ctr"/>
          <a:lstStyle/>
          <a:p>
            <a:pPr indent="0" marL="0">
              <a:buNone/>
            </a:pPr>
            <a:r>
              <a:rPr lang="en-US" sz="1700" dirty="0">
                <a:solidFill>
                  <a:schemeClr val="tx1"/>
                </a:solidFill>
              </a:rPr>
              <a:t>Using only what is known when a trip starts, how accurately can a model trained on 2019–2023 trips predict the metered fares of October–December 2023, after COVID and a fare increase?</a:t>
            </a:r>
            <a:endParaRPr lang="en-US" sz="1700" dirty="0"/>
          </a:p>
        </p:txBody>
      </p:sp>
      <p:sp>
        <p:nvSpPr>
          <p:cNvPr id="20" name="rq-card-1"/>
          <p:cNvSpPr/>
          <p:nvPr/>
        </p:nvSpPr>
        <p:spPr>
          <a:xfrm>
            <a:off x="457200" y="2852928"/>
            <a:ext cx="2596896" cy="1463040"/>
          </a:xfrm>
          <a:prstGeom prst="roundRect">
            <a:avLst>
              <a:gd name="adj" fmla="val 5000"/>
            </a:avLst>
          </a:prstGeom>
          <a:solidFill>
            <a:srgbClr val="F1F3F5"/>
          </a:solidFill>
          <a:ln/>
        </p:spPr>
      </p:sp>
      <p:sp>
        <p:nvSpPr>
          <p:cNvPr id="21" name="rq-card-head-1"/>
          <p:cNvSpPr txBox="1"/>
          <p:nvPr/>
        </p:nvSpPr>
        <p:spPr>
          <a:xfrm>
            <a:off x="640080" y="2962656"/>
            <a:ext cx="2231136" cy="347472"/>
          </a:xfrm>
          <a:prstGeom prst="rect">
            <a:avLst/>
          </a:prstGeom>
          <a:noFill/>
          <a:ln/>
        </p:spPr>
        <p:txBody>
          <a:bodyPr wrap="square" lIns="0" tIns="0" rIns="0" bIns="0" rtlCol="0" anchor="ctr"/>
          <a:lstStyle/>
          <a:p>
            <a:pPr indent="0" marL="0">
              <a:buNone/>
            </a:pPr>
            <a:r>
              <a:rPr lang="en-US" sz="1500" b="1" dirty="0">
                <a:solidFill>
                  <a:schemeClr val="tx1"/>
                </a:solidFill>
              </a:rPr>
              <a:t>Target</a:t>
            </a:r>
            <a:endParaRPr lang="en-US" sz="1500" dirty="0"/>
          </a:p>
        </p:txBody>
      </p:sp>
      <p:sp>
        <p:nvSpPr>
          <p:cNvPr id="22" name="rq-card-text-1"/>
          <p:cNvSpPr txBox="1"/>
          <p:nvPr/>
        </p:nvSpPr>
        <p:spPr>
          <a:xfrm>
            <a:off x="640080" y="3346704"/>
            <a:ext cx="2231136" cy="1051560"/>
          </a:xfrm>
          <a:prstGeom prst="rect">
            <a:avLst/>
          </a:prstGeom>
          <a:noFill/>
          <a:ln/>
        </p:spPr>
        <p:txBody>
          <a:bodyPr wrap="square" lIns="0" tIns="0" rIns="0" bIns="0" rtlCol="0" anchor="t"/>
          <a:lstStyle/>
          <a:p>
            <a:pPr indent="0" marL="0">
              <a:buNone/>
            </a:pPr>
            <a:r>
              <a:rPr lang="en-US" sz="1350" dirty="0">
                <a:solidFill>
                  <a:schemeClr val="tx1"/>
                </a:solidFill>
              </a:rPr>
              <a:t>fare_amount: the metered fare in dollars, learned in 2023 prices</a:t>
            </a:r>
            <a:endParaRPr lang="en-US" sz="1350" dirty="0"/>
          </a:p>
        </p:txBody>
      </p:sp>
      <p:sp>
        <p:nvSpPr>
          <p:cNvPr id="23" name="rq-card-2"/>
          <p:cNvSpPr/>
          <p:nvPr/>
        </p:nvSpPr>
        <p:spPr>
          <a:xfrm>
            <a:off x="3273552" y="2852928"/>
            <a:ext cx="2596896" cy="1463040"/>
          </a:xfrm>
          <a:prstGeom prst="roundRect">
            <a:avLst>
              <a:gd name="adj" fmla="val 5000"/>
            </a:avLst>
          </a:prstGeom>
          <a:solidFill>
            <a:srgbClr val="F1F3F5"/>
          </a:solidFill>
          <a:ln/>
        </p:spPr>
      </p:sp>
      <p:sp>
        <p:nvSpPr>
          <p:cNvPr id="24" name="rq-card-head-2"/>
          <p:cNvSpPr txBox="1"/>
          <p:nvPr/>
        </p:nvSpPr>
        <p:spPr>
          <a:xfrm>
            <a:off x="3456432" y="2962656"/>
            <a:ext cx="2231136" cy="347472"/>
          </a:xfrm>
          <a:prstGeom prst="rect">
            <a:avLst/>
          </a:prstGeom>
          <a:noFill/>
          <a:ln/>
        </p:spPr>
        <p:txBody>
          <a:bodyPr wrap="square" lIns="0" tIns="0" rIns="0" bIns="0" rtlCol="0" anchor="ctr"/>
          <a:lstStyle/>
          <a:p>
            <a:pPr indent="0" marL="0">
              <a:buNone/>
            </a:pPr>
            <a:r>
              <a:rPr lang="en-US" sz="1500" b="1" dirty="0">
                <a:solidFill>
                  <a:schemeClr val="tx1"/>
                </a:solidFill>
              </a:rPr>
              <a:t>Task</a:t>
            </a:r>
            <a:endParaRPr lang="en-US" sz="1500" dirty="0"/>
          </a:p>
        </p:txBody>
      </p:sp>
      <p:sp>
        <p:nvSpPr>
          <p:cNvPr id="25" name="rq-card-text-2"/>
          <p:cNvSpPr txBox="1"/>
          <p:nvPr/>
        </p:nvSpPr>
        <p:spPr>
          <a:xfrm>
            <a:off x="3456432" y="3346704"/>
            <a:ext cx="2231136" cy="1051560"/>
          </a:xfrm>
          <a:prstGeom prst="rect">
            <a:avLst/>
          </a:prstGeom>
          <a:noFill/>
          <a:ln/>
        </p:spPr>
        <p:txBody>
          <a:bodyPr wrap="square" lIns="0" tIns="0" rIns="0" bIns="0" rtlCol="0" anchor="t"/>
          <a:lstStyle/>
          <a:p>
            <a:pPr indent="0" marL="0">
              <a:buNone/>
            </a:pPr>
            <a:r>
              <a:rPr lang="en-US" sz="1350" dirty="0">
                <a:solidFill>
                  <a:schemeClr val="tx1"/>
                </a:solidFill>
              </a:rPr>
              <a:t>Regression: judged by error in $ (MAE), R² and % of trips within $2 or 10%</a:t>
            </a:r>
            <a:endParaRPr lang="en-US" sz="1350" dirty="0"/>
          </a:p>
        </p:txBody>
      </p:sp>
      <p:sp>
        <p:nvSpPr>
          <p:cNvPr id="26" name="rq-card-3"/>
          <p:cNvSpPr/>
          <p:nvPr/>
        </p:nvSpPr>
        <p:spPr>
          <a:xfrm>
            <a:off x="6089904" y="2852928"/>
            <a:ext cx="2596896" cy="1463040"/>
          </a:xfrm>
          <a:prstGeom prst="roundRect">
            <a:avLst>
              <a:gd name="adj" fmla="val 5000"/>
            </a:avLst>
          </a:prstGeom>
          <a:solidFill>
            <a:srgbClr val="F1F3F5"/>
          </a:solidFill>
          <a:ln/>
        </p:spPr>
      </p:sp>
      <p:sp>
        <p:nvSpPr>
          <p:cNvPr id="27" name="rq-card-head-3"/>
          <p:cNvSpPr txBox="1"/>
          <p:nvPr/>
        </p:nvSpPr>
        <p:spPr>
          <a:xfrm>
            <a:off x="6272784" y="2962656"/>
            <a:ext cx="2231136" cy="347472"/>
          </a:xfrm>
          <a:prstGeom prst="rect">
            <a:avLst/>
          </a:prstGeom>
          <a:noFill/>
          <a:ln/>
        </p:spPr>
        <p:txBody>
          <a:bodyPr wrap="square" lIns="0" tIns="0" rIns="0" bIns="0" rtlCol="0" anchor="ctr"/>
          <a:lstStyle/>
          <a:p>
            <a:pPr indent="0" marL="0">
              <a:buNone/>
            </a:pPr>
            <a:r>
              <a:rPr lang="en-US" sz="1500" b="1" dirty="0">
                <a:solidFill>
                  <a:schemeClr val="tx1"/>
                </a:solidFill>
              </a:rPr>
              <a:t>Not total_amount</a:t>
            </a:r>
            <a:endParaRPr lang="en-US" sz="1500" dirty="0"/>
          </a:p>
        </p:txBody>
      </p:sp>
      <p:sp>
        <p:nvSpPr>
          <p:cNvPr id="28" name="rq-card-text-3"/>
          <p:cNvSpPr txBox="1"/>
          <p:nvPr/>
        </p:nvSpPr>
        <p:spPr>
          <a:xfrm>
            <a:off x="6272784" y="3346704"/>
            <a:ext cx="2231136" cy="1051560"/>
          </a:xfrm>
          <a:prstGeom prst="rect">
            <a:avLst/>
          </a:prstGeom>
          <a:noFill/>
          <a:ln/>
        </p:spPr>
        <p:txBody>
          <a:bodyPr wrap="square" lIns="0" tIns="0" rIns="0" bIns="0" rtlCol="0" anchor="t"/>
          <a:lstStyle/>
          <a:p>
            <a:pPr indent="0" marL="0">
              <a:buNone/>
            </a:pPr>
            <a:r>
              <a:rPr lang="en-US" sz="1350" dirty="0">
                <a:solidFill>
                  <a:schemeClr val="tx1"/>
                </a:solidFill>
              </a:rPr>
              <a:t>It includes the tip, decided after the ride, so it would leak the answer</a:t>
            </a:r>
            <a:endParaRPr lang="en-US" sz="1350" dirty="0"/>
          </a:p>
        </p:txBody>
      </p:sp>
      <p:sp>
        <p:nvSpPr>
          <p:cNvPr id="25" name="Slide Number Placeholder 0"/>
          <p:cNvSpPr>
            <a:spLocks noGrp="1"/>
          </p:cNvSpPr>
          <p:nvPr>
            <p:ph type="sldNum" sz="quarter" idx="4294967295"/>
          </p:nvPr>
        </p:nvSpPr>
        <p:spPr>
          <a:xfrm>
            <a:off x="8275320" y="4754880"/>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77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nav-Agenda"/>
          <p:cNvSpPr txBox="1"/>
          <p:nvPr/>
        </p:nvSpPr>
        <p:spPr>
          <a:xfrm>
            <a:off x="457200" y="118872"/>
            <a:ext cx="713232" cy="256032"/>
          </a:xfrm>
          <a:prstGeom prst="rect">
            <a:avLst/>
          </a:prstGeom>
          <a:noFill/>
          <a:ln/>
        </p:spPr>
        <p:txBody>
          <a:bodyPr wrap="square" lIns="0" tIns="0" rIns="0" bIns="0" rtlCol="0" anchor="ctr"/>
          <a:lstStyle/>
          <a:p>
            <a:pPr algn="ctr" indent="0" marL="0">
              <a:buNone/>
            </a:pPr>
            <a:r>
              <a:rPr lang="en-US" sz="1050" dirty="0">
                <a:solidFill>
                  <a:srgbClr val="5F6772"/>
                </a:solidFill>
              </a:rPr>
              <a:t>Agenda</a:t>
            </a:r>
            <a:endParaRPr lang="en-US" sz="1050" dirty="0"/>
          </a:p>
        </p:txBody>
      </p:sp>
      <p:sp>
        <p:nvSpPr>
          <p:cNvPr id="3" name="nav-link-Agenda">
            <a:hlinkClick r:id="rId1" tooltip="Go to Agenda" action="ppaction://hlinksldjump"/>
          </p:cNvPr>
          <p:cNvSpPr/>
          <p:nvPr/>
        </p:nvSpPr>
        <p:spPr>
          <a:xfrm>
            <a:off x="457200" y="118872"/>
            <a:ext cx="713232" cy="256032"/>
          </a:xfrm>
          <a:prstGeom prst="rect">
            <a:avLst/>
          </a:prstGeom>
          <a:solidFill>
            <a:srgbClr val="FFFFFF">
              <a:alpha val="0"/>
            </a:srgbClr>
          </a:solidFill>
          <a:ln/>
        </p:spPr>
      </p:sp>
      <p:sp>
        <p:nvSpPr>
          <p:cNvPr id="4" name="nav-Question"/>
          <p:cNvSpPr txBox="1"/>
          <p:nvPr/>
        </p:nvSpPr>
        <p:spPr>
          <a:xfrm>
            <a:off x="1225296" y="118872"/>
            <a:ext cx="822960" cy="256032"/>
          </a:xfrm>
          <a:prstGeom prst="rect">
            <a:avLst/>
          </a:prstGeom>
          <a:noFill/>
          <a:ln/>
        </p:spPr>
        <p:txBody>
          <a:bodyPr wrap="square" lIns="0" tIns="0" rIns="0" bIns="0" rtlCol="0" anchor="ctr"/>
          <a:lstStyle/>
          <a:p>
            <a:pPr algn="ctr" indent="0" marL="0">
              <a:buNone/>
            </a:pPr>
            <a:r>
              <a:rPr lang="en-US" sz="1050" dirty="0">
                <a:solidFill>
                  <a:srgbClr val="5F6772"/>
                </a:solidFill>
              </a:rPr>
              <a:t>Question</a:t>
            </a:r>
            <a:endParaRPr lang="en-US" sz="1050" dirty="0"/>
          </a:p>
        </p:txBody>
      </p:sp>
      <p:sp>
        <p:nvSpPr>
          <p:cNvPr id="5" name="nav-link-Question">
            <a:hlinkClick r:id="rId2" tooltip="Go to Question" action="ppaction://hlinksldjump"/>
          </p:cNvPr>
          <p:cNvSpPr/>
          <p:nvPr/>
        </p:nvSpPr>
        <p:spPr>
          <a:xfrm>
            <a:off x="1225296" y="118872"/>
            <a:ext cx="822960" cy="256032"/>
          </a:xfrm>
          <a:prstGeom prst="rect">
            <a:avLst/>
          </a:prstGeom>
          <a:solidFill>
            <a:srgbClr val="FFFFFF">
              <a:alpha val="0"/>
            </a:srgbClr>
          </a:solidFill>
          <a:ln/>
        </p:spPr>
      </p:sp>
      <p:sp>
        <p:nvSpPr>
          <p:cNvPr id="6" name="nav-pill-Data"/>
          <p:cNvSpPr/>
          <p:nvPr/>
        </p:nvSpPr>
        <p:spPr>
          <a:xfrm>
            <a:off x="2103120" y="118872"/>
            <a:ext cx="566928" cy="256032"/>
          </a:xfrm>
          <a:prstGeom prst="roundRect">
            <a:avLst>
              <a:gd name="adj" fmla="val 50000"/>
            </a:avLst>
          </a:prstGeom>
          <a:solidFill>
            <a:srgbClr val="F2B705"/>
          </a:solidFill>
          <a:ln w="6350">
            <a:solidFill>
              <a:srgbClr val="F2B705"/>
            </a:solidFill>
            <a:prstDash val="solid"/>
          </a:ln>
        </p:spPr>
      </p:sp>
      <p:sp>
        <p:nvSpPr>
          <p:cNvPr id="7" name="nav-Data"/>
          <p:cNvSpPr txBox="1"/>
          <p:nvPr/>
        </p:nvSpPr>
        <p:spPr>
          <a:xfrm>
            <a:off x="2103120" y="118872"/>
            <a:ext cx="566928" cy="256032"/>
          </a:xfrm>
          <a:prstGeom prst="rect">
            <a:avLst/>
          </a:prstGeom>
          <a:noFill/>
          <a:ln/>
        </p:spPr>
        <p:txBody>
          <a:bodyPr wrap="square" lIns="0" tIns="0" rIns="0" bIns="0" rtlCol="0" anchor="ctr"/>
          <a:lstStyle/>
          <a:p>
            <a:pPr algn="ctr" indent="0" marL="0">
              <a:buNone/>
            </a:pPr>
            <a:r>
              <a:rPr lang="en-US" sz="1050" b="1" dirty="0">
                <a:solidFill>
                  <a:schemeClr val="tx1"/>
                </a:solidFill>
              </a:rPr>
              <a:t>Data</a:t>
            </a:r>
            <a:endParaRPr lang="en-US" sz="1050" dirty="0"/>
          </a:p>
        </p:txBody>
      </p:sp>
      <p:sp>
        <p:nvSpPr>
          <p:cNvPr id="8" name="nav-link-Data">
            <a:hlinkClick r:id="rId3" tooltip="Go to Data" action="ppaction://hlinksldjump"/>
          </p:cNvPr>
          <p:cNvSpPr/>
          <p:nvPr/>
        </p:nvSpPr>
        <p:spPr>
          <a:xfrm>
            <a:off x="2103120" y="118872"/>
            <a:ext cx="566928" cy="256032"/>
          </a:xfrm>
          <a:prstGeom prst="rect">
            <a:avLst/>
          </a:prstGeom>
          <a:solidFill>
            <a:srgbClr val="FFFFFF">
              <a:alpha val="0"/>
            </a:srgbClr>
          </a:solidFill>
          <a:ln/>
        </p:spPr>
      </p:sp>
      <p:sp>
        <p:nvSpPr>
          <p:cNvPr id="9" name="nav-Method"/>
          <p:cNvSpPr txBox="1"/>
          <p:nvPr/>
        </p:nvSpPr>
        <p:spPr>
          <a:xfrm>
            <a:off x="2724912" y="118872"/>
            <a:ext cx="713232" cy="256032"/>
          </a:xfrm>
          <a:prstGeom prst="rect">
            <a:avLst/>
          </a:prstGeom>
          <a:noFill/>
          <a:ln/>
        </p:spPr>
        <p:txBody>
          <a:bodyPr wrap="square" lIns="0" tIns="0" rIns="0" bIns="0" rtlCol="0" anchor="ctr"/>
          <a:lstStyle/>
          <a:p>
            <a:pPr algn="ctr" indent="0" marL="0">
              <a:buNone/>
            </a:pPr>
            <a:r>
              <a:rPr lang="en-US" sz="1050" dirty="0">
                <a:solidFill>
                  <a:srgbClr val="5F6772"/>
                </a:solidFill>
              </a:rPr>
              <a:t>Method</a:t>
            </a:r>
            <a:endParaRPr lang="en-US" sz="1050" dirty="0"/>
          </a:p>
        </p:txBody>
      </p:sp>
      <p:sp>
        <p:nvSpPr>
          <p:cNvPr id="10" name="nav-link-Method">
            <a:hlinkClick r:id="rId4" tooltip="Go to Method" action="ppaction://hlinksldjump"/>
          </p:cNvPr>
          <p:cNvSpPr/>
          <p:nvPr/>
        </p:nvSpPr>
        <p:spPr>
          <a:xfrm>
            <a:off x="2724912" y="118872"/>
            <a:ext cx="713232" cy="256032"/>
          </a:xfrm>
          <a:prstGeom prst="rect">
            <a:avLst/>
          </a:prstGeom>
          <a:solidFill>
            <a:srgbClr val="FFFFFF">
              <a:alpha val="0"/>
            </a:srgbClr>
          </a:solidFill>
          <a:ln/>
        </p:spPr>
      </p:sp>
      <p:sp>
        <p:nvSpPr>
          <p:cNvPr id="11" name="nav-Results"/>
          <p:cNvSpPr txBox="1"/>
          <p:nvPr/>
        </p:nvSpPr>
        <p:spPr>
          <a:xfrm>
            <a:off x="3493008" y="118872"/>
            <a:ext cx="731520" cy="256032"/>
          </a:xfrm>
          <a:prstGeom prst="rect">
            <a:avLst/>
          </a:prstGeom>
          <a:noFill/>
          <a:ln/>
        </p:spPr>
        <p:txBody>
          <a:bodyPr wrap="square" lIns="0" tIns="0" rIns="0" bIns="0" rtlCol="0" anchor="ctr"/>
          <a:lstStyle/>
          <a:p>
            <a:pPr algn="ctr" indent="0" marL="0">
              <a:buNone/>
            </a:pPr>
            <a:r>
              <a:rPr lang="en-US" sz="1050" dirty="0">
                <a:solidFill>
                  <a:srgbClr val="5F6772"/>
                </a:solidFill>
              </a:rPr>
              <a:t>Results</a:t>
            </a:r>
            <a:endParaRPr lang="en-US" sz="1050" dirty="0"/>
          </a:p>
        </p:txBody>
      </p:sp>
      <p:sp>
        <p:nvSpPr>
          <p:cNvPr id="12" name="nav-link-Results">
            <a:hlinkClick r:id="rId5" tooltip="Go to Results" action="ppaction://hlinksldjump"/>
          </p:cNvPr>
          <p:cNvSpPr/>
          <p:nvPr/>
        </p:nvSpPr>
        <p:spPr>
          <a:xfrm>
            <a:off x="3493008" y="118872"/>
            <a:ext cx="731520" cy="256032"/>
          </a:xfrm>
          <a:prstGeom prst="rect">
            <a:avLst/>
          </a:prstGeom>
          <a:solidFill>
            <a:srgbClr val="FFFFFF">
              <a:alpha val="0"/>
            </a:srgbClr>
          </a:solidFill>
          <a:ln/>
        </p:spPr>
      </p:sp>
      <p:sp>
        <p:nvSpPr>
          <p:cNvPr id="13" name="nav-Wrap-up"/>
          <p:cNvSpPr txBox="1"/>
          <p:nvPr/>
        </p:nvSpPr>
        <p:spPr>
          <a:xfrm>
            <a:off x="4279392" y="118872"/>
            <a:ext cx="786384" cy="256032"/>
          </a:xfrm>
          <a:prstGeom prst="rect">
            <a:avLst/>
          </a:prstGeom>
          <a:noFill/>
          <a:ln/>
        </p:spPr>
        <p:txBody>
          <a:bodyPr wrap="square" lIns="0" tIns="0" rIns="0" bIns="0" rtlCol="0" anchor="ctr"/>
          <a:lstStyle/>
          <a:p>
            <a:pPr algn="ctr" indent="0" marL="0">
              <a:buNone/>
            </a:pPr>
            <a:r>
              <a:rPr lang="en-US" sz="1050" dirty="0">
                <a:solidFill>
                  <a:srgbClr val="5F6772"/>
                </a:solidFill>
              </a:rPr>
              <a:t>Wrap-up</a:t>
            </a:r>
            <a:endParaRPr lang="en-US" sz="1050" dirty="0"/>
          </a:p>
        </p:txBody>
      </p:sp>
      <p:sp>
        <p:nvSpPr>
          <p:cNvPr id="14" name="nav-link-Wrap-up">
            <a:hlinkClick r:id="rId6" tooltip="Go to Wrap-up" action="ppaction://hlinksldjump"/>
          </p:cNvPr>
          <p:cNvSpPr/>
          <p:nvPr/>
        </p:nvSpPr>
        <p:spPr>
          <a:xfrm>
            <a:off x="4279392" y="118872"/>
            <a:ext cx="786384" cy="256032"/>
          </a:xfrm>
          <a:prstGeom prst="rect">
            <a:avLst/>
          </a:prstGeom>
          <a:solidFill>
            <a:srgbClr val="FFFFFF">
              <a:alpha val="0"/>
            </a:srgbClr>
          </a:solidFill>
          <a:ln/>
        </p:spPr>
      </p:sp>
      <p:sp>
        <p:nvSpPr>
          <p:cNvPr id="15" name="nav-Appendix"/>
          <p:cNvSpPr txBox="1"/>
          <p:nvPr/>
        </p:nvSpPr>
        <p:spPr>
          <a:xfrm>
            <a:off x="5120640" y="118872"/>
            <a:ext cx="859536" cy="256032"/>
          </a:xfrm>
          <a:prstGeom prst="rect">
            <a:avLst/>
          </a:prstGeom>
          <a:noFill/>
          <a:ln/>
        </p:spPr>
        <p:txBody>
          <a:bodyPr wrap="square" lIns="0" tIns="0" rIns="0" bIns="0" rtlCol="0" anchor="ctr"/>
          <a:lstStyle/>
          <a:p>
            <a:pPr algn="ctr" indent="0" marL="0">
              <a:buNone/>
            </a:pPr>
            <a:r>
              <a:rPr lang="en-US" sz="1050" dirty="0">
                <a:solidFill>
                  <a:srgbClr val="5F6772"/>
                </a:solidFill>
              </a:rPr>
              <a:t>Appendix</a:t>
            </a:r>
            <a:endParaRPr lang="en-US" sz="1050" dirty="0"/>
          </a:p>
        </p:txBody>
      </p:sp>
      <p:sp>
        <p:nvSpPr>
          <p:cNvPr id="16" name="nav-link-Appendix">
            <a:hlinkClick r:id="rId7" tooltip="Go to Appendix" action="ppaction://hlinksldjump"/>
          </p:cNvPr>
          <p:cNvSpPr/>
          <p:nvPr/>
        </p:nvSpPr>
        <p:spPr>
          <a:xfrm>
            <a:off x="5120640" y="118872"/>
            <a:ext cx="859536" cy="256032"/>
          </a:xfrm>
          <a:prstGeom prst="rect">
            <a:avLst/>
          </a:prstGeom>
          <a:solidFill>
            <a:srgbClr val="FFFFFF">
              <a:alpha val="0"/>
            </a:srgbClr>
          </a:solidFill>
          <a:ln/>
        </p:spPr>
      </p:sp>
      <p:sp>
        <p:nvSpPr>
          <p:cNvPr id="17" name="Text 0"/>
          <p:cNvSpPr/>
          <p:nvPr>
            <p:ph idx="100" type="title" hasCustomPrompt="1"/>
          </p:nvPr>
        </p:nvSpPr>
        <p:spPr>
          <a:xfrm>
            <a:off x="457200" y="475488"/>
            <a:ext cx="8229600" cy="777240"/>
          </a:xfrm>
          <a:prstGeom prst="rect">
            <a:avLst/>
          </a:prstGeom>
          <a:noFill/>
          <a:ln/>
        </p:spPr>
        <p:txBody>
          <a:bodyPr wrap="square" lIns="0" tIns="0" rIns="0" bIns="0" rtlCol="0" anchor="t"/>
          <a:lstStyle/>
          <a:p>
            <a:pPr algn="l" indent="0" marL="0">
              <a:buNone/>
            </a:pPr>
            <a:r>
              <a:rPr lang="en-US" sz="2200" b="1" dirty="0">
                <a:solidFill>
                  <a:schemeClr val="tx1"/>
                </a:solidFill>
              </a:rPr>
              <a:t>Two breaks shape the data: COVID cut trips by 95%, and new meter rates lifted fares by about a third</a:t>
            </a:r>
            <a:endParaRPr lang="en-US" sz="2200" dirty="0"/>
          </a:p>
        </p:txBody>
      </p:sp>
      <p:sp>
        <p:nvSpPr>
          <p:cNvPr id="18" name="panel-header"/>
          <p:cNvSpPr txBox="1"/>
          <p:nvPr/>
        </p:nvSpPr>
        <p:spPr>
          <a:xfrm>
            <a:off x="457200" y="1325880"/>
            <a:ext cx="4023360" cy="320040"/>
          </a:xfrm>
          <a:prstGeom prst="rect">
            <a:avLst/>
          </a:prstGeom>
          <a:noFill/>
          <a:ln/>
        </p:spPr>
        <p:txBody>
          <a:bodyPr wrap="square" lIns="0" tIns="0" rIns="0" bIns="0" rtlCol="0" anchor="ctr"/>
          <a:lstStyle/>
          <a:p>
            <a:pPr indent="0" marL="0">
              <a:buNone/>
            </a:pPr>
            <a:r>
              <a:rPr lang="en-US" sz="1500" b="1" dirty="0">
                <a:solidFill>
                  <a:schemeClr val="tx1"/>
                </a:solidFill>
              </a:rPr>
              <a:t>Trips per month (millions)</a:t>
            </a:r>
            <a:endParaRPr lang="en-US" sz="1500" dirty="0"/>
          </a:p>
        </p:txBody>
      </p:sp>
      <p:graphicFrame>
        <p:nvGraphicFramePr>
          <p:cNvPr id="19" name="chart-trips-month" descr=""/>
          <p:cNvGraphicFramePr/>
          <p:nvPr/>
        </p:nvGraphicFramePr>
        <p:xfrm>
          <a:off x="320040" y="1645920"/>
          <a:ext cx="4206240" cy="3017520"/>
        </p:xfrm>
        <a:graphic xmlns:a="http://schemas.openxmlformats.org/drawingml/2006/main">
          <a:graphicData uri="http://schemas.openxmlformats.org/drawingml/2006/chart">
            <c:chart xmlns:c="http://schemas.openxmlformats.org/drawingml/2006/chart" r:id="rId8"/>
          </a:graphicData>
        </a:graphic>
      </p:graphicFrame>
      <p:sp>
        <p:nvSpPr>
          <p:cNvPr id="20" name="panel-header"/>
          <p:cNvSpPr txBox="1"/>
          <p:nvPr/>
        </p:nvSpPr>
        <p:spPr>
          <a:xfrm>
            <a:off x="4709160" y="1325880"/>
            <a:ext cx="4023360" cy="320040"/>
          </a:xfrm>
          <a:prstGeom prst="rect">
            <a:avLst/>
          </a:prstGeom>
          <a:noFill/>
          <a:ln/>
        </p:spPr>
        <p:txBody>
          <a:bodyPr wrap="square" lIns="0" tIns="0" rIns="0" bIns="0" rtlCol="0" anchor="ctr"/>
          <a:lstStyle/>
          <a:p>
            <a:pPr indent="0" marL="0">
              <a:buNone/>
            </a:pPr>
            <a:r>
              <a:rPr lang="en-US" sz="1500" b="1" dirty="0">
                <a:solidFill>
                  <a:schemeClr val="tx1"/>
                </a:solidFill>
              </a:rPr>
              <a:t>Median fare per month ($)</a:t>
            </a:r>
            <a:endParaRPr lang="en-US" sz="1500" dirty="0"/>
          </a:p>
        </p:txBody>
      </p:sp>
      <p:graphicFrame>
        <p:nvGraphicFramePr>
          <p:cNvPr id="21" name="chart-median-fare" descr=""/>
          <p:cNvGraphicFramePr/>
          <p:nvPr/>
        </p:nvGraphicFramePr>
        <p:xfrm>
          <a:off x="4572000" y="1645920"/>
          <a:ext cx="4206240" cy="3017520"/>
        </p:xfrm>
        <a:graphic xmlns:a="http://schemas.openxmlformats.org/drawingml/2006/main">
          <a:graphicData uri="http://schemas.openxmlformats.org/drawingml/2006/chart">
            <c:chart xmlns:c="http://schemas.openxmlformats.org/drawingml/2006/chart" r:id="rId9"/>
          </a:graphicData>
        </a:graphic>
      </p:graphicFrame>
      <p:sp>
        <p:nvSpPr>
          <p:cNvPr id="22" name="fare-note"/>
          <p:cNvSpPr txBox="1"/>
          <p:nvPr/>
        </p:nvSpPr>
        <p:spPr>
          <a:xfrm>
            <a:off x="6720840" y="1874520"/>
            <a:ext cx="1920240" cy="274320"/>
          </a:xfrm>
          <a:prstGeom prst="rect">
            <a:avLst/>
          </a:prstGeom>
          <a:noFill/>
          <a:ln/>
        </p:spPr>
        <p:txBody>
          <a:bodyPr wrap="square" lIns="0" tIns="0" rIns="0" bIns="0" rtlCol="0" anchor="ctr"/>
          <a:lstStyle/>
          <a:p>
            <a:pPr indent="0" marL="0">
              <a:buNone/>
            </a:pPr>
            <a:r>
              <a:rPr lang="en-US" sz="1100" b="1" dirty="0">
                <a:solidFill>
                  <a:schemeClr val="tx1"/>
                </a:solidFill>
              </a:rPr>
              <a:t>19 Dec 2022: new meter rates</a:t>
            </a:r>
            <a:endParaRPr lang="en-US" sz="1100" dirty="0"/>
          </a:p>
        </p:txBody>
      </p:sp>
      <p:sp>
        <p:nvSpPr>
          <p:cNvPr id="23" name="citation"/>
          <p:cNvSpPr txBox="1"/>
          <p:nvPr/>
        </p:nvSpPr>
        <p:spPr>
          <a:xfrm>
            <a:off x="457200" y="4754880"/>
            <a:ext cx="7680960" cy="256032"/>
          </a:xfrm>
          <a:prstGeom prst="rect">
            <a:avLst/>
          </a:prstGeom>
          <a:noFill/>
          <a:ln/>
        </p:spPr>
        <p:txBody>
          <a:bodyPr wrap="square" lIns="0" tIns="0" rIns="0" bIns="0" rtlCol="0" anchor="ctr"/>
          <a:lstStyle/>
          <a:p>
            <a:pPr indent="0" marL="0">
              <a:buNone/>
            </a:pPr>
            <a:r>
              <a:rPr lang="en-US" sz="1050" dirty="0">
                <a:solidFill>
                  <a:srgbClr val="5F6772"/>
                </a:solidFill>
              </a:rPr>
              <a:t>Exact trip counts from all 59 files (DuckDB); median fare from the cleaned 1% sample. The April 2020 file is missing.</a:t>
            </a:r>
            <a:endParaRPr lang="en-US" sz="1050" dirty="0"/>
          </a:p>
        </p:txBody>
      </p:sp>
      <p:sp>
        <p:nvSpPr>
          <p:cNvPr id="25" name="Slide Number Placeholder 0"/>
          <p:cNvSpPr>
            <a:spLocks noGrp="1"/>
          </p:cNvSpPr>
          <p:nvPr>
            <p:ph type="sldNum" sz="quarter" idx="4294967295"/>
          </p:nvPr>
        </p:nvSpPr>
        <p:spPr>
          <a:xfrm>
            <a:off x="8275320" y="4754880"/>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77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nav-Agenda"/>
          <p:cNvSpPr txBox="1"/>
          <p:nvPr/>
        </p:nvSpPr>
        <p:spPr>
          <a:xfrm>
            <a:off x="457200" y="118872"/>
            <a:ext cx="713232" cy="256032"/>
          </a:xfrm>
          <a:prstGeom prst="rect">
            <a:avLst/>
          </a:prstGeom>
          <a:noFill/>
          <a:ln/>
        </p:spPr>
        <p:txBody>
          <a:bodyPr wrap="square" lIns="0" tIns="0" rIns="0" bIns="0" rtlCol="0" anchor="ctr"/>
          <a:lstStyle/>
          <a:p>
            <a:pPr algn="ctr" indent="0" marL="0">
              <a:buNone/>
            </a:pPr>
            <a:r>
              <a:rPr lang="en-US" sz="1050" dirty="0">
                <a:solidFill>
                  <a:srgbClr val="5F6772"/>
                </a:solidFill>
              </a:rPr>
              <a:t>Agenda</a:t>
            </a:r>
            <a:endParaRPr lang="en-US" sz="1050" dirty="0"/>
          </a:p>
        </p:txBody>
      </p:sp>
      <p:sp>
        <p:nvSpPr>
          <p:cNvPr id="3" name="nav-link-Agenda">
            <a:hlinkClick r:id="rId1" tooltip="Go to Agenda" action="ppaction://hlinksldjump"/>
          </p:cNvPr>
          <p:cNvSpPr/>
          <p:nvPr/>
        </p:nvSpPr>
        <p:spPr>
          <a:xfrm>
            <a:off x="457200" y="118872"/>
            <a:ext cx="713232" cy="256032"/>
          </a:xfrm>
          <a:prstGeom prst="rect">
            <a:avLst/>
          </a:prstGeom>
          <a:solidFill>
            <a:srgbClr val="FFFFFF">
              <a:alpha val="0"/>
            </a:srgbClr>
          </a:solidFill>
          <a:ln/>
        </p:spPr>
      </p:sp>
      <p:sp>
        <p:nvSpPr>
          <p:cNvPr id="4" name="nav-Question"/>
          <p:cNvSpPr txBox="1"/>
          <p:nvPr/>
        </p:nvSpPr>
        <p:spPr>
          <a:xfrm>
            <a:off x="1225296" y="118872"/>
            <a:ext cx="822960" cy="256032"/>
          </a:xfrm>
          <a:prstGeom prst="rect">
            <a:avLst/>
          </a:prstGeom>
          <a:noFill/>
          <a:ln/>
        </p:spPr>
        <p:txBody>
          <a:bodyPr wrap="square" lIns="0" tIns="0" rIns="0" bIns="0" rtlCol="0" anchor="ctr"/>
          <a:lstStyle/>
          <a:p>
            <a:pPr algn="ctr" indent="0" marL="0">
              <a:buNone/>
            </a:pPr>
            <a:r>
              <a:rPr lang="en-US" sz="1050" dirty="0">
                <a:solidFill>
                  <a:srgbClr val="5F6772"/>
                </a:solidFill>
              </a:rPr>
              <a:t>Question</a:t>
            </a:r>
            <a:endParaRPr lang="en-US" sz="1050" dirty="0"/>
          </a:p>
        </p:txBody>
      </p:sp>
      <p:sp>
        <p:nvSpPr>
          <p:cNvPr id="5" name="nav-link-Question">
            <a:hlinkClick r:id="rId2" tooltip="Go to Question" action="ppaction://hlinksldjump"/>
          </p:cNvPr>
          <p:cNvSpPr/>
          <p:nvPr/>
        </p:nvSpPr>
        <p:spPr>
          <a:xfrm>
            <a:off x="1225296" y="118872"/>
            <a:ext cx="822960" cy="256032"/>
          </a:xfrm>
          <a:prstGeom prst="rect">
            <a:avLst/>
          </a:prstGeom>
          <a:solidFill>
            <a:srgbClr val="FFFFFF">
              <a:alpha val="0"/>
            </a:srgbClr>
          </a:solidFill>
          <a:ln/>
        </p:spPr>
      </p:sp>
      <p:sp>
        <p:nvSpPr>
          <p:cNvPr id="6" name="nav-pill-Data"/>
          <p:cNvSpPr/>
          <p:nvPr/>
        </p:nvSpPr>
        <p:spPr>
          <a:xfrm>
            <a:off x="2103120" y="118872"/>
            <a:ext cx="566928" cy="256032"/>
          </a:xfrm>
          <a:prstGeom prst="roundRect">
            <a:avLst>
              <a:gd name="adj" fmla="val 50000"/>
            </a:avLst>
          </a:prstGeom>
          <a:solidFill>
            <a:srgbClr val="F2B705"/>
          </a:solidFill>
          <a:ln w="6350">
            <a:solidFill>
              <a:srgbClr val="F2B705"/>
            </a:solidFill>
            <a:prstDash val="solid"/>
          </a:ln>
        </p:spPr>
      </p:sp>
      <p:sp>
        <p:nvSpPr>
          <p:cNvPr id="7" name="nav-Data"/>
          <p:cNvSpPr txBox="1"/>
          <p:nvPr/>
        </p:nvSpPr>
        <p:spPr>
          <a:xfrm>
            <a:off x="2103120" y="118872"/>
            <a:ext cx="566928" cy="256032"/>
          </a:xfrm>
          <a:prstGeom prst="rect">
            <a:avLst/>
          </a:prstGeom>
          <a:noFill/>
          <a:ln/>
        </p:spPr>
        <p:txBody>
          <a:bodyPr wrap="square" lIns="0" tIns="0" rIns="0" bIns="0" rtlCol="0" anchor="ctr"/>
          <a:lstStyle/>
          <a:p>
            <a:pPr algn="ctr" indent="0" marL="0">
              <a:buNone/>
            </a:pPr>
            <a:r>
              <a:rPr lang="en-US" sz="1050" b="1" dirty="0">
                <a:solidFill>
                  <a:schemeClr val="tx1"/>
                </a:solidFill>
              </a:rPr>
              <a:t>Data</a:t>
            </a:r>
            <a:endParaRPr lang="en-US" sz="1050" dirty="0"/>
          </a:p>
        </p:txBody>
      </p:sp>
      <p:sp>
        <p:nvSpPr>
          <p:cNvPr id="8" name="nav-link-Data">
            <a:hlinkClick r:id="rId3" tooltip="Go to Data" action="ppaction://hlinksldjump"/>
          </p:cNvPr>
          <p:cNvSpPr/>
          <p:nvPr/>
        </p:nvSpPr>
        <p:spPr>
          <a:xfrm>
            <a:off x="2103120" y="118872"/>
            <a:ext cx="566928" cy="256032"/>
          </a:xfrm>
          <a:prstGeom prst="rect">
            <a:avLst/>
          </a:prstGeom>
          <a:solidFill>
            <a:srgbClr val="FFFFFF">
              <a:alpha val="0"/>
            </a:srgbClr>
          </a:solidFill>
          <a:ln/>
        </p:spPr>
      </p:sp>
      <p:sp>
        <p:nvSpPr>
          <p:cNvPr id="9" name="nav-Method"/>
          <p:cNvSpPr txBox="1"/>
          <p:nvPr/>
        </p:nvSpPr>
        <p:spPr>
          <a:xfrm>
            <a:off x="2724912" y="118872"/>
            <a:ext cx="713232" cy="256032"/>
          </a:xfrm>
          <a:prstGeom prst="rect">
            <a:avLst/>
          </a:prstGeom>
          <a:noFill/>
          <a:ln/>
        </p:spPr>
        <p:txBody>
          <a:bodyPr wrap="square" lIns="0" tIns="0" rIns="0" bIns="0" rtlCol="0" anchor="ctr"/>
          <a:lstStyle/>
          <a:p>
            <a:pPr algn="ctr" indent="0" marL="0">
              <a:buNone/>
            </a:pPr>
            <a:r>
              <a:rPr lang="en-US" sz="1050" dirty="0">
                <a:solidFill>
                  <a:srgbClr val="5F6772"/>
                </a:solidFill>
              </a:rPr>
              <a:t>Method</a:t>
            </a:r>
            <a:endParaRPr lang="en-US" sz="1050" dirty="0"/>
          </a:p>
        </p:txBody>
      </p:sp>
      <p:sp>
        <p:nvSpPr>
          <p:cNvPr id="10" name="nav-link-Method">
            <a:hlinkClick r:id="rId4" tooltip="Go to Method" action="ppaction://hlinksldjump"/>
          </p:cNvPr>
          <p:cNvSpPr/>
          <p:nvPr/>
        </p:nvSpPr>
        <p:spPr>
          <a:xfrm>
            <a:off x="2724912" y="118872"/>
            <a:ext cx="713232" cy="256032"/>
          </a:xfrm>
          <a:prstGeom prst="rect">
            <a:avLst/>
          </a:prstGeom>
          <a:solidFill>
            <a:srgbClr val="FFFFFF">
              <a:alpha val="0"/>
            </a:srgbClr>
          </a:solidFill>
          <a:ln/>
        </p:spPr>
      </p:sp>
      <p:sp>
        <p:nvSpPr>
          <p:cNvPr id="11" name="nav-Results"/>
          <p:cNvSpPr txBox="1"/>
          <p:nvPr/>
        </p:nvSpPr>
        <p:spPr>
          <a:xfrm>
            <a:off x="3493008" y="118872"/>
            <a:ext cx="731520" cy="256032"/>
          </a:xfrm>
          <a:prstGeom prst="rect">
            <a:avLst/>
          </a:prstGeom>
          <a:noFill/>
          <a:ln/>
        </p:spPr>
        <p:txBody>
          <a:bodyPr wrap="square" lIns="0" tIns="0" rIns="0" bIns="0" rtlCol="0" anchor="ctr"/>
          <a:lstStyle/>
          <a:p>
            <a:pPr algn="ctr" indent="0" marL="0">
              <a:buNone/>
            </a:pPr>
            <a:r>
              <a:rPr lang="en-US" sz="1050" dirty="0">
                <a:solidFill>
                  <a:srgbClr val="5F6772"/>
                </a:solidFill>
              </a:rPr>
              <a:t>Results</a:t>
            </a:r>
            <a:endParaRPr lang="en-US" sz="1050" dirty="0"/>
          </a:p>
        </p:txBody>
      </p:sp>
      <p:sp>
        <p:nvSpPr>
          <p:cNvPr id="12" name="nav-link-Results">
            <a:hlinkClick r:id="rId5" tooltip="Go to Results" action="ppaction://hlinksldjump"/>
          </p:cNvPr>
          <p:cNvSpPr/>
          <p:nvPr/>
        </p:nvSpPr>
        <p:spPr>
          <a:xfrm>
            <a:off x="3493008" y="118872"/>
            <a:ext cx="731520" cy="256032"/>
          </a:xfrm>
          <a:prstGeom prst="rect">
            <a:avLst/>
          </a:prstGeom>
          <a:solidFill>
            <a:srgbClr val="FFFFFF">
              <a:alpha val="0"/>
            </a:srgbClr>
          </a:solidFill>
          <a:ln/>
        </p:spPr>
      </p:sp>
      <p:sp>
        <p:nvSpPr>
          <p:cNvPr id="13" name="nav-Wrap-up"/>
          <p:cNvSpPr txBox="1"/>
          <p:nvPr/>
        </p:nvSpPr>
        <p:spPr>
          <a:xfrm>
            <a:off x="4279392" y="118872"/>
            <a:ext cx="786384" cy="256032"/>
          </a:xfrm>
          <a:prstGeom prst="rect">
            <a:avLst/>
          </a:prstGeom>
          <a:noFill/>
          <a:ln/>
        </p:spPr>
        <p:txBody>
          <a:bodyPr wrap="square" lIns="0" tIns="0" rIns="0" bIns="0" rtlCol="0" anchor="ctr"/>
          <a:lstStyle/>
          <a:p>
            <a:pPr algn="ctr" indent="0" marL="0">
              <a:buNone/>
            </a:pPr>
            <a:r>
              <a:rPr lang="en-US" sz="1050" dirty="0">
                <a:solidFill>
                  <a:srgbClr val="5F6772"/>
                </a:solidFill>
              </a:rPr>
              <a:t>Wrap-up</a:t>
            </a:r>
            <a:endParaRPr lang="en-US" sz="1050" dirty="0"/>
          </a:p>
        </p:txBody>
      </p:sp>
      <p:sp>
        <p:nvSpPr>
          <p:cNvPr id="14" name="nav-link-Wrap-up">
            <a:hlinkClick r:id="rId6" tooltip="Go to Wrap-up" action="ppaction://hlinksldjump"/>
          </p:cNvPr>
          <p:cNvSpPr/>
          <p:nvPr/>
        </p:nvSpPr>
        <p:spPr>
          <a:xfrm>
            <a:off x="4279392" y="118872"/>
            <a:ext cx="786384" cy="256032"/>
          </a:xfrm>
          <a:prstGeom prst="rect">
            <a:avLst/>
          </a:prstGeom>
          <a:solidFill>
            <a:srgbClr val="FFFFFF">
              <a:alpha val="0"/>
            </a:srgbClr>
          </a:solidFill>
          <a:ln/>
        </p:spPr>
      </p:sp>
      <p:sp>
        <p:nvSpPr>
          <p:cNvPr id="15" name="nav-Appendix"/>
          <p:cNvSpPr txBox="1"/>
          <p:nvPr/>
        </p:nvSpPr>
        <p:spPr>
          <a:xfrm>
            <a:off x="5120640" y="118872"/>
            <a:ext cx="859536" cy="256032"/>
          </a:xfrm>
          <a:prstGeom prst="rect">
            <a:avLst/>
          </a:prstGeom>
          <a:noFill/>
          <a:ln/>
        </p:spPr>
        <p:txBody>
          <a:bodyPr wrap="square" lIns="0" tIns="0" rIns="0" bIns="0" rtlCol="0" anchor="ctr"/>
          <a:lstStyle/>
          <a:p>
            <a:pPr algn="ctr" indent="0" marL="0">
              <a:buNone/>
            </a:pPr>
            <a:r>
              <a:rPr lang="en-US" sz="1050" dirty="0">
                <a:solidFill>
                  <a:srgbClr val="5F6772"/>
                </a:solidFill>
              </a:rPr>
              <a:t>Appendix</a:t>
            </a:r>
            <a:endParaRPr lang="en-US" sz="1050" dirty="0"/>
          </a:p>
        </p:txBody>
      </p:sp>
      <p:sp>
        <p:nvSpPr>
          <p:cNvPr id="16" name="nav-link-Appendix">
            <a:hlinkClick r:id="rId7" tooltip="Go to Appendix" action="ppaction://hlinksldjump"/>
          </p:cNvPr>
          <p:cNvSpPr/>
          <p:nvPr/>
        </p:nvSpPr>
        <p:spPr>
          <a:xfrm>
            <a:off x="5120640" y="118872"/>
            <a:ext cx="859536" cy="256032"/>
          </a:xfrm>
          <a:prstGeom prst="rect">
            <a:avLst/>
          </a:prstGeom>
          <a:solidFill>
            <a:srgbClr val="FFFFFF">
              <a:alpha val="0"/>
            </a:srgbClr>
          </a:solidFill>
          <a:ln/>
        </p:spPr>
      </p:sp>
      <p:sp>
        <p:nvSpPr>
          <p:cNvPr id="17" name="Text 0"/>
          <p:cNvSpPr/>
          <p:nvPr>
            <p:ph idx="100" type="title" hasCustomPrompt="1"/>
          </p:nvPr>
        </p:nvSpPr>
        <p:spPr>
          <a:xfrm>
            <a:off x="457200" y="475488"/>
            <a:ext cx="8229600" cy="777240"/>
          </a:xfrm>
          <a:prstGeom prst="rect">
            <a:avLst/>
          </a:prstGeom>
          <a:noFill/>
          <a:ln/>
        </p:spPr>
        <p:txBody>
          <a:bodyPr wrap="square" lIns="0" tIns="0" rIns="0" bIns="0" rtlCol="0" anchor="t"/>
          <a:lstStyle/>
          <a:p>
            <a:pPr algn="l" indent="0" marL="0">
              <a:buNone/>
            </a:pPr>
            <a:r>
              <a:rPr lang="en-US" sz="2200" b="1" dirty="0">
                <a:solidFill>
                  <a:schemeClr val="tx1"/>
                </a:solidFill>
              </a:rPr>
              <a:t>About 6% of sampled trips are broken or unknown, and one shared cleaning function removes them from every month</a:t>
            </a:r>
            <a:endParaRPr lang="en-US" sz="2200" dirty="0"/>
          </a:p>
        </p:txBody>
      </p:sp>
      <p:graphicFrame>
        <p:nvGraphicFramePr>
          <p:cNvPr id="18" name="chart-cleaning" descr=""/>
          <p:cNvGraphicFramePr/>
          <p:nvPr/>
        </p:nvGraphicFramePr>
        <p:xfrm>
          <a:off x="365760" y="1417320"/>
          <a:ext cx="5120640" cy="3200400"/>
        </p:xfrm>
        <a:graphic xmlns:a="http://schemas.openxmlformats.org/drawingml/2006/main">
          <a:graphicData uri="http://schemas.openxmlformats.org/drawingml/2006/chart">
            <c:chart xmlns:c="http://schemas.openxmlformats.org/drawingml/2006/chart" r:id="rId8"/>
          </a:graphicData>
        </a:graphic>
      </p:graphicFrame>
      <p:sp>
        <p:nvSpPr>
          <p:cNvPr id="19" name="clean-stat-card"/>
          <p:cNvSpPr/>
          <p:nvPr/>
        </p:nvSpPr>
        <p:spPr>
          <a:xfrm>
            <a:off x="5760720" y="1463040"/>
            <a:ext cx="2926080" cy="960120"/>
          </a:xfrm>
          <a:prstGeom prst="roundRect">
            <a:avLst>
              <a:gd name="adj" fmla="val 7619"/>
            </a:avLst>
          </a:prstGeom>
          <a:solidFill>
            <a:srgbClr val="F2B705"/>
          </a:solidFill>
          <a:ln/>
        </p:spPr>
      </p:sp>
      <p:sp>
        <p:nvSpPr>
          <p:cNvPr id="20" name="clean-stat"/>
          <p:cNvSpPr txBox="1"/>
          <p:nvPr/>
        </p:nvSpPr>
        <p:spPr>
          <a:xfrm>
            <a:off x="5897880" y="1517904"/>
            <a:ext cx="1325880" cy="822960"/>
          </a:xfrm>
          <a:prstGeom prst="rect">
            <a:avLst/>
          </a:prstGeom>
          <a:noFill/>
          <a:ln/>
        </p:spPr>
        <p:txBody>
          <a:bodyPr wrap="square" lIns="0" tIns="0" rIns="0" bIns="0" rtlCol="0" anchor="ctr"/>
          <a:lstStyle/>
          <a:p>
            <a:pPr indent="0" marL="0">
              <a:buNone/>
            </a:pPr>
            <a:r>
              <a:rPr lang="en-US" sz="2800" b="1" dirty="0">
                <a:solidFill>
                  <a:schemeClr val="tx1"/>
                </a:solidFill>
              </a:rPr>
              <a:t>5.96%</a:t>
            </a:r>
            <a:endParaRPr lang="en-US" sz="2800" dirty="0"/>
          </a:p>
        </p:txBody>
      </p:sp>
      <p:sp>
        <p:nvSpPr>
          <p:cNvPr id="21" name="clean-stat-label"/>
          <p:cNvSpPr txBox="1"/>
          <p:nvPr/>
        </p:nvSpPr>
        <p:spPr>
          <a:xfrm>
            <a:off x="7223760" y="1517904"/>
            <a:ext cx="1371600" cy="822960"/>
          </a:xfrm>
          <a:prstGeom prst="rect">
            <a:avLst/>
          </a:prstGeom>
          <a:noFill/>
          <a:ln/>
        </p:spPr>
        <p:txBody>
          <a:bodyPr wrap="square" lIns="0" tIns="0" rIns="0" bIns="0" rtlCol="0" anchor="ctr"/>
          <a:lstStyle/>
          <a:p>
            <a:pPr indent="0" marL="0">
              <a:buNone/>
            </a:pPr>
            <a:r>
              <a:rPr lang="en-US" sz="1150" dirty="0">
                <a:solidFill>
                  <a:schemeClr val="tx1"/>
                </a:solidFill>
              </a:rPr>
              <a:t>removed: 3.4% in 2019, 6.3–8.1% in 2020–2023</a:t>
            </a:r>
            <a:endParaRPr lang="en-US" sz="1150" dirty="0"/>
          </a:p>
        </p:txBody>
      </p:sp>
      <p:sp>
        <p:nvSpPr>
          <p:cNvPr id="22" name="clean-bullets"/>
          <p:cNvSpPr txBox="1"/>
          <p:nvPr/>
        </p:nvSpPr>
        <p:spPr>
          <a:xfrm>
            <a:off x="5760720" y="2651760"/>
            <a:ext cx="2926080" cy="1920240"/>
          </a:xfrm>
          <a:prstGeom prst="rect">
            <a:avLst/>
          </a:prstGeom>
          <a:noFill/>
          <a:ln/>
        </p:spPr>
        <p:txBody>
          <a:bodyPr wrap="square" lIns="0" tIns="0" rIns="0" bIns="0" rtlCol="0" anchor="t"/>
          <a:lstStyle/>
          <a:p>
            <a:pPr marL="177800" indent="-177800">
              <a:spcAft>
                <a:spcPts val="900"/>
              </a:spcAft>
              <a:buSzPct val="100000"/>
              <a:buChar char="•"/>
            </a:pPr>
            <a:r>
              <a:rPr lang="en-US" sz="1400" dirty="0">
                <a:solidFill>
                  <a:schemeClr val="tx1"/>
                </a:solidFill>
              </a:rPr>
              <a:t>Missing meter records drive the rise after 2019 (17% of trips in May 2020)</a:t>
            </a:r>
            <a:endParaRPr lang="en-US" sz="1400" dirty="0"/>
          </a:p>
          <a:p>
            <a:pPr marL="177800" indent="-177800">
              <a:spcAft>
                <a:spcPts val="900"/>
              </a:spcAft>
              <a:buSzPct val="100000"/>
              <a:buChar char="•"/>
            </a:pPr>
            <a:r>
              <a:rPr lang="en-US" sz="1400" dirty="0">
                <a:solidFill>
                  <a:schemeClr val="tx1"/>
                </a:solidFill>
              </a:rPr>
              <a:t>The same clean_trips() runs on all 59 months</a:t>
            </a:r>
            <a:endParaRPr lang="en-US" sz="1400" dirty="0"/>
          </a:p>
          <a:p>
            <a:pPr marL="177800" indent="-177800">
              <a:spcAft>
                <a:spcPts val="900"/>
              </a:spcAft>
              <a:buSzPct val="100000"/>
              <a:buChar char="•"/>
            </a:pPr>
            <a:r>
              <a:rPr lang="en-US" sz="1400" dirty="0">
                <a:solidFill>
                  <a:schemeClr val="tx1"/>
                </a:solidFill>
              </a:rPr>
              <a:t>Thresholds drop broken records, not rare but real trips</a:t>
            </a:r>
            <a:endParaRPr lang="en-US" sz="1400" dirty="0"/>
          </a:p>
        </p:txBody>
      </p:sp>
      <p:sp>
        <p:nvSpPr>
          <p:cNvPr id="23" name="citation"/>
          <p:cNvSpPr txBox="1"/>
          <p:nvPr/>
        </p:nvSpPr>
        <p:spPr>
          <a:xfrm>
            <a:off x="457200" y="4754880"/>
            <a:ext cx="7680960" cy="256032"/>
          </a:xfrm>
          <a:prstGeom prst="rect">
            <a:avLst/>
          </a:prstGeom>
          <a:noFill/>
          <a:ln/>
        </p:spPr>
        <p:txBody>
          <a:bodyPr wrap="square" lIns="0" tIns="0" rIns="0" bIns="0" rtlCol="0" anchor="ctr"/>
          <a:lstStyle/>
          <a:p>
            <a:pPr indent="0" marL="0">
              <a:buNone/>
            </a:pPr>
            <a:r>
              <a:rPr lang="en-US" sz="1050" dirty="0">
                <a:solidFill>
                  <a:srgbClr val="5F6772"/>
                </a:solidFill>
              </a:rPr>
              <a:t>1% random sample of every month, 2,178,800 trips before cleaning. Source: NYC TLC (2019–2023). Full rule list: Appendix E.</a:t>
            </a:r>
            <a:endParaRPr lang="en-US" sz="1050" dirty="0"/>
          </a:p>
        </p:txBody>
      </p:sp>
      <p:sp>
        <p:nvSpPr>
          <p:cNvPr id="25" name="Slide Number Placeholder 0"/>
          <p:cNvSpPr>
            <a:spLocks noGrp="1"/>
          </p:cNvSpPr>
          <p:nvPr>
            <p:ph type="sldNum" sz="quarter" idx="4294967295"/>
          </p:nvPr>
        </p:nvSpPr>
        <p:spPr>
          <a:xfrm>
            <a:off x="8275320" y="4754880"/>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77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nav-Agenda"/>
          <p:cNvSpPr txBox="1"/>
          <p:nvPr/>
        </p:nvSpPr>
        <p:spPr>
          <a:xfrm>
            <a:off x="457200" y="118872"/>
            <a:ext cx="713232" cy="256032"/>
          </a:xfrm>
          <a:prstGeom prst="rect">
            <a:avLst/>
          </a:prstGeom>
          <a:noFill/>
          <a:ln/>
        </p:spPr>
        <p:txBody>
          <a:bodyPr wrap="square" lIns="0" tIns="0" rIns="0" bIns="0" rtlCol="0" anchor="ctr"/>
          <a:lstStyle/>
          <a:p>
            <a:pPr algn="ctr" indent="0" marL="0">
              <a:buNone/>
            </a:pPr>
            <a:r>
              <a:rPr lang="en-US" sz="1050" dirty="0">
                <a:solidFill>
                  <a:srgbClr val="5F6772"/>
                </a:solidFill>
              </a:rPr>
              <a:t>Agenda</a:t>
            </a:r>
            <a:endParaRPr lang="en-US" sz="1050" dirty="0"/>
          </a:p>
        </p:txBody>
      </p:sp>
      <p:sp>
        <p:nvSpPr>
          <p:cNvPr id="3" name="nav-link-Agenda">
            <a:hlinkClick r:id="rId1" tooltip="Go to Agenda" action="ppaction://hlinksldjump"/>
          </p:cNvPr>
          <p:cNvSpPr/>
          <p:nvPr/>
        </p:nvSpPr>
        <p:spPr>
          <a:xfrm>
            <a:off x="457200" y="118872"/>
            <a:ext cx="713232" cy="256032"/>
          </a:xfrm>
          <a:prstGeom prst="rect">
            <a:avLst/>
          </a:prstGeom>
          <a:solidFill>
            <a:srgbClr val="FFFFFF">
              <a:alpha val="0"/>
            </a:srgbClr>
          </a:solidFill>
          <a:ln/>
        </p:spPr>
      </p:sp>
      <p:sp>
        <p:nvSpPr>
          <p:cNvPr id="4" name="nav-Question"/>
          <p:cNvSpPr txBox="1"/>
          <p:nvPr/>
        </p:nvSpPr>
        <p:spPr>
          <a:xfrm>
            <a:off x="1225296" y="118872"/>
            <a:ext cx="822960" cy="256032"/>
          </a:xfrm>
          <a:prstGeom prst="rect">
            <a:avLst/>
          </a:prstGeom>
          <a:noFill/>
          <a:ln/>
        </p:spPr>
        <p:txBody>
          <a:bodyPr wrap="square" lIns="0" tIns="0" rIns="0" bIns="0" rtlCol="0" anchor="ctr"/>
          <a:lstStyle/>
          <a:p>
            <a:pPr algn="ctr" indent="0" marL="0">
              <a:buNone/>
            </a:pPr>
            <a:r>
              <a:rPr lang="en-US" sz="1050" dirty="0">
                <a:solidFill>
                  <a:srgbClr val="5F6772"/>
                </a:solidFill>
              </a:rPr>
              <a:t>Question</a:t>
            </a:r>
            <a:endParaRPr lang="en-US" sz="1050" dirty="0"/>
          </a:p>
        </p:txBody>
      </p:sp>
      <p:sp>
        <p:nvSpPr>
          <p:cNvPr id="5" name="nav-link-Question">
            <a:hlinkClick r:id="rId2" tooltip="Go to Question" action="ppaction://hlinksldjump"/>
          </p:cNvPr>
          <p:cNvSpPr/>
          <p:nvPr/>
        </p:nvSpPr>
        <p:spPr>
          <a:xfrm>
            <a:off x="1225296" y="118872"/>
            <a:ext cx="822960" cy="256032"/>
          </a:xfrm>
          <a:prstGeom prst="rect">
            <a:avLst/>
          </a:prstGeom>
          <a:solidFill>
            <a:srgbClr val="FFFFFF">
              <a:alpha val="0"/>
            </a:srgbClr>
          </a:solidFill>
          <a:ln/>
        </p:spPr>
      </p:sp>
      <p:sp>
        <p:nvSpPr>
          <p:cNvPr id="6" name="nav-pill-Data"/>
          <p:cNvSpPr/>
          <p:nvPr/>
        </p:nvSpPr>
        <p:spPr>
          <a:xfrm>
            <a:off x="2103120" y="118872"/>
            <a:ext cx="566928" cy="256032"/>
          </a:xfrm>
          <a:prstGeom prst="roundRect">
            <a:avLst>
              <a:gd name="adj" fmla="val 50000"/>
            </a:avLst>
          </a:prstGeom>
          <a:solidFill>
            <a:srgbClr val="F2B705"/>
          </a:solidFill>
          <a:ln w="6350">
            <a:solidFill>
              <a:srgbClr val="F2B705"/>
            </a:solidFill>
            <a:prstDash val="solid"/>
          </a:ln>
        </p:spPr>
      </p:sp>
      <p:sp>
        <p:nvSpPr>
          <p:cNvPr id="7" name="nav-Data"/>
          <p:cNvSpPr txBox="1"/>
          <p:nvPr/>
        </p:nvSpPr>
        <p:spPr>
          <a:xfrm>
            <a:off x="2103120" y="118872"/>
            <a:ext cx="566928" cy="256032"/>
          </a:xfrm>
          <a:prstGeom prst="rect">
            <a:avLst/>
          </a:prstGeom>
          <a:noFill/>
          <a:ln/>
        </p:spPr>
        <p:txBody>
          <a:bodyPr wrap="square" lIns="0" tIns="0" rIns="0" bIns="0" rtlCol="0" anchor="ctr"/>
          <a:lstStyle/>
          <a:p>
            <a:pPr algn="ctr" indent="0" marL="0">
              <a:buNone/>
            </a:pPr>
            <a:r>
              <a:rPr lang="en-US" sz="1050" b="1" dirty="0">
                <a:solidFill>
                  <a:schemeClr val="tx1"/>
                </a:solidFill>
              </a:rPr>
              <a:t>Data</a:t>
            </a:r>
            <a:endParaRPr lang="en-US" sz="1050" dirty="0"/>
          </a:p>
        </p:txBody>
      </p:sp>
      <p:sp>
        <p:nvSpPr>
          <p:cNvPr id="8" name="nav-link-Data">
            <a:hlinkClick r:id="rId3" tooltip="Go to Data" action="ppaction://hlinksldjump"/>
          </p:cNvPr>
          <p:cNvSpPr/>
          <p:nvPr/>
        </p:nvSpPr>
        <p:spPr>
          <a:xfrm>
            <a:off x="2103120" y="118872"/>
            <a:ext cx="566928" cy="256032"/>
          </a:xfrm>
          <a:prstGeom prst="rect">
            <a:avLst/>
          </a:prstGeom>
          <a:solidFill>
            <a:srgbClr val="FFFFFF">
              <a:alpha val="0"/>
            </a:srgbClr>
          </a:solidFill>
          <a:ln/>
        </p:spPr>
      </p:sp>
      <p:sp>
        <p:nvSpPr>
          <p:cNvPr id="9" name="nav-Method"/>
          <p:cNvSpPr txBox="1"/>
          <p:nvPr/>
        </p:nvSpPr>
        <p:spPr>
          <a:xfrm>
            <a:off x="2724912" y="118872"/>
            <a:ext cx="713232" cy="256032"/>
          </a:xfrm>
          <a:prstGeom prst="rect">
            <a:avLst/>
          </a:prstGeom>
          <a:noFill/>
          <a:ln/>
        </p:spPr>
        <p:txBody>
          <a:bodyPr wrap="square" lIns="0" tIns="0" rIns="0" bIns="0" rtlCol="0" anchor="ctr"/>
          <a:lstStyle/>
          <a:p>
            <a:pPr algn="ctr" indent="0" marL="0">
              <a:buNone/>
            </a:pPr>
            <a:r>
              <a:rPr lang="en-US" sz="1050" dirty="0">
                <a:solidFill>
                  <a:srgbClr val="5F6772"/>
                </a:solidFill>
              </a:rPr>
              <a:t>Method</a:t>
            </a:r>
            <a:endParaRPr lang="en-US" sz="1050" dirty="0"/>
          </a:p>
        </p:txBody>
      </p:sp>
      <p:sp>
        <p:nvSpPr>
          <p:cNvPr id="10" name="nav-link-Method">
            <a:hlinkClick r:id="rId4" tooltip="Go to Method" action="ppaction://hlinksldjump"/>
          </p:cNvPr>
          <p:cNvSpPr/>
          <p:nvPr/>
        </p:nvSpPr>
        <p:spPr>
          <a:xfrm>
            <a:off x="2724912" y="118872"/>
            <a:ext cx="713232" cy="256032"/>
          </a:xfrm>
          <a:prstGeom prst="rect">
            <a:avLst/>
          </a:prstGeom>
          <a:solidFill>
            <a:srgbClr val="FFFFFF">
              <a:alpha val="0"/>
            </a:srgbClr>
          </a:solidFill>
          <a:ln/>
        </p:spPr>
      </p:sp>
      <p:sp>
        <p:nvSpPr>
          <p:cNvPr id="11" name="nav-Results"/>
          <p:cNvSpPr txBox="1"/>
          <p:nvPr/>
        </p:nvSpPr>
        <p:spPr>
          <a:xfrm>
            <a:off x="3493008" y="118872"/>
            <a:ext cx="731520" cy="256032"/>
          </a:xfrm>
          <a:prstGeom prst="rect">
            <a:avLst/>
          </a:prstGeom>
          <a:noFill/>
          <a:ln/>
        </p:spPr>
        <p:txBody>
          <a:bodyPr wrap="square" lIns="0" tIns="0" rIns="0" bIns="0" rtlCol="0" anchor="ctr"/>
          <a:lstStyle/>
          <a:p>
            <a:pPr algn="ctr" indent="0" marL="0">
              <a:buNone/>
            </a:pPr>
            <a:r>
              <a:rPr lang="en-US" sz="1050" dirty="0">
                <a:solidFill>
                  <a:srgbClr val="5F6772"/>
                </a:solidFill>
              </a:rPr>
              <a:t>Results</a:t>
            </a:r>
            <a:endParaRPr lang="en-US" sz="1050" dirty="0"/>
          </a:p>
        </p:txBody>
      </p:sp>
      <p:sp>
        <p:nvSpPr>
          <p:cNvPr id="12" name="nav-link-Results">
            <a:hlinkClick r:id="rId5" tooltip="Go to Results" action="ppaction://hlinksldjump"/>
          </p:cNvPr>
          <p:cNvSpPr/>
          <p:nvPr/>
        </p:nvSpPr>
        <p:spPr>
          <a:xfrm>
            <a:off x="3493008" y="118872"/>
            <a:ext cx="731520" cy="256032"/>
          </a:xfrm>
          <a:prstGeom prst="rect">
            <a:avLst/>
          </a:prstGeom>
          <a:solidFill>
            <a:srgbClr val="FFFFFF">
              <a:alpha val="0"/>
            </a:srgbClr>
          </a:solidFill>
          <a:ln/>
        </p:spPr>
      </p:sp>
      <p:sp>
        <p:nvSpPr>
          <p:cNvPr id="13" name="nav-Wrap-up"/>
          <p:cNvSpPr txBox="1"/>
          <p:nvPr/>
        </p:nvSpPr>
        <p:spPr>
          <a:xfrm>
            <a:off x="4279392" y="118872"/>
            <a:ext cx="786384" cy="256032"/>
          </a:xfrm>
          <a:prstGeom prst="rect">
            <a:avLst/>
          </a:prstGeom>
          <a:noFill/>
          <a:ln/>
        </p:spPr>
        <p:txBody>
          <a:bodyPr wrap="square" lIns="0" tIns="0" rIns="0" bIns="0" rtlCol="0" anchor="ctr"/>
          <a:lstStyle/>
          <a:p>
            <a:pPr algn="ctr" indent="0" marL="0">
              <a:buNone/>
            </a:pPr>
            <a:r>
              <a:rPr lang="en-US" sz="1050" dirty="0">
                <a:solidFill>
                  <a:srgbClr val="5F6772"/>
                </a:solidFill>
              </a:rPr>
              <a:t>Wrap-up</a:t>
            </a:r>
            <a:endParaRPr lang="en-US" sz="1050" dirty="0"/>
          </a:p>
        </p:txBody>
      </p:sp>
      <p:sp>
        <p:nvSpPr>
          <p:cNvPr id="14" name="nav-link-Wrap-up">
            <a:hlinkClick r:id="rId6" tooltip="Go to Wrap-up" action="ppaction://hlinksldjump"/>
          </p:cNvPr>
          <p:cNvSpPr/>
          <p:nvPr/>
        </p:nvSpPr>
        <p:spPr>
          <a:xfrm>
            <a:off x="4279392" y="118872"/>
            <a:ext cx="786384" cy="256032"/>
          </a:xfrm>
          <a:prstGeom prst="rect">
            <a:avLst/>
          </a:prstGeom>
          <a:solidFill>
            <a:srgbClr val="FFFFFF">
              <a:alpha val="0"/>
            </a:srgbClr>
          </a:solidFill>
          <a:ln/>
        </p:spPr>
      </p:sp>
      <p:sp>
        <p:nvSpPr>
          <p:cNvPr id="15" name="nav-Appendix"/>
          <p:cNvSpPr txBox="1"/>
          <p:nvPr/>
        </p:nvSpPr>
        <p:spPr>
          <a:xfrm>
            <a:off x="5120640" y="118872"/>
            <a:ext cx="859536" cy="256032"/>
          </a:xfrm>
          <a:prstGeom prst="rect">
            <a:avLst/>
          </a:prstGeom>
          <a:noFill/>
          <a:ln/>
        </p:spPr>
        <p:txBody>
          <a:bodyPr wrap="square" lIns="0" tIns="0" rIns="0" bIns="0" rtlCol="0" anchor="ctr"/>
          <a:lstStyle/>
          <a:p>
            <a:pPr algn="ctr" indent="0" marL="0">
              <a:buNone/>
            </a:pPr>
            <a:r>
              <a:rPr lang="en-US" sz="1050" dirty="0">
                <a:solidFill>
                  <a:srgbClr val="5F6772"/>
                </a:solidFill>
              </a:rPr>
              <a:t>Appendix</a:t>
            </a:r>
            <a:endParaRPr lang="en-US" sz="1050" dirty="0"/>
          </a:p>
        </p:txBody>
      </p:sp>
      <p:sp>
        <p:nvSpPr>
          <p:cNvPr id="16" name="nav-link-Appendix">
            <a:hlinkClick r:id="rId7" tooltip="Go to Appendix" action="ppaction://hlinksldjump"/>
          </p:cNvPr>
          <p:cNvSpPr/>
          <p:nvPr/>
        </p:nvSpPr>
        <p:spPr>
          <a:xfrm>
            <a:off x="5120640" y="118872"/>
            <a:ext cx="859536" cy="256032"/>
          </a:xfrm>
          <a:prstGeom prst="rect">
            <a:avLst/>
          </a:prstGeom>
          <a:solidFill>
            <a:srgbClr val="FFFFFF">
              <a:alpha val="0"/>
            </a:srgbClr>
          </a:solidFill>
          <a:ln/>
        </p:spPr>
      </p:sp>
      <p:sp>
        <p:nvSpPr>
          <p:cNvPr id="17" name="Text 0"/>
          <p:cNvSpPr/>
          <p:nvPr>
            <p:ph idx="100" type="title" hasCustomPrompt="1"/>
          </p:nvPr>
        </p:nvSpPr>
        <p:spPr>
          <a:xfrm>
            <a:off x="457200" y="475488"/>
            <a:ext cx="8229600" cy="777240"/>
          </a:xfrm>
          <a:prstGeom prst="rect">
            <a:avLst/>
          </a:prstGeom>
          <a:noFill/>
          <a:ln/>
        </p:spPr>
        <p:txBody>
          <a:bodyPr wrap="square" lIns="0" tIns="0" rIns="0" bIns="0" rtlCol="0" anchor="t"/>
          <a:lstStyle/>
          <a:p>
            <a:pPr algn="l" indent="0" marL="0">
              <a:buNone/>
            </a:pPr>
            <a:r>
              <a:rPr lang="en-US" sz="2200" b="1" dirty="0">
                <a:solidFill>
                  <a:schemeClr val="tx1"/>
                </a:solidFill>
              </a:rPr>
              <a:t>Four steps turn 3.3 GB of monthly files into a 2-million-trip sample in under a minute</a:t>
            </a:r>
            <a:endParaRPr lang="en-US" sz="2200" dirty="0"/>
          </a:p>
        </p:txBody>
      </p:sp>
      <p:sp>
        <p:nvSpPr>
          <p:cNvPr id="18" name="step-card-1"/>
          <p:cNvSpPr/>
          <p:nvPr/>
        </p:nvSpPr>
        <p:spPr>
          <a:xfrm>
            <a:off x="457200" y="1444752"/>
            <a:ext cx="1874520" cy="1783080"/>
          </a:xfrm>
          <a:prstGeom prst="roundRect">
            <a:avLst>
              <a:gd name="adj" fmla="val 4103"/>
            </a:avLst>
          </a:prstGeom>
          <a:solidFill>
            <a:srgbClr val="F1F3F5"/>
          </a:solidFill>
          <a:ln/>
        </p:spPr>
      </p:sp>
      <p:sp>
        <p:nvSpPr>
          <p:cNvPr id="19" name="step-num-1"/>
          <p:cNvSpPr txBox="1"/>
          <p:nvPr/>
        </p:nvSpPr>
        <p:spPr>
          <a:xfrm>
            <a:off x="594360" y="1554480"/>
            <a:ext cx="329184" cy="329184"/>
          </a:xfrm>
          <a:prstGeom prst="ellipse">
            <a:avLst/>
          </a:prstGeom>
          <a:solidFill>
            <a:srgbClr val="232A33"/>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0" name="step-title-1"/>
          <p:cNvSpPr txBox="1"/>
          <p:nvPr/>
        </p:nvSpPr>
        <p:spPr>
          <a:xfrm>
            <a:off x="1005840" y="1554480"/>
            <a:ext cx="1234440" cy="329184"/>
          </a:xfrm>
          <a:prstGeom prst="rect">
            <a:avLst/>
          </a:prstGeom>
          <a:noFill/>
          <a:ln/>
        </p:spPr>
        <p:txBody>
          <a:bodyPr wrap="square" lIns="0" tIns="0" rIns="0" bIns="0" rtlCol="0" anchor="ctr"/>
          <a:lstStyle/>
          <a:p>
            <a:pPr indent="0" marL="0">
              <a:buNone/>
            </a:pPr>
            <a:r>
              <a:rPr lang="en-US" sz="1400" b="1" dirty="0">
                <a:solidFill>
                  <a:schemeClr val="tx1"/>
                </a:solidFill>
              </a:rPr>
              <a:t>Check files</a:t>
            </a:r>
            <a:endParaRPr lang="en-US" sz="1400" dirty="0"/>
          </a:p>
        </p:txBody>
      </p:sp>
      <p:sp>
        <p:nvSpPr>
          <p:cNvPr id="21" name="step-desc-1"/>
          <p:cNvSpPr txBox="1"/>
          <p:nvPr/>
        </p:nvSpPr>
        <p:spPr>
          <a:xfrm>
            <a:off x="594360" y="1993392"/>
            <a:ext cx="1600200" cy="749808"/>
          </a:xfrm>
          <a:prstGeom prst="rect">
            <a:avLst/>
          </a:prstGeom>
          <a:noFill/>
          <a:ln/>
        </p:spPr>
        <p:txBody>
          <a:bodyPr wrap="square" lIns="0" tIns="0" rIns="0" bIns="0" rtlCol="0" anchor="t"/>
          <a:lstStyle/>
          <a:p>
            <a:pPr indent="0" marL="0">
              <a:buNone/>
            </a:pPr>
            <a:r>
              <a:rPr lang="en-US" sz="1200" dirty="0">
                <a:solidFill>
                  <a:schemeClr val="tx1"/>
                </a:solidFill>
              </a:rPr>
              <a:t>Read Parquet footers: rows, columns, types; finds 3 schemas</a:t>
            </a:r>
            <a:endParaRPr lang="en-US" sz="1200" dirty="0"/>
          </a:p>
        </p:txBody>
      </p:sp>
      <p:sp>
        <p:nvSpPr>
          <p:cNvPr id="22" name="step-time-1"/>
          <p:cNvSpPr txBox="1"/>
          <p:nvPr/>
        </p:nvSpPr>
        <p:spPr>
          <a:xfrm>
            <a:off x="594360" y="2816352"/>
            <a:ext cx="1097280" cy="274320"/>
          </a:xfrm>
          <a:prstGeom prst="roundRect">
            <a:avLst>
              <a:gd name="adj" fmla="val 50000"/>
            </a:avLst>
          </a:prstGeom>
          <a:solidFill>
            <a:srgbClr val="F2B705"/>
          </a:solidFill>
          <a:ln/>
        </p:spPr>
        <p:txBody>
          <a:bodyPr wrap="square" lIns="0" tIns="0" rIns="0" bIns="0" rtlCol="0" anchor="ctr"/>
          <a:lstStyle/>
          <a:p>
            <a:pPr algn="ctr" indent="0" marL="0">
              <a:buNone/>
            </a:pPr>
            <a:r>
              <a:rPr lang="en-US" sz="1100" b="1" dirty="0">
                <a:solidFill>
                  <a:schemeClr val="tx1"/>
                </a:solidFill>
              </a:rPr>
              <a:t>instant</a:t>
            </a:r>
            <a:endParaRPr lang="en-US" sz="1100" dirty="0"/>
          </a:p>
        </p:txBody>
      </p:sp>
      <p:sp>
        <p:nvSpPr>
          <p:cNvPr id="23" name="step-arrow-1"/>
          <p:cNvSpPr/>
          <p:nvPr/>
        </p:nvSpPr>
        <p:spPr>
          <a:xfrm>
            <a:off x="2368296" y="2212848"/>
            <a:ext cx="173736" cy="237744"/>
          </a:xfrm>
          <a:prstGeom prst="rightArrow">
            <a:avLst/>
          </a:prstGeom>
          <a:solidFill>
            <a:srgbClr val="4B5563"/>
          </a:solidFill>
          <a:ln/>
        </p:spPr>
      </p:sp>
      <p:sp>
        <p:nvSpPr>
          <p:cNvPr id="24" name="step-card-2"/>
          <p:cNvSpPr/>
          <p:nvPr/>
        </p:nvSpPr>
        <p:spPr>
          <a:xfrm>
            <a:off x="2575865" y="1444752"/>
            <a:ext cx="1874520" cy="1783080"/>
          </a:xfrm>
          <a:prstGeom prst="roundRect">
            <a:avLst>
              <a:gd name="adj" fmla="val 4103"/>
            </a:avLst>
          </a:prstGeom>
          <a:solidFill>
            <a:srgbClr val="F1F3F5"/>
          </a:solidFill>
          <a:ln/>
        </p:spPr>
      </p:sp>
      <p:sp>
        <p:nvSpPr>
          <p:cNvPr id="25" name="step-num-2"/>
          <p:cNvSpPr txBox="1"/>
          <p:nvPr/>
        </p:nvSpPr>
        <p:spPr>
          <a:xfrm>
            <a:off x="2713025" y="1554480"/>
            <a:ext cx="329184" cy="329184"/>
          </a:xfrm>
          <a:prstGeom prst="ellipse">
            <a:avLst/>
          </a:prstGeom>
          <a:solidFill>
            <a:srgbClr val="232A33"/>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6" name="step-title-2"/>
          <p:cNvSpPr txBox="1"/>
          <p:nvPr/>
        </p:nvSpPr>
        <p:spPr>
          <a:xfrm>
            <a:off x="3124505" y="1554480"/>
            <a:ext cx="1234440" cy="329184"/>
          </a:xfrm>
          <a:prstGeom prst="rect">
            <a:avLst/>
          </a:prstGeom>
          <a:noFill/>
          <a:ln/>
        </p:spPr>
        <p:txBody>
          <a:bodyPr wrap="square" lIns="0" tIns="0" rIns="0" bIns="0" rtlCol="0" anchor="ctr"/>
          <a:lstStyle/>
          <a:p>
            <a:pPr indent="0" marL="0">
              <a:buNone/>
            </a:pPr>
            <a:r>
              <a:rPr lang="en-US" sz="1400" b="1" dirty="0">
                <a:solidFill>
                  <a:schemeClr val="tx1"/>
                </a:solidFill>
              </a:rPr>
              <a:t>Summarise</a:t>
            </a:r>
            <a:endParaRPr lang="en-US" sz="1400" dirty="0"/>
          </a:p>
        </p:txBody>
      </p:sp>
      <p:sp>
        <p:nvSpPr>
          <p:cNvPr id="27" name="step-desc-2"/>
          <p:cNvSpPr txBox="1"/>
          <p:nvPr/>
        </p:nvSpPr>
        <p:spPr>
          <a:xfrm>
            <a:off x="2713025" y="1993392"/>
            <a:ext cx="1600200" cy="749808"/>
          </a:xfrm>
          <a:prstGeom prst="rect">
            <a:avLst/>
          </a:prstGeom>
          <a:noFill/>
          <a:ln/>
        </p:spPr>
        <p:txBody>
          <a:bodyPr wrap="square" lIns="0" tIns="0" rIns="0" bIns="0" rtlCol="0" anchor="t"/>
          <a:lstStyle/>
          <a:p>
            <a:pPr indent="0" marL="0">
              <a:buNone/>
            </a:pPr>
            <a:r>
              <a:rPr lang="en-US" sz="1200" dirty="0">
                <a:solidFill>
                  <a:schemeClr val="tx1"/>
                </a:solidFill>
              </a:rPr>
              <a:t>DuckDB SQL over all 218 M trips, nothing loaded</a:t>
            </a:r>
            <a:endParaRPr lang="en-US" sz="1200" dirty="0"/>
          </a:p>
        </p:txBody>
      </p:sp>
      <p:sp>
        <p:nvSpPr>
          <p:cNvPr id="28" name="step-time-2"/>
          <p:cNvSpPr txBox="1"/>
          <p:nvPr/>
        </p:nvSpPr>
        <p:spPr>
          <a:xfrm>
            <a:off x="2713025" y="2816352"/>
            <a:ext cx="1097280" cy="274320"/>
          </a:xfrm>
          <a:prstGeom prst="roundRect">
            <a:avLst>
              <a:gd name="adj" fmla="val 50000"/>
            </a:avLst>
          </a:prstGeom>
          <a:solidFill>
            <a:srgbClr val="F2B705"/>
          </a:solidFill>
          <a:ln/>
        </p:spPr>
        <p:txBody>
          <a:bodyPr wrap="square" lIns="0" tIns="0" rIns="0" bIns="0" rtlCol="0" anchor="ctr"/>
          <a:lstStyle/>
          <a:p>
            <a:pPr algn="ctr" indent="0" marL="0">
              <a:buNone/>
            </a:pPr>
            <a:r>
              <a:rPr lang="en-US" sz="1100" b="1" dirty="0">
                <a:solidFill>
                  <a:schemeClr val="tx1"/>
                </a:solidFill>
              </a:rPr>
              <a:t>1–3 min</a:t>
            </a:r>
            <a:endParaRPr lang="en-US" sz="1100" dirty="0"/>
          </a:p>
        </p:txBody>
      </p:sp>
      <p:sp>
        <p:nvSpPr>
          <p:cNvPr id="29" name="step-arrow-2"/>
          <p:cNvSpPr/>
          <p:nvPr/>
        </p:nvSpPr>
        <p:spPr>
          <a:xfrm>
            <a:off x="4486961" y="2212848"/>
            <a:ext cx="173736" cy="237744"/>
          </a:xfrm>
          <a:prstGeom prst="rightArrow">
            <a:avLst/>
          </a:prstGeom>
          <a:solidFill>
            <a:srgbClr val="4B5563"/>
          </a:solidFill>
          <a:ln/>
        </p:spPr>
      </p:sp>
      <p:sp>
        <p:nvSpPr>
          <p:cNvPr id="30" name="step-card-3"/>
          <p:cNvSpPr/>
          <p:nvPr/>
        </p:nvSpPr>
        <p:spPr>
          <a:xfrm>
            <a:off x="4694530" y="1444752"/>
            <a:ext cx="1874520" cy="1783080"/>
          </a:xfrm>
          <a:prstGeom prst="roundRect">
            <a:avLst>
              <a:gd name="adj" fmla="val 4103"/>
            </a:avLst>
          </a:prstGeom>
          <a:solidFill>
            <a:srgbClr val="F1F3F5"/>
          </a:solidFill>
          <a:ln/>
        </p:spPr>
      </p:sp>
      <p:sp>
        <p:nvSpPr>
          <p:cNvPr id="31" name="step-num-3"/>
          <p:cNvSpPr txBox="1"/>
          <p:nvPr/>
        </p:nvSpPr>
        <p:spPr>
          <a:xfrm>
            <a:off x="4831690" y="1554480"/>
            <a:ext cx="329184" cy="329184"/>
          </a:xfrm>
          <a:prstGeom prst="ellipse">
            <a:avLst/>
          </a:prstGeom>
          <a:solidFill>
            <a:srgbClr val="232A33"/>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32" name="step-title-3"/>
          <p:cNvSpPr txBox="1"/>
          <p:nvPr/>
        </p:nvSpPr>
        <p:spPr>
          <a:xfrm>
            <a:off x="5243170" y="1554480"/>
            <a:ext cx="1234440" cy="329184"/>
          </a:xfrm>
          <a:prstGeom prst="rect">
            <a:avLst/>
          </a:prstGeom>
          <a:noFill/>
          <a:ln/>
        </p:spPr>
        <p:txBody>
          <a:bodyPr wrap="square" lIns="0" tIns="0" rIns="0" bIns="0" rtlCol="0" anchor="ctr"/>
          <a:lstStyle/>
          <a:p>
            <a:pPr indent="0" marL="0">
              <a:buNone/>
            </a:pPr>
            <a:r>
              <a:rPr lang="en-US" sz="1400" b="1" dirty="0">
                <a:solidFill>
                  <a:schemeClr val="tx1"/>
                </a:solidFill>
              </a:rPr>
              <a:t>Sample</a:t>
            </a:r>
            <a:endParaRPr lang="en-US" sz="1400" dirty="0"/>
          </a:p>
        </p:txBody>
      </p:sp>
      <p:sp>
        <p:nvSpPr>
          <p:cNvPr id="33" name="step-desc-3"/>
          <p:cNvSpPr txBox="1"/>
          <p:nvPr/>
        </p:nvSpPr>
        <p:spPr>
          <a:xfrm>
            <a:off x="4831690" y="1993392"/>
            <a:ext cx="1600200" cy="749808"/>
          </a:xfrm>
          <a:prstGeom prst="rect">
            <a:avLst/>
          </a:prstGeom>
          <a:noFill/>
          <a:ln/>
        </p:spPr>
        <p:txBody>
          <a:bodyPr wrap="square" lIns="0" tIns="0" rIns="0" bIns="0" rtlCol="0" anchor="t"/>
          <a:lstStyle/>
          <a:p>
            <a:pPr indent="0" marL="0">
              <a:buNone/>
            </a:pPr>
            <a:r>
              <a:rPr lang="en-US" sz="1200" dirty="0">
                <a:solidFill>
                  <a:schemeClr val="tx1"/>
                </a:solidFill>
              </a:rPr>
              <a:t>load_month(): harmonise → 1% sample → clean → add features</a:t>
            </a:r>
            <a:endParaRPr lang="en-US" sz="1200" dirty="0"/>
          </a:p>
        </p:txBody>
      </p:sp>
      <p:sp>
        <p:nvSpPr>
          <p:cNvPr id="34" name="step-time-3"/>
          <p:cNvSpPr txBox="1"/>
          <p:nvPr/>
        </p:nvSpPr>
        <p:spPr>
          <a:xfrm>
            <a:off x="4831690" y="2816352"/>
            <a:ext cx="1097280" cy="274320"/>
          </a:xfrm>
          <a:prstGeom prst="roundRect">
            <a:avLst>
              <a:gd name="adj" fmla="val 50000"/>
            </a:avLst>
          </a:prstGeom>
          <a:solidFill>
            <a:srgbClr val="F2B705"/>
          </a:solidFill>
          <a:ln/>
        </p:spPr>
        <p:txBody>
          <a:bodyPr wrap="square" lIns="0" tIns="0" rIns="0" bIns="0" rtlCol="0" anchor="ctr"/>
          <a:lstStyle/>
          <a:p>
            <a:pPr algn="ctr" indent="0" marL="0">
              <a:buNone/>
            </a:pPr>
            <a:r>
              <a:rPr lang="en-US" sz="1100" b="1" dirty="0">
                <a:solidFill>
                  <a:schemeClr val="tx1"/>
                </a:solidFill>
              </a:rPr>
              <a:t>~40 s</a:t>
            </a:r>
            <a:endParaRPr lang="en-US" sz="1100" dirty="0"/>
          </a:p>
        </p:txBody>
      </p:sp>
      <p:sp>
        <p:nvSpPr>
          <p:cNvPr id="35" name="step-arrow-3"/>
          <p:cNvSpPr/>
          <p:nvPr/>
        </p:nvSpPr>
        <p:spPr>
          <a:xfrm>
            <a:off x="6605626" y="2212848"/>
            <a:ext cx="173736" cy="237744"/>
          </a:xfrm>
          <a:prstGeom prst="rightArrow">
            <a:avLst/>
          </a:prstGeom>
          <a:solidFill>
            <a:srgbClr val="4B5563"/>
          </a:solidFill>
          <a:ln/>
        </p:spPr>
      </p:sp>
      <p:sp>
        <p:nvSpPr>
          <p:cNvPr id="36" name="step-card-4"/>
          <p:cNvSpPr/>
          <p:nvPr/>
        </p:nvSpPr>
        <p:spPr>
          <a:xfrm>
            <a:off x="6813194" y="1444752"/>
            <a:ext cx="1874520" cy="1783080"/>
          </a:xfrm>
          <a:prstGeom prst="roundRect">
            <a:avLst>
              <a:gd name="adj" fmla="val 4103"/>
            </a:avLst>
          </a:prstGeom>
          <a:solidFill>
            <a:srgbClr val="F1F3F5"/>
          </a:solidFill>
          <a:ln/>
        </p:spPr>
      </p:sp>
      <p:sp>
        <p:nvSpPr>
          <p:cNvPr id="37" name="step-num-4"/>
          <p:cNvSpPr txBox="1"/>
          <p:nvPr/>
        </p:nvSpPr>
        <p:spPr>
          <a:xfrm>
            <a:off x="6950354" y="1554480"/>
            <a:ext cx="329184" cy="329184"/>
          </a:xfrm>
          <a:prstGeom prst="ellipse">
            <a:avLst/>
          </a:prstGeom>
          <a:solidFill>
            <a:srgbClr val="232A33"/>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8" name="step-title-4"/>
          <p:cNvSpPr txBox="1"/>
          <p:nvPr/>
        </p:nvSpPr>
        <p:spPr>
          <a:xfrm>
            <a:off x="7361834" y="1554480"/>
            <a:ext cx="1234440" cy="329184"/>
          </a:xfrm>
          <a:prstGeom prst="rect">
            <a:avLst/>
          </a:prstGeom>
          <a:noFill/>
          <a:ln/>
        </p:spPr>
        <p:txBody>
          <a:bodyPr wrap="square" lIns="0" tIns="0" rIns="0" bIns="0" rtlCol="0" anchor="ctr"/>
          <a:lstStyle/>
          <a:p>
            <a:pPr indent="0" marL="0">
              <a:buNone/>
            </a:pPr>
            <a:r>
              <a:rPr lang="en-US" sz="1400" b="1" dirty="0">
                <a:solidFill>
                  <a:schemeClr val="tx1"/>
                </a:solidFill>
              </a:rPr>
              <a:t>Save once</a:t>
            </a:r>
            <a:endParaRPr lang="en-US" sz="1400" dirty="0"/>
          </a:p>
        </p:txBody>
      </p:sp>
      <p:sp>
        <p:nvSpPr>
          <p:cNvPr id="39" name="step-desc-4"/>
          <p:cNvSpPr txBox="1"/>
          <p:nvPr/>
        </p:nvSpPr>
        <p:spPr>
          <a:xfrm>
            <a:off x="6950354" y="1993392"/>
            <a:ext cx="1600200" cy="749808"/>
          </a:xfrm>
          <a:prstGeom prst="rect">
            <a:avLst/>
          </a:prstGeom>
          <a:noFill/>
          <a:ln/>
        </p:spPr>
        <p:txBody>
          <a:bodyPr wrap="square" lIns="0" tIns="0" rIns="0" bIns="0" rtlCol="0" anchor="t"/>
          <a:lstStyle/>
          <a:p>
            <a:pPr indent="0" marL="0">
              <a:buNone/>
            </a:pPr>
            <a:r>
              <a:rPr lang="en-US" sz="1200" dirty="0">
                <a:solidFill>
                  <a:schemeClr val="tx1"/>
                </a:solidFill>
              </a:rPr>
              <a:t>2.05 M trips: 58 MB file, 170 MB in memory</a:t>
            </a:r>
            <a:endParaRPr lang="en-US" sz="1200" dirty="0"/>
          </a:p>
        </p:txBody>
      </p:sp>
      <p:sp>
        <p:nvSpPr>
          <p:cNvPr id="40" name="step-time-4"/>
          <p:cNvSpPr txBox="1"/>
          <p:nvPr/>
        </p:nvSpPr>
        <p:spPr>
          <a:xfrm>
            <a:off x="6950354" y="2816352"/>
            <a:ext cx="1097280" cy="274320"/>
          </a:xfrm>
          <a:prstGeom prst="roundRect">
            <a:avLst>
              <a:gd name="adj" fmla="val 50000"/>
            </a:avLst>
          </a:prstGeom>
          <a:solidFill>
            <a:srgbClr val="F2B705"/>
          </a:solidFill>
          <a:ln/>
        </p:spPr>
        <p:txBody>
          <a:bodyPr wrap="square" lIns="0" tIns="0" rIns="0" bIns="0" rtlCol="0" anchor="ctr"/>
          <a:lstStyle/>
          <a:p>
            <a:pPr algn="ctr" indent="0" marL="0">
              <a:buNone/>
            </a:pPr>
            <a:r>
              <a:rPr lang="en-US" sz="1100" b="1" dirty="0">
                <a:solidFill>
                  <a:schemeClr val="tx1"/>
                </a:solidFill>
              </a:rPr>
              <a:t>reload in s</a:t>
            </a:r>
            <a:endParaRPr lang="en-US" sz="1100" dirty="0"/>
          </a:p>
        </p:txBody>
      </p:sp>
      <p:sp>
        <p:nvSpPr>
          <p:cNvPr id="41" name="code-box"/>
          <p:cNvSpPr/>
          <p:nvPr/>
        </p:nvSpPr>
        <p:spPr>
          <a:xfrm>
            <a:off x="457200" y="3429000"/>
            <a:ext cx="8229600" cy="1097280"/>
          </a:xfrm>
          <a:prstGeom prst="roundRect">
            <a:avLst>
              <a:gd name="adj" fmla="val 5000"/>
            </a:avLst>
          </a:prstGeom>
          <a:solidFill>
            <a:srgbClr val="232A33"/>
          </a:solidFill>
          <a:ln/>
        </p:spPr>
      </p:sp>
      <p:sp>
        <p:nvSpPr>
          <p:cNvPr id="42" name="code-text"/>
          <p:cNvSpPr txBox="1"/>
          <p:nvPr/>
        </p:nvSpPr>
        <p:spPr>
          <a:xfrm>
            <a:off x="685800" y="3520440"/>
            <a:ext cx="7863840" cy="914400"/>
          </a:xfrm>
          <a:prstGeom prst="rect">
            <a:avLst/>
          </a:prstGeom>
          <a:noFill/>
          <a:ln/>
        </p:spPr>
        <p:txBody>
          <a:bodyPr wrap="square" lIns="0" tIns="0" rIns="0" bIns="0" rtlCol="0" anchor="ctr"/>
          <a:lstStyle/>
          <a:p>
            <a:pPr indent="0" marL="0">
              <a:buNone/>
            </a:pPr>
            <a:r>
              <a:rPr lang="en-US" sz="1200" dirty="0">
                <a:solidFill>
                  <a:srgbClr val="C4C9D0"/>
                </a:solidFill>
                <a:latin typeface="Courier New" pitchFamily="34" charset="0"/>
                <a:ea typeface="Courier New" pitchFamily="34" charset="-122"/>
                <a:cs typeface="Courier New" pitchFamily="34" charset="-120"/>
              </a:rPr>
              <a:t># five years, one month at a time (April 2020 is skipped if missing)</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trips, removed = load_range([2019, 2020, 2021, 2022, 2023], MONTHS, frac=0.01)</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trips.to_parquet(SAMPLE_FILE)</a:t>
            </a:r>
            <a:pPr indent="0" marL="0">
              <a:buNone/>
            </a:pPr>
            <a:r>
              <a:rPr lang="en-US" sz="1200" dirty="0">
                <a:solidFill>
                  <a:srgbClr val="C4C9D0"/>
                </a:solidFill>
                <a:latin typeface="Courier New" pitchFamily="34" charset="0"/>
                <a:ea typeface="Courier New" pitchFamily="34" charset="-122"/>
                <a:cs typeface="Courier New" pitchFamily="34" charset="-120"/>
              </a:rPr>
              <a:t>      # next run: pd.read_parquet(SAMPLE_FILE)</a:t>
            </a:r>
            <a:endParaRPr lang="en-US" sz="1200" dirty="0"/>
          </a:p>
        </p:txBody>
      </p:sp>
      <p:sp>
        <p:nvSpPr>
          <p:cNvPr id="43" name="citation"/>
          <p:cNvSpPr txBox="1"/>
          <p:nvPr/>
        </p:nvSpPr>
        <p:spPr>
          <a:xfrm>
            <a:off x="457200" y="4754880"/>
            <a:ext cx="7680960" cy="256032"/>
          </a:xfrm>
          <a:prstGeom prst="rect">
            <a:avLst/>
          </a:prstGeom>
          <a:noFill/>
          <a:ln/>
        </p:spPr>
        <p:txBody>
          <a:bodyPr wrap="square" lIns="0" tIns="0" rIns="0" bIns="0" rtlCol="0" anchor="ctr"/>
          <a:lstStyle/>
          <a:p>
            <a:pPr indent="0" marL="0">
              <a:buNone/>
            </a:pPr>
            <a:r>
              <a:rPr lang="en-US" sz="1050" dirty="0">
                <a:solidFill>
                  <a:srgbClr val="5F6772"/>
                </a:solidFill>
              </a:rPr>
              <a:t>Notebook sections 1.1, 1.4 and 5.3. DuckDB: Raasveldt &amp; Mühleisen (2019). Timings on a 2-core laptop-class machine.</a:t>
            </a:r>
            <a:endParaRPr lang="en-US" sz="1050" dirty="0"/>
          </a:p>
        </p:txBody>
      </p:sp>
      <p:sp>
        <p:nvSpPr>
          <p:cNvPr id="25" name="Slide Number Placeholder 0"/>
          <p:cNvSpPr>
            <a:spLocks noGrp="1"/>
          </p:cNvSpPr>
          <p:nvPr>
            <p:ph type="sldNum" sz="quarter" idx="4294967295"/>
          </p:nvPr>
        </p:nvSpPr>
        <p:spPr>
          <a:xfrm>
            <a:off x="8275320" y="4754880"/>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77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nav-Agenda"/>
          <p:cNvSpPr txBox="1"/>
          <p:nvPr/>
        </p:nvSpPr>
        <p:spPr>
          <a:xfrm>
            <a:off x="457200" y="118872"/>
            <a:ext cx="713232" cy="256032"/>
          </a:xfrm>
          <a:prstGeom prst="rect">
            <a:avLst/>
          </a:prstGeom>
          <a:noFill/>
          <a:ln/>
        </p:spPr>
        <p:txBody>
          <a:bodyPr wrap="square" lIns="0" tIns="0" rIns="0" bIns="0" rtlCol="0" anchor="ctr"/>
          <a:lstStyle/>
          <a:p>
            <a:pPr algn="ctr" indent="0" marL="0">
              <a:buNone/>
            </a:pPr>
            <a:r>
              <a:rPr lang="en-US" sz="1050" dirty="0">
                <a:solidFill>
                  <a:srgbClr val="5F6772"/>
                </a:solidFill>
              </a:rPr>
              <a:t>Agenda</a:t>
            </a:r>
            <a:endParaRPr lang="en-US" sz="1050" dirty="0"/>
          </a:p>
        </p:txBody>
      </p:sp>
      <p:sp>
        <p:nvSpPr>
          <p:cNvPr id="3" name="nav-link-Agenda">
            <a:hlinkClick r:id="rId1" tooltip="Go to Agenda" action="ppaction://hlinksldjump"/>
          </p:cNvPr>
          <p:cNvSpPr/>
          <p:nvPr/>
        </p:nvSpPr>
        <p:spPr>
          <a:xfrm>
            <a:off x="457200" y="118872"/>
            <a:ext cx="713232" cy="256032"/>
          </a:xfrm>
          <a:prstGeom prst="rect">
            <a:avLst/>
          </a:prstGeom>
          <a:solidFill>
            <a:srgbClr val="FFFFFF">
              <a:alpha val="0"/>
            </a:srgbClr>
          </a:solidFill>
          <a:ln/>
        </p:spPr>
      </p:sp>
      <p:sp>
        <p:nvSpPr>
          <p:cNvPr id="4" name="nav-Question"/>
          <p:cNvSpPr txBox="1"/>
          <p:nvPr/>
        </p:nvSpPr>
        <p:spPr>
          <a:xfrm>
            <a:off x="1225296" y="118872"/>
            <a:ext cx="822960" cy="256032"/>
          </a:xfrm>
          <a:prstGeom prst="rect">
            <a:avLst/>
          </a:prstGeom>
          <a:noFill/>
          <a:ln/>
        </p:spPr>
        <p:txBody>
          <a:bodyPr wrap="square" lIns="0" tIns="0" rIns="0" bIns="0" rtlCol="0" anchor="ctr"/>
          <a:lstStyle/>
          <a:p>
            <a:pPr algn="ctr" indent="0" marL="0">
              <a:buNone/>
            </a:pPr>
            <a:r>
              <a:rPr lang="en-US" sz="1050" dirty="0">
                <a:solidFill>
                  <a:srgbClr val="5F6772"/>
                </a:solidFill>
              </a:rPr>
              <a:t>Question</a:t>
            </a:r>
            <a:endParaRPr lang="en-US" sz="1050" dirty="0"/>
          </a:p>
        </p:txBody>
      </p:sp>
      <p:sp>
        <p:nvSpPr>
          <p:cNvPr id="5" name="nav-link-Question">
            <a:hlinkClick r:id="rId2" tooltip="Go to Question" action="ppaction://hlinksldjump"/>
          </p:cNvPr>
          <p:cNvSpPr/>
          <p:nvPr/>
        </p:nvSpPr>
        <p:spPr>
          <a:xfrm>
            <a:off x="1225296" y="118872"/>
            <a:ext cx="822960" cy="256032"/>
          </a:xfrm>
          <a:prstGeom prst="rect">
            <a:avLst/>
          </a:prstGeom>
          <a:solidFill>
            <a:srgbClr val="FFFFFF">
              <a:alpha val="0"/>
            </a:srgbClr>
          </a:solidFill>
          <a:ln/>
        </p:spPr>
      </p:sp>
      <p:sp>
        <p:nvSpPr>
          <p:cNvPr id="6" name="nav-pill-Data"/>
          <p:cNvSpPr/>
          <p:nvPr/>
        </p:nvSpPr>
        <p:spPr>
          <a:xfrm>
            <a:off x="2103120" y="118872"/>
            <a:ext cx="566928" cy="256032"/>
          </a:xfrm>
          <a:prstGeom prst="roundRect">
            <a:avLst>
              <a:gd name="adj" fmla="val 50000"/>
            </a:avLst>
          </a:prstGeom>
          <a:solidFill>
            <a:srgbClr val="F2B705"/>
          </a:solidFill>
          <a:ln w="6350">
            <a:solidFill>
              <a:srgbClr val="F2B705"/>
            </a:solidFill>
            <a:prstDash val="solid"/>
          </a:ln>
        </p:spPr>
      </p:sp>
      <p:sp>
        <p:nvSpPr>
          <p:cNvPr id="7" name="nav-Data"/>
          <p:cNvSpPr txBox="1"/>
          <p:nvPr/>
        </p:nvSpPr>
        <p:spPr>
          <a:xfrm>
            <a:off x="2103120" y="118872"/>
            <a:ext cx="566928" cy="256032"/>
          </a:xfrm>
          <a:prstGeom prst="rect">
            <a:avLst/>
          </a:prstGeom>
          <a:noFill/>
          <a:ln/>
        </p:spPr>
        <p:txBody>
          <a:bodyPr wrap="square" lIns="0" tIns="0" rIns="0" bIns="0" rtlCol="0" anchor="ctr"/>
          <a:lstStyle/>
          <a:p>
            <a:pPr algn="ctr" indent="0" marL="0">
              <a:buNone/>
            </a:pPr>
            <a:r>
              <a:rPr lang="en-US" sz="1050" b="1" dirty="0">
                <a:solidFill>
                  <a:schemeClr val="tx1"/>
                </a:solidFill>
              </a:rPr>
              <a:t>Data</a:t>
            </a:r>
            <a:endParaRPr lang="en-US" sz="1050" dirty="0"/>
          </a:p>
        </p:txBody>
      </p:sp>
      <p:sp>
        <p:nvSpPr>
          <p:cNvPr id="8" name="nav-link-Data">
            <a:hlinkClick r:id="rId3" tooltip="Go to Data" action="ppaction://hlinksldjump"/>
          </p:cNvPr>
          <p:cNvSpPr/>
          <p:nvPr/>
        </p:nvSpPr>
        <p:spPr>
          <a:xfrm>
            <a:off x="2103120" y="118872"/>
            <a:ext cx="566928" cy="256032"/>
          </a:xfrm>
          <a:prstGeom prst="rect">
            <a:avLst/>
          </a:prstGeom>
          <a:solidFill>
            <a:srgbClr val="FFFFFF">
              <a:alpha val="0"/>
            </a:srgbClr>
          </a:solidFill>
          <a:ln/>
        </p:spPr>
      </p:sp>
      <p:sp>
        <p:nvSpPr>
          <p:cNvPr id="9" name="nav-Method"/>
          <p:cNvSpPr txBox="1"/>
          <p:nvPr/>
        </p:nvSpPr>
        <p:spPr>
          <a:xfrm>
            <a:off x="2724912" y="118872"/>
            <a:ext cx="713232" cy="256032"/>
          </a:xfrm>
          <a:prstGeom prst="rect">
            <a:avLst/>
          </a:prstGeom>
          <a:noFill/>
          <a:ln/>
        </p:spPr>
        <p:txBody>
          <a:bodyPr wrap="square" lIns="0" tIns="0" rIns="0" bIns="0" rtlCol="0" anchor="ctr"/>
          <a:lstStyle/>
          <a:p>
            <a:pPr algn="ctr" indent="0" marL="0">
              <a:buNone/>
            </a:pPr>
            <a:r>
              <a:rPr lang="en-US" sz="1050" dirty="0">
                <a:solidFill>
                  <a:srgbClr val="5F6772"/>
                </a:solidFill>
              </a:rPr>
              <a:t>Method</a:t>
            </a:r>
            <a:endParaRPr lang="en-US" sz="1050" dirty="0"/>
          </a:p>
        </p:txBody>
      </p:sp>
      <p:sp>
        <p:nvSpPr>
          <p:cNvPr id="10" name="nav-link-Method">
            <a:hlinkClick r:id="rId4" tooltip="Go to Method" action="ppaction://hlinksldjump"/>
          </p:cNvPr>
          <p:cNvSpPr/>
          <p:nvPr/>
        </p:nvSpPr>
        <p:spPr>
          <a:xfrm>
            <a:off x="2724912" y="118872"/>
            <a:ext cx="713232" cy="256032"/>
          </a:xfrm>
          <a:prstGeom prst="rect">
            <a:avLst/>
          </a:prstGeom>
          <a:solidFill>
            <a:srgbClr val="FFFFFF">
              <a:alpha val="0"/>
            </a:srgbClr>
          </a:solidFill>
          <a:ln/>
        </p:spPr>
      </p:sp>
      <p:sp>
        <p:nvSpPr>
          <p:cNvPr id="11" name="nav-Results"/>
          <p:cNvSpPr txBox="1"/>
          <p:nvPr/>
        </p:nvSpPr>
        <p:spPr>
          <a:xfrm>
            <a:off x="3493008" y="118872"/>
            <a:ext cx="731520" cy="256032"/>
          </a:xfrm>
          <a:prstGeom prst="rect">
            <a:avLst/>
          </a:prstGeom>
          <a:noFill/>
          <a:ln/>
        </p:spPr>
        <p:txBody>
          <a:bodyPr wrap="square" lIns="0" tIns="0" rIns="0" bIns="0" rtlCol="0" anchor="ctr"/>
          <a:lstStyle/>
          <a:p>
            <a:pPr algn="ctr" indent="0" marL="0">
              <a:buNone/>
            </a:pPr>
            <a:r>
              <a:rPr lang="en-US" sz="1050" dirty="0">
                <a:solidFill>
                  <a:srgbClr val="5F6772"/>
                </a:solidFill>
              </a:rPr>
              <a:t>Results</a:t>
            </a:r>
            <a:endParaRPr lang="en-US" sz="1050" dirty="0"/>
          </a:p>
        </p:txBody>
      </p:sp>
      <p:sp>
        <p:nvSpPr>
          <p:cNvPr id="12" name="nav-link-Results">
            <a:hlinkClick r:id="rId5" tooltip="Go to Results" action="ppaction://hlinksldjump"/>
          </p:cNvPr>
          <p:cNvSpPr/>
          <p:nvPr/>
        </p:nvSpPr>
        <p:spPr>
          <a:xfrm>
            <a:off x="3493008" y="118872"/>
            <a:ext cx="731520" cy="256032"/>
          </a:xfrm>
          <a:prstGeom prst="rect">
            <a:avLst/>
          </a:prstGeom>
          <a:solidFill>
            <a:srgbClr val="FFFFFF">
              <a:alpha val="0"/>
            </a:srgbClr>
          </a:solidFill>
          <a:ln/>
        </p:spPr>
      </p:sp>
      <p:sp>
        <p:nvSpPr>
          <p:cNvPr id="13" name="nav-Wrap-up"/>
          <p:cNvSpPr txBox="1"/>
          <p:nvPr/>
        </p:nvSpPr>
        <p:spPr>
          <a:xfrm>
            <a:off x="4279392" y="118872"/>
            <a:ext cx="786384" cy="256032"/>
          </a:xfrm>
          <a:prstGeom prst="rect">
            <a:avLst/>
          </a:prstGeom>
          <a:noFill/>
          <a:ln/>
        </p:spPr>
        <p:txBody>
          <a:bodyPr wrap="square" lIns="0" tIns="0" rIns="0" bIns="0" rtlCol="0" anchor="ctr"/>
          <a:lstStyle/>
          <a:p>
            <a:pPr algn="ctr" indent="0" marL="0">
              <a:buNone/>
            </a:pPr>
            <a:r>
              <a:rPr lang="en-US" sz="1050" dirty="0">
                <a:solidFill>
                  <a:srgbClr val="5F6772"/>
                </a:solidFill>
              </a:rPr>
              <a:t>Wrap-up</a:t>
            </a:r>
            <a:endParaRPr lang="en-US" sz="1050" dirty="0"/>
          </a:p>
        </p:txBody>
      </p:sp>
      <p:sp>
        <p:nvSpPr>
          <p:cNvPr id="14" name="nav-link-Wrap-up">
            <a:hlinkClick r:id="rId6" tooltip="Go to Wrap-up" action="ppaction://hlinksldjump"/>
          </p:cNvPr>
          <p:cNvSpPr/>
          <p:nvPr/>
        </p:nvSpPr>
        <p:spPr>
          <a:xfrm>
            <a:off x="4279392" y="118872"/>
            <a:ext cx="786384" cy="256032"/>
          </a:xfrm>
          <a:prstGeom prst="rect">
            <a:avLst/>
          </a:prstGeom>
          <a:solidFill>
            <a:srgbClr val="FFFFFF">
              <a:alpha val="0"/>
            </a:srgbClr>
          </a:solidFill>
          <a:ln/>
        </p:spPr>
      </p:sp>
      <p:sp>
        <p:nvSpPr>
          <p:cNvPr id="15" name="nav-Appendix"/>
          <p:cNvSpPr txBox="1"/>
          <p:nvPr/>
        </p:nvSpPr>
        <p:spPr>
          <a:xfrm>
            <a:off x="5120640" y="118872"/>
            <a:ext cx="859536" cy="256032"/>
          </a:xfrm>
          <a:prstGeom prst="rect">
            <a:avLst/>
          </a:prstGeom>
          <a:noFill/>
          <a:ln/>
        </p:spPr>
        <p:txBody>
          <a:bodyPr wrap="square" lIns="0" tIns="0" rIns="0" bIns="0" rtlCol="0" anchor="ctr"/>
          <a:lstStyle/>
          <a:p>
            <a:pPr algn="ctr" indent="0" marL="0">
              <a:buNone/>
            </a:pPr>
            <a:r>
              <a:rPr lang="en-US" sz="1050" dirty="0">
                <a:solidFill>
                  <a:srgbClr val="5F6772"/>
                </a:solidFill>
              </a:rPr>
              <a:t>Appendix</a:t>
            </a:r>
            <a:endParaRPr lang="en-US" sz="1050" dirty="0"/>
          </a:p>
        </p:txBody>
      </p:sp>
      <p:sp>
        <p:nvSpPr>
          <p:cNvPr id="16" name="nav-link-Appendix">
            <a:hlinkClick r:id="rId7" tooltip="Go to Appendix" action="ppaction://hlinksldjump"/>
          </p:cNvPr>
          <p:cNvSpPr/>
          <p:nvPr/>
        </p:nvSpPr>
        <p:spPr>
          <a:xfrm>
            <a:off x="5120640" y="118872"/>
            <a:ext cx="859536" cy="256032"/>
          </a:xfrm>
          <a:prstGeom prst="rect">
            <a:avLst/>
          </a:prstGeom>
          <a:solidFill>
            <a:srgbClr val="FFFFFF">
              <a:alpha val="0"/>
            </a:srgbClr>
          </a:solidFill>
          <a:ln/>
        </p:spPr>
      </p:sp>
      <p:sp>
        <p:nvSpPr>
          <p:cNvPr id="17" name="Text 0"/>
          <p:cNvSpPr/>
          <p:nvPr>
            <p:ph idx="100" type="title" hasCustomPrompt="1"/>
          </p:nvPr>
        </p:nvSpPr>
        <p:spPr>
          <a:xfrm>
            <a:off x="457200" y="475488"/>
            <a:ext cx="8229600" cy="777240"/>
          </a:xfrm>
          <a:prstGeom prst="rect">
            <a:avLst/>
          </a:prstGeom>
          <a:noFill/>
          <a:ln/>
        </p:spPr>
        <p:txBody>
          <a:bodyPr wrap="square" lIns="0" tIns="0" rIns="0" bIns="0" rtlCol="0" anchor="t"/>
          <a:lstStyle/>
          <a:p>
            <a:pPr algn="l" indent="0" marL="0">
              <a:buNone/>
            </a:pPr>
            <a:r>
              <a:rPr lang="en-US" sz="2200" b="1" dirty="0">
                <a:solidFill>
                  <a:schemeClr val="tx1"/>
                </a:solidFill>
              </a:rPr>
              <a:t>The meter's prices rose on 19 December 2022, so we converted every older fare to 2023 prices</a:t>
            </a:r>
            <a:endParaRPr lang="en-US" sz="2200" dirty="0"/>
          </a:p>
        </p:txBody>
      </p:sp>
      <p:graphicFrame>
        <p:nvGraphicFramePr>
          <p:cNvPr id="18" name="chart-fare-conversion" descr=""/>
          <p:cNvGraphicFramePr/>
          <p:nvPr/>
        </p:nvGraphicFramePr>
        <p:xfrm>
          <a:off x="320040" y="1371600"/>
          <a:ext cx="5257800" cy="3291840"/>
        </p:xfrm>
        <a:graphic xmlns:a="http://schemas.openxmlformats.org/drawingml/2006/main">
          <a:graphicData uri="http://schemas.openxmlformats.org/drawingml/2006/chart">
            <c:chart xmlns:c="http://schemas.openxmlformats.org/drawingml/2006/chart" r:id="rId8"/>
          </a:graphicData>
        </a:graphic>
      </p:graphicFrame>
      <p:sp>
        <p:nvSpPr>
          <p:cNvPr id="19" name="panel-header"/>
          <p:cNvSpPr txBox="1"/>
          <p:nvPr/>
        </p:nvSpPr>
        <p:spPr>
          <a:xfrm>
            <a:off x="5806440" y="1463040"/>
            <a:ext cx="2880360" cy="320040"/>
          </a:xfrm>
          <a:prstGeom prst="rect">
            <a:avLst/>
          </a:prstGeom>
          <a:noFill/>
          <a:ln/>
        </p:spPr>
        <p:txBody>
          <a:bodyPr wrap="square" lIns="0" tIns="0" rIns="0" bIns="0" rtlCol="0" anchor="ctr"/>
          <a:lstStyle/>
          <a:p>
            <a:pPr indent="0" marL="0">
              <a:buNone/>
            </a:pPr>
            <a:r>
              <a:rPr lang="en-US" sz="1500" b="1" dirty="0">
                <a:solidFill>
                  <a:schemeClr val="tx1"/>
                </a:solidFill>
              </a:rPr>
              <a:t>The meter counts whole units</a:t>
            </a:r>
            <a:endParaRPr lang="en-US" sz="1500" dirty="0"/>
          </a:p>
        </p:txBody>
      </p:sp>
      <p:sp>
        <p:nvSpPr>
          <p:cNvPr id="20" name="conversion-bullets"/>
          <p:cNvSpPr txBox="1"/>
          <p:nvPr/>
        </p:nvSpPr>
        <p:spPr>
          <a:xfrm>
            <a:off x="5806440" y="1874520"/>
            <a:ext cx="2880360" cy="2743200"/>
          </a:xfrm>
          <a:prstGeom prst="rect">
            <a:avLst/>
          </a:prstGeom>
          <a:noFill/>
          <a:ln/>
        </p:spPr>
        <p:txBody>
          <a:bodyPr wrap="square" lIns="0" tIns="0" rIns="0" bIns="0" rtlCol="0" anchor="t"/>
          <a:lstStyle/>
          <a:p>
            <a:pPr marL="177800" indent="-177800">
              <a:spcAft>
                <a:spcPts val="900"/>
              </a:spcAft>
              <a:buSzPct val="100000"/>
              <a:buChar char="•"/>
            </a:pPr>
            <a:r>
              <a:rPr lang="en-US" sz="1300" dirty="0">
                <a:solidFill>
                  <a:schemeClr val="tx1"/>
                </a:solidFill>
              </a:rPr>
              <a:t>100.0% of old standard fares = $2.50 + whole 50¢ units</a:t>
            </a:r>
            <a:endParaRPr lang="en-US" sz="1300" dirty="0"/>
          </a:p>
          <a:p>
            <a:pPr marL="177800" indent="-177800">
              <a:spcAft>
                <a:spcPts val="900"/>
              </a:spcAft>
              <a:buSzPct val="100000"/>
              <a:buChar char="•"/>
            </a:pPr>
            <a:r>
              <a:rPr lang="en-US" sz="1300" dirty="0">
                <a:solidFill>
                  <a:schemeClr val="tx1"/>
                </a:solidFill>
              </a:rPr>
              <a:t>99.9% of new ones = $3.00 + whole 70¢ units</a:t>
            </a:r>
            <a:endParaRPr lang="en-US" sz="1300" dirty="0"/>
          </a:p>
          <a:p>
            <a:pPr marL="177800" indent="-177800">
              <a:spcAft>
                <a:spcPts val="900"/>
              </a:spcAft>
              <a:buSzPct val="100000"/>
              <a:buChar char="•"/>
            </a:pPr>
            <a:r>
              <a:rPr lang="en-US" sz="1300" dirty="0">
                <a:solidFill>
                  <a:schemeClr val="tx1"/>
                </a:solidFill>
              </a:rPr>
              <a:t>So the same trip now costs $3.00 + units × $0.70; JFK $52 → $70</a:t>
            </a:r>
            <a:endParaRPr lang="en-US" sz="1300" dirty="0"/>
          </a:p>
          <a:p>
            <a:pPr marL="177800" indent="-177800">
              <a:spcAft>
                <a:spcPts val="900"/>
              </a:spcAft>
              <a:buSzPct val="100000"/>
              <a:buChar char="•"/>
            </a:pPr>
            <a:r>
              <a:rPr lang="en-US" sz="1300" dirty="0">
                <a:solidFill>
                  <a:schemeClr val="tx1"/>
                </a:solidFill>
              </a:rPr>
              <a:t>Real median fare, 2-mile trips: $9.50 on 18 Dec, $12.80 on 19 Dec 2022</a:t>
            </a:r>
            <a:endParaRPr lang="en-US" sz="1300" dirty="0"/>
          </a:p>
        </p:txBody>
      </p:sp>
      <p:sp>
        <p:nvSpPr>
          <p:cNvPr id="21" name="citation"/>
          <p:cNvSpPr txBox="1"/>
          <p:nvPr/>
        </p:nvSpPr>
        <p:spPr>
          <a:xfrm>
            <a:off x="457200" y="4754880"/>
            <a:ext cx="7680960" cy="256032"/>
          </a:xfrm>
          <a:prstGeom prst="rect">
            <a:avLst/>
          </a:prstGeom>
          <a:noFill/>
          <a:ln/>
        </p:spPr>
        <p:txBody>
          <a:bodyPr wrap="square" lIns="0" tIns="0" rIns="0" bIns="0" rtlCol="0" anchor="ctr"/>
          <a:lstStyle/>
          <a:p>
            <a:pPr indent="0" marL="0">
              <a:buNone/>
            </a:pPr>
            <a:r>
              <a:rPr lang="en-US" sz="1050" dirty="0">
                <a:solidFill>
                  <a:srgbClr val="5F6772"/>
                </a:solidFill>
              </a:rPr>
              <a:t>Median fare per month in the cleaned 1% sample, real and converted (notebook section 5.4). Rule: NYC TLC (2022).</a:t>
            </a:r>
            <a:endParaRPr lang="en-US" sz="1050" dirty="0"/>
          </a:p>
        </p:txBody>
      </p:sp>
      <p:sp>
        <p:nvSpPr>
          <p:cNvPr id="25" name="Slide Number Placeholder 0"/>
          <p:cNvSpPr>
            <a:spLocks noGrp="1"/>
          </p:cNvSpPr>
          <p:nvPr>
            <p:ph type="sldNum" sz="quarter" idx="4294967295"/>
          </p:nvPr>
        </p:nvSpPr>
        <p:spPr>
          <a:xfrm>
            <a:off x="8275320" y="4754880"/>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77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nav-Agenda"/>
          <p:cNvSpPr txBox="1"/>
          <p:nvPr/>
        </p:nvSpPr>
        <p:spPr>
          <a:xfrm>
            <a:off x="457200" y="118872"/>
            <a:ext cx="713232" cy="256032"/>
          </a:xfrm>
          <a:prstGeom prst="rect">
            <a:avLst/>
          </a:prstGeom>
          <a:noFill/>
          <a:ln/>
        </p:spPr>
        <p:txBody>
          <a:bodyPr wrap="square" lIns="0" tIns="0" rIns="0" bIns="0" rtlCol="0" anchor="ctr"/>
          <a:lstStyle/>
          <a:p>
            <a:pPr algn="ctr" indent="0" marL="0">
              <a:buNone/>
            </a:pPr>
            <a:r>
              <a:rPr lang="en-US" sz="1050" dirty="0">
                <a:solidFill>
                  <a:srgbClr val="5F6772"/>
                </a:solidFill>
              </a:rPr>
              <a:t>Agenda</a:t>
            </a:r>
            <a:endParaRPr lang="en-US" sz="1050" dirty="0"/>
          </a:p>
        </p:txBody>
      </p:sp>
      <p:sp>
        <p:nvSpPr>
          <p:cNvPr id="3" name="nav-link-Agenda">
            <a:hlinkClick r:id="rId1" tooltip="Go to Agenda" action="ppaction://hlinksldjump"/>
          </p:cNvPr>
          <p:cNvSpPr/>
          <p:nvPr/>
        </p:nvSpPr>
        <p:spPr>
          <a:xfrm>
            <a:off x="457200" y="118872"/>
            <a:ext cx="713232" cy="256032"/>
          </a:xfrm>
          <a:prstGeom prst="rect">
            <a:avLst/>
          </a:prstGeom>
          <a:solidFill>
            <a:srgbClr val="FFFFFF">
              <a:alpha val="0"/>
            </a:srgbClr>
          </a:solidFill>
          <a:ln/>
        </p:spPr>
      </p:sp>
      <p:sp>
        <p:nvSpPr>
          <p:cNvPr id="4" name="nav-Question"/>
          <p:cNvSpPr txBox="1"/>
          <p:nvPr/>
        </p:nvSpPr>
        <p:spPr>
          <a:xfrm>
            <a:off x="1225296" y="118872"/>
            <a:ext cx="822960" cy="256032"/>
          </a:xfrm>
          <a:prstGeom prst="rect">
            <a:avLst/>
          </a:prstGeom>
          <a:noFill/>
          <a:ln/>
        </p:spPr>
        <p:txBody>
          <a:bodyPr wrap="square" lIns="0" tIns="0" rIns="0" bIns="0" rtlCol="0" anchor="ctr"/>
          <a:lstStyle/>
          <a:p>
            <a:pPr algn="ctr" indent="0" marL="0">
              <a:buNone/>
            </a:pPr>
            <a:r>
              <a:rPr lang="en-US" sz="1050" dirty="0">
                <a:solidFill>
                  <a:srgbClr val="5F6772"/>
                </a:solidFill>
              </a:rPr>
              <a:t>Question</a:t>
            </a:r>
            <a:endParaRPr lang="en-US" sz="1050" dirty="0"/>
          </a:p>
        </p:txBody>
      </p:sp>
      <p:sp>
        <p:nvSpPr>
          <p:cNvPr id="5" name="nav-link-Question">
            <a:hlinkClick r:id="rId2" tooltip="Go to Question" action="ppaction://hlinksldjump"/>
          </p:cNvPr>
          <p:cNvSpPr/>
          <p:nvPr/>
        </p:nvSpPr>
        <p:spPr>
          <a:xfrm>
            <a:off x="1225296" y="118872"/>
            <a:ext cx="822960" cy="256032"/>
          </a:xfrm>
          <a:prstGeom prst="rect">
            <a:avLst/>
          </a:prstGeom>
          <a:solidFill>
            <a:srgbClr val="FFFFFF">
              <a:alpha val="0"/>
            </a:srgbClr>
          </a:solidFill>
          <a:ln/>
        </p:spPr>
      </p:sp>
      <p:sp>
        <p:nvSpPr>
          <p:cNvPr id="6" name="nav-pill-Data"/>
          <p:cNvSpPr/>
          <p:nvPr/>
        </p:nvSpPr>
        <p:spPr>
          <a:xfrm>
            <a:off x="2103120" y="118872"/>
            <a:ext cx="566928" cy="256032"/>
          </a:xfrm>
          <a:prstGeom prst="roundRect">
            <a:avLst>
              <a:gd name="adj" fmla="val 50000"/>
            </a:avLst>
          </a:prstGeom>
          <a:solidFill>
            <a:srgbClr val="F2B705"/>
          </a:solidFill>
          <a:ln w="6350">
            <a:solidFill>
              <a:srgbClr val="F2B705"/>
            </a:solidFill>
            <a:prstDash val="solid"/>
          </a:ln>
        </p:spPr>
      </p:sp>
      <p:sp>
        <p:nvSpPr>
          <p:cNvPr id="7" name="nav-Data"/>
          <p:cNvSpPr txBox="1"/>
          <p:nvPr/>
        </p:nvSpPr>
        <p:spPr>
          <a:xfrm>
            <a:off x="2103120" y="118872"/>
            <a:ext cx="566928" cy="256032"/>
          </a:xfrm>
          <a:prstGeom prst="rect">
            <a:avLst/>
          </a:prstGeom>
          <a:noFill/>
          <a:ln/>
        </p:spPr>
        <p:txBody>
          <a:bodyPr wrap="square" lIns="0" tIns="0" rIns="0" bIns="0" rtlCol="0" anchor="ctr"/>
          <a:lstStyle/>
          <a:p>
            <a:pPr algn="ctr" indent="0" marL="0">
              <a:buNone/>
            </a:pPr>
            <a:r>
              <a:rPr lang="en-US" sz="1050" b="1" dirty="0">
                <a:solidFill>
                  <a:schemeClr val="tx1"/>
                </a:solidFill>
              </a:rPr>
              <a:t>Data</a:t>
            </a:r>
            <a:endParaRPr lang="en-US" sz="1050" dirty="0"/>
          </a:p>
        </p:txBody>
      </p:sp>
      <p:sp>
        <p:nvSpPr>
          <p:cNvPr id="8" name="nav-link-Data">
            <a:hlinkClick r:id="rId3" tooltip="Go to Data" action="ppaction://hlinksldjump"/>
          </p:cNvPr>
          <p:cNvSpPr/>
          <p:nvPr/>
        </p:nvSpPr>
        <p:spPr>
          <a:xfrm>
            <a:off x="2103120" y="118872"/>
            <a:ext cx="566928" cy="256032"/>
          </a:xfrm>
          <a:prstGeom prst="rect">
            <a:avLst/>
          </a:prstGeom>
          <a:solidFill>
            <a:srgbClr val="FFFFFF">
              <a:alpha val="0"/>
            </a:srgbClr>
          </a:solidFill>
          <a:ln/>
        </p:spPr>
      </p:sp>
      <p:sp>
        <p:nvSpPr>
          <p:cNvPr id="9" name="nav-Method"/>
          <p:cNvSpPr txBox="1"/>
          <p:nvPr/>
        </p:nvSpPr>
        <p:spPr>
          <a:xfrm>
            <a:off x="2724912" y="118872"/>
            <a:ext cx="713232" cy="256032"/>
          </a:xfrm>
          <a:prstGeom prst="rect">
            <a:avLst/>
          </a:prstGeom>
          <a:noFill/>
          <a:ln/>
        </p:spPr>
        <p:txBody>
          <a:bodyPr wrap="square" lIns="0" tIns="0" rIns="0" bIns="0" rtlCol="0" anchor="ctr"/>
          <a:lstStyle/>
          <a:p>
            <a:pPr algn="ctr" indent="0" marL="0">
              <a:buNone/>
            </a:pPr>
            <a:r>
              <a:rPr lang="en-US" sz="1050" dirty="0">
                <a:solidFill>
                  <a:srgbClr val="5F6772"/>
                </a:solidFill>
              </a:rPr>
              <a:t>Method</a:t>
            </a:r>
            <a:endParaRPr lang="en-US" sz="1050" dirty="0"/>
          </a:p>
        </p:txBody>
      </p:sp>
      <p:sp>
        <p:nvSpPr>
          <p:cNvPr id="10" name="nav-link-Method">
            <a:hlinkClick r:id="rId4" tooltip="Go to Method" action="ppaction://hlinksldjump"/>
          </p:cNvPr>
          <p:cNvSpPr/>
          <p:nvPr/>
        </p:nvSpPr>
        <p:spPr>
          <a:xfrm>
            <a:off x="2724912" y="118872"/>
            <a:ext cx="713232" cy="256032"/>
          </a:xfrm>
          <a:prstGeom prst="rect">
            <a:avLst/>
          </a:prstGeom>
          <a:solidFill>
            <a:srgbClr val="FFFFFF">
              <a:alpha val="0"/>
            </a:srgbClr>
          </a:solidFill>
          <a:ln/>
        </p:spPr>
      </p:sp>
      <p:sp>
        <p:nvSpPr>
          <p:cNvPr id="11" name="nav-Results"/>
          <p:cNvSpPr txBox="1"/>
          <p:nvPr/>
        </p:nvSpPr>
        <p:spPr>
          <a:xfrm>
            <a:off x="3493008" y="118872"/>
            <a:ext cx="731520" cy="256032"/>
          </a:xfrm>
          <a:prstGeom prst="rect">
            <a:avLst/>
          </a:prstGeom>
          <a:noFill/>
          <a:ln/>
        </p:spPr>
        <p:txBody>
          <a:bodyPr wrap="square" lIns="0" tIns="0" rIns="0" bIns="0" rtlCol="0" anchor="ctr"/>
          <a:lstStyle/>
          <a:p>
            <a:pPr algn="ctr" indent="0" marL="0">
              <a:buNone/>
            </a:pPr>
            <a:r>
              <a:rPr lang="en-US" sz="1050" dirty="0">
                <a:solidFill>
                  <a:srgbClr val="5F6772"/>
                </a:solidFill>
              </a:rPr>
              <a:t>Results</a:t>
            </a:r>
            <a:endParaRPr lang="en-US" sz="1050" dirty="0"/>
          </a:p>
        </p:txBody>
      </p:sp>
      <p:sp>
        <p:nvSpPr>
          <p:cNvPr id="12" name="nav-link-Results">
            <a:hlinkClick r:id="rId5" tooltip="Go to Results" action="ppaction://hlinksldjump"/>
          </p:cNvPr>
          <p:cNvSpPr/>
          <p:nvPr/>
        </p:nvSpPr>
        <p:spPr>
          <a:xfrm>
            <a:off x="3493008" y="118872"/>
            <a:ext cx="731520" cy="256032"/>
          </a:xfrm>
          <a:prstGeom prst="rect">
            <a:avLst/>
          </a:prstGeom>
          <a:solidFill>
            <a:srgbClr val="FFFFFF">
              <a:alpha val="0"/>
            </a:srgbClr>
          </a:solidFill>
          <a:ln/>
        </p:spPr>
      </p:sp>
      <p:sp>
        <p:nvSpPr>
          <p:cNvPr id="13" name="nav-Wrap-up"/>
          <p:cNvSpPr txBox="1"/>
          <p:nvPr/>
        </p:nvSpPr>
        <p:spPr>
          <a:xfrm>
            <a:off x="4279392" y="118872"/>
            <a:ext cx="786384" cy="256032"/>
          </a:xfrm>
          <a:prstGeom prst="rect">
            <a:avLst/>
          </a:prstGeom>
          <a:noFill/>
          <a:ln/>
        </p:spPr>
        <p:txBody>
          <a:bodyPr wrap="square" lIns="0" tIns="0" rIns="0" bIns="0" rtlCol="0" anchor="ctr"/>
          <a:lstStyle/>
          <a:p>
            <a:pPr algn="ctr" indent="0" marL="0">
              <a:buNone/>
            </a:pPr>
            <a:r>
              <a:rPr lang="en-US" sz="1050" dirty="0">
                <a:solidFill>
                  <a:srgbClr val="5F6772"/>
                </a:solidFill>
              </a:rPr>
              <a:t>Wrap-up</a:t>
            </a:r>
            <a:endParaRPr lang="en-US" sz="1050" dirty="0"/>
          </a:p>
        </p:txBody>
      </p:sp>
      <p:sp>
        <p:nvSpPr>
          <p:cNvPr id="14" name="nav-link-Wrap-up">
            <a:hlinkClick r:id="rId6" tooltip="Go to Wrap-up" action="ppaction://hlinksldjump"/>
          </p:cNvPr>
          <p:cNvSpPr/>
          <p:nvPr/>
        </p:nvSpPr>
        <p:spPr>
          <a:xfrm>
            <a:off x="4279392" y="118872"/>
            <a:ext cx="786384" cy="256032"/>
          </a:xfrm>
          <a:prstGeom prst="rect">
            <a:avLst/>
          </a:prstGeom>
          <a:solidFill>
            <a:srgbClr val="FFFFFF">
              <a:alpha val="0"/>
            </a:srgbClr>
          </a:solidFill>
          <a:ln/>
        </p:spPr>
      </p:sp>
      <p:sp>
        <p:nvSpPr>
          <p:cNvPr id="15" name="nav-Appendix"/>
          <p:cNvSpPr txBox="1"/>
          <p:nvPr/>
        </p:nvSpPr>
        <p:spPr>
          <a:xfrm>
            <a:off x="5120640" y="118872"/>
            <a:ext cx="859536" cy="256032"/>
          </a:xfrm>
          <a:prstGeom prst="rect">
            <a:avLst/>
          </a:prstGeom>
          <a:noFill/>
          <a:ln/>
        </p:spPr>
        <p:txBody>
          <a:bodyPr wrap="square" lIns="0" tIns="0" rIns="0" bIns="0" rtlCol="0" anchor="ctr"/>
          <a:lstStyle/>
          <a:p>
            <a:pPr algn="ctr" indent="0" marL="0">
              <a:buNone/>
            </a:pPr>
            <a:r>
              <a:rPr lang="en-US" sz="1050" dirty="0">
                <a:solidFill>
                  <a:srgbClr val="5F6772"/>
                </a:solidFill>
              </a:rPr>
              <a:t>Appendix</a:t>
            </a:r>
            <a:endParaRPr lang="en-US" sz="1050" dirty="0"/>
          </a:p>
        </p:txBody>
      </p:sp>
      <p:sp>
        <p:nvSpPr>
          <p:cNvPr id="16" name="nav-link-Appendix">
            <a:hlinkClick r:id="rId7" tooltip="Go to Appendix" action="ppaction://hlinksldjump"/>
          </p:cNvPr>
          <p:cNvSpPr/>
          <p:nvPr/>
        </p:nvSpPr>
        <p:spPr>
          <a:xfrm>
            <a:off x="5120640" y="118872"/>
            <a:ext cx="859536" cy="256032"/>
          </a:xfrm>
          <a:prstGeom prst="rect">
            <a:avLst/>
          </a:prstGeom>
          <a:solidFill>
            <a:srgbClr val="FFFFFF">
              <a:alpha val="0"/>
            </a:srgbClr>
          </a:solidFill>
          <a:ln/>
        </p:spPr>
      </p:sp>
      <p:sp>
        <p:nvSpPr>
          <p:cNvPr id="17" name="Text 0"/>
          <p:cNvSpPr/>
          <p:nvPr>
            <p:ph idx="100" type="title" hasCustomPrompt="1"/>
          </p:nvPr>
        </p:nvSpPr>
        <p:spPr>
          <a:xfrm>
            <a:off x="457200" y="475488"/>
            <a:ext cx="8229600" cy="777240"/>
          </a:xfrm>
          <a:prstGeom prst="rect">
            <a:avLst/>
          </a:prstGeom>
          <a:noFill/>
          <a:ln/>
        </p:spPr>
        <p:txBody>
          <a:bodyPr wrap="square" lIns="0" tIns="0" rIns="0" bIns="0" rtlCol="0" anchor="t"/>
          <a:lstStyle/>
          <a:p>
            <a:pPr algn="l" indent="0" marL="0">
              <a:buNone/>
            </a:pPr>
            <a:r>
              <a:rPr lang="en-US" sz="2200" b="1" dirty="0">
                <a:solidFill>
                  <a:schemeClr val="tx1"/>
                </a:solidFill>
              </a:rPr>
              <a:t>Trip distance drives the fare; tip, tolls and total are excluded because they would leak the answer</a:t>
            </a:r>
            <a:endParaRPr lang="en-US" sz="2200" dirty="0"/>
          </a:p>
        </p:txBody>
      </p:sp>
      <p:graphicFrame>
        <p:nvGraphicFramePr>
          <p:cNvPr id="18" name="chart-correlation" descr=""/>
          <p:cNvGraphicFramePr/>
          <p:nvPr/>
        </p:nvGraphicFramePr>
        <p:xfrm>
          <a:off x="365760" y="1371600"/>
          <a:ext cx="5212080" cy="3291840"/>
        </p:xfrm>
        <a:graphic xmlns:a="http://schemas.openxmlformats.org/drawingml/2006/main">
          <a:graphicData uri="http://schemas.openxmlformats.org/drawingml/2006/chart">
            <c:chart xmlns:c="http://schemas.openxmlformats.org/drawingml/2006/chart" r:id="rId8"/>
          </a:graphicData>
        </a:graphic>
      </p:graphicFrame>
      <p:sp>
        <p:nvSpPr>
          <p:cNvPr id="19" name="panel-header"/>
          <p:cNvSpPr txBox="1"/>
          <p:nvPr/>
        </p:nvSpPr>
        <p:spPr>
          <a:xfrm>
            <a:off x="5760720" y="1463040"/>
            <a:ext cx="2926080" cy="320040"/>
          </a:xfrm>
          <a:prstGeom prst="rect">
            <a:avLst/>
          </a:prstGeom>
          <a:noFill/>
          <a:ln/>
        </p:spPr>
        <p:txBody>
          <a:bodyPr wrap="square" lIns="0" tIns="0" rIns="0" bIns="0" rtlCol="0" anchor="ctr"/>
          <a:lstStyle/>
          <a:p>
            <a:pPr indent="0" marL="0">
              <a:buNone/>
            </a:pPr>
            <a:r>
              <a:rPr lang="en-US" sz="1500" b="1" dirty="0">
                <a:solidFill>
                  <a:schemeClr val="tx1"/>
                </a:solidFill>
              </a:rPr>
              <a:t>Only what is known at pickup</a:t>
            </a:r>
            <a:endParaRPr lang="en-US" sz="1500" dirty="0"/>
          </a:p>
        </p:txBody>
      </p:sp>
      <p:sp>
        <p:nvSpPr>
          <p:cNvPr id="20" name="leakage-bullets"/>
          <p:cNvSpPr txBox="1"/>
          <p:nvPr/>
        </p:nvSpPr>
        <p:spPr>
          <a:xfrm>
            <a:off x="5760720" y="1874520"/>
            <a:ext cx="2926080" cy="2697480"/>
          </a:xfrm>
          <a:prstGeom prst="rect">
            <a:avLst/>
          </a:prstGeom>
          <a:noFill/>
          <a:ln/>
        </p:spPr>
        <p:txBody>
          <a:bodyPr wrap="square" lIns="0" tIns="0" rIns="0" bIns="0" rtlCol="0" anchor="t"/>
          <a:lstStyle/>
          <a:p>
            <a:pPr indent="0" marL="0">
              <a:spcAft>
                <a:spcPts val="1200"/>
              </a:spcAft>
              <a:buNone/>
            </a:pPr>
            <a:r>
              <a:rPr lang="en-US" sz="1400" b="1" dirty="0">
                <a:solidFill>
                  <a:schemeClr val="tx1"/>
                </a:solidFill>
              </a:rPr>
              <a:t>Used: </a:t>
            </a:r>
            <a:pPr indent="0" marL="0">
              <a:spcAft>
                <a:spcPts val="1200"/>
              </a:spcAft>
              <a:buNone/>
            </a:pPr>
            <a:r>
              <a:rPr lang="en-US" sz="1400" dirty="0">
                <a:solidFill>
                  <a:schemeClr val="tx1"/>
                </a:solidFill>
              </a:rPr>
              <a:t>distance, zones, rate code, hour, day, month, year, tariff flag</a:t>
            </a:r>
            <a:endParaRPr lang="en-US" sz="1400" dirty="0"/>
          </a:p>
          <a:p>
            <a:pPr indent="0" marL="0">
              <a:spcAft>
                <a:spcPts val="1200"/>
              </a:spcAft>
              <a:buNone/>
            </a:pPr>
            <a:r>
              <a:rPr lang="en-US" sz="1400" b="1" dirty="0">
                <a:solidFill>
                  <a:schemeClr val="tx1"/>
                </a:solidFill>
              </a:rPr>
              <a:t>Excluded: </a:t>
            </a:r>
            <a:pPr indent="0" marL="0">
              <a:spcAft>
                <a:spcPts val="1200"/>
              </a:spcAft>
              <a:buNone/>
            </a:pPr>
            <a:r>
              <a:rPr lang="en-US" sz="1400" dirty="0">
                <a:solidFill>
                  <a:schemeClr val="tx1"/>
                </a:solidFill>
              </a:rPr>
              <a:t>total, tip, tolls, duration, surcharges, payment type: known only after the ride</a:t>
            </a:r>
            <a:endParaRPr lang="en-US" sz="1400" dirty="0"/>
          </a:p>
          <a:p>
            <a:pPr indent="0" marL="0">
              <a:spcAft>
                <a:spcPts val="1200"/>
              </a:spcAft>
              <a:buNone/>
            </a:pPr>
            <a:r>
              <a:rPr lang="en-US" sz="1400" b="1" dirty="0">
                <a:solidFill>
                  <a:schemeClr val="tx1"/>
                </a:solidFill>
              </a:rPr>
              <a:t>Why: </a:t>
            </a:r>
            <a:pPr indent="0" marL="0">
              <a:spcAft>
                <a:spcPts val="1200"/>
              </a:spcAft>
              <a:buNone/>
            </a:pPr>
            <a:r>
              <a:rPr lang="en-US" sz="1400" dirty="0">
                <a:solidFill>
                  <a:schemeClr val="tx1"/>
                </a:solidFill>
              </a:rPr>
              <a:t>using them would inflate test scores, then fail in real use</a:t>
            </a:r>
            <a:endParaRPr lang="en-US" sz="1400" dirty="0"/>
          </a:p>
        </p:txBody>
      </p:sp>
      <p:sp>
        <p:nvSpPr>
          <p:cNvPr id="21" name="citation"/>
          <p:cNvSpPr txBox="1"/>
          <p:nvPr/>
        </p:nvSpPr>
        <p:spPr>
          <a:xfrm>
            <a:off x="457200" y="4754880"/>
            <a:ext cx="7680960" cy="256032"/>
          </a:xfrm>
          <a:prstGeom prst="rect">
            <a:avLst/>
          </a:prstGeom>
          <a:noFill/>
          <a:ln/>
        </p:spPr>
        <p:txBody>
          <a:bodyPr wrap="square" lIns="0" tIns="0" rIns="0" bIns="0" rtlCol="0" anchor="ctr"/>
          <a:lstStyle/>
          <a:p>
            <a:pPr indent="0" marL="0">
              <a:buNone/>
            </a:pPr>
            <a:r>
              <a:rPr lang="en-US" sz="1050" dirty="0">
                <a:solidFill>
                  <a:srgbClr val="5F6772"/>
                </a:solidFill>
              </a:rPr>
              <a:t>Spearman correlation with fare_amount, 500,000 trips from the 2019–2023 sample. Grey = leakage; yellow = strongest usable feature.</a:t>
            </a:r>
            <a:endParaRPr lang="en-US" sz="1050" dirty="0"/>
          </a:p>
        </p:txBody>
      </p:sp>
      <p:sp>
        <p:nvSpPr>
          <p:cNvPr id="25" name="Slide Number Placeholder 0"/>
          <p:cNvSpPr>
            <a:spLocks noGrp="1"/>
          </p:cNvSpPr>
          <p:nvPr>
            <p:ph type="sldNum" sz="quarter" idx="4294967295"/>
          </p:nvPr>
        </p:nvSpPr>
        <p:spPr>
          <a:xfrm>
            <a:off x="8275320" y="4754880"/>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77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nav-Agenda"/>
          <p:cNvSpPr txBox="1"/>
          <p:nvPr/>
        </p:nvSpPr>
        <p:spPr>
          <a:xfrm>
            <a:off x="457200" y="118872"/>
            <a:ext cx="713232" cy="256032"/>
          </a:xfrm>
          <a:prstGeom prst="rect">
            <a:avLst/>
          </a:prstGeom>
          <a:noFill/>
          <a:ln/>
        </p:spPr>
        <p:txBody>
          <a:bodyPr wrap="square" lIns="0" tIns="0" rIns="0" bIns="0" rtlCol="0" anchor="ctr"/>
          <a:lstStyle/>
          <a:p>
            <a:pPr algn="ctr" indent="0" marL="0">
              <a:buNone/>
            </a:pPr>
            <a:r>
              <a:rPr lang="en-US" sz="1050" dirty="0">
                <a:solidFill>
                  <a:srgbClr val="5F6772"/>
                </a:solidFill>
              </a:rPr>
              <a:t>Agenda</a:t>
            </a:r>
            <a:endParaRPr lang="en-US" sz="1050" dirty="0"/>
          </a:p>
        </p:txBody>
      </p:sp>
      <p:sp>
        <p:nvSpPr>
          <p:cNvPr id="3" name="nav-link-Agenda">
            <a:hlinkClick r:id="rId1" tooltip="Go to Agenda" action="ppaction://hlinksldjump"/>
          </p:cNvPr>
          <p:cNvSpPr/>
          <p:nvPr/>
        </p:nvSpPr>
        <p:spPr>
          <a:xfrm>
            <a:off x="457200" y="118872"/>
            <a:ext cx="713232" cy="256032"/>
          </a:xfrm>
          <a:prstGeom prst="rect">
            <a:avLst/>
          </a:prstGeom>
          <a:solidFill>
            <a:srgbClr val="FFFFFF">
              <a:alpha val="0"/>
            </a:srgbClr>
          </a:solidFill>
          <a:ln/>
        </p:spPr>
      </p:sp>
      <p:sp>
        <p:nvSpPr>
          <p:cNvPr id="4" name="nav-Question"/>
          <p:cNvSpPr txBox="1"/>
          <p:nvPr/>
        </p:nvSpPr>
        <p:spPr>
          <a:xfrm>
            <a:off x="1225296" y="118872"/>
            <a:ext cx="822960" cy="256032"/>
          </a:xfrm>
          <a:prstGeom prst="rect">
            <a:avLst/>
          </a:prstGeom>
          <a:noFill/>
          <a:ln/>
        </p:spPr>
        <p:txBody>
          <a:bodyPr wrap="square" lIns="0" tIns="0" rIns="0" bIns="0" rtlCol="0" anchor="ctr"/>
          <a:lstStyle/>
          <a:p>
            <a:pPr algn="ctr" indent="0" marL="0">
              <a:buNone/>
            </a:pPr>
            <a:r>
              <a:rPr lang="en-US" sz="1050" dirty="0">
                <a:solidFill>
                  <a:srgbClr val="5F6772"/>
                </a:solidFill>
              </a:rPr>
              <a:t>Question</a:t>
            </a:r>
            <a:endParaRPr lang="en-US" sz="1050" dirty="0"/>
          </a:p>
        </p:txBody>
      </p:sp>
      <p:sp>
        <p:nvSpPr>
          <p:cNvPr id="5" name="nav-link-Question">
            <a:hlinkClick r:id="rId2" tooltip="Go to Question" action="ppaction://hlinksldjump"/>
          </p:cNvPr>
          <p:cNvSpPr/>
          <p:nvPr/>
        </p:nvSpPr>
        <p:spPr>
          <a:xfrm>
            <a:off x="1225296" y="118872"/>
            <a:ext cx="822960" cy="256032"/>
          </a:xfrm>
          <a:prstGeom prst="rect">
            <a:avLst/>
          </a:prstGeom>
          <a:solidFill>
            <a:srgbClr val="FFFFFF">
              <a:alpha val="0"/>
            </a:srgbClr>
          </a:solidFill>
          <a:ln/>
        </p:spPr>
      </p:sp>
      <p:sp>
        <p:nvSpPr>
          <p:cNvPr id="6" name="nav-Data"/>
          <p:cNvSpPr txBox="1"/>
          <p:nvPr/>
        </p:nvSpPr>
        <p:spPr>
          <a:xfrm>
            <a:off x="2103120" y="118872"/>
            <a:ext cx="566928" cy="256032"/>
          </a:xfrm>
          <a:prstGeom prst="rect">
            <a:avLst/>
          </a:prstGeom>
          <a:noFill/>
          <a:ln/>
        </p:spPr>
        <p:txBody>
          <a:bodyPr wrap="square" lIns="0" tIns="0" rIns="0" bIns="0" rtlCol="0" anchor="ctr"/>
          <a:lstStyle/>
          <a:p>
            <a:pPr algn="ctr" indent="0" marL="0">
              <a:buNone/>
            </a:pPr>
            <a:r>
              <a:rPr lang="en-US" sz="1050" dirty="0">
                <a:solidFill>
                  <a:srgbClr val="5F6772"/>
                </a:solidFill>
              </a:rPr>
              <a:t>Data</a:t>
            </a:r>
            <a:endParaRPr lang="en-US" sz="1050" dirty="0"/>
          </a:p>
        </p:txBody>
      </p:sp>
      <p:sp>
        <p:nvSpPr>
          <p:cNvPr id="7" name="nav-link-Data">
            <a:hlinkClick r:id="rId3" tooltip="Go to Data" action="ppaction://hlinksldjump"/>
          </p:cNvPr>
          <p:cNvSpPr/>
          <p:nvPr/>
        </p:nvSpPr>
        <p:spPr>
          <a:xfrm>
            <a:off x="2103120" y="118872"/>
            <a:ext cx="566928" cy="256032"/>
          </a:xfrm>
          <a:prstGeom prst="rect">
            <a:avLst/>
          </a:prstGeom>
          <a:solidFill>
            <a:srgbClr val="FFFFFF">
              <a:alpha val="0"/>
            </a:srgbClr>
          </a:solidFill>
          <a:ln/>
        </p:spPr>
      </p:sp>
      <p:sp>
        <p:nvSpPr>
          <p:cNvPr id="8" name="nav-pill-Method"/>
          <p:cNvSpPr/>
          <p:nvPr/>
        </p:nvSpPr>
        <p:spPr>
          <a:xfrm>
            <a:off x="2724912" y="118872"/>
            <a:ext cx="713232" cy="256032"/>
          </a:xfrm>
          <a:prstGeom prst="roundRect">
            <a:avLst>
              <a:gd name="adj" fmla="val 50000"/>
            </a:avLst>
          </a:prstGeom>
          <a:solidFill>
            <a:srgbClr val="F2B705"/>
          </a:solidFill>
          <a:ln w="6350">
            <a:solidFill>
              <a:srgbClr val="F2B705"/>
            </a:solidFill>
            <a:prstDash val="solid"/>
          </a:ln>
        </p:spPr>
      </p:sp>
      <p:sp>
        <p:nvSpPr>
          <p:cNvPr id="9" name="nav-Method"/>
          <p:cNvSpPr txBox="1"/>
          <p:nvPr/>
        </p:nvSpPr>
        <p:spPr>
          <a:xfrm>
            <a:off x="2724912" y="118872"/>
            <a:ext cx="713232" cy="256032"/>
          </a:xfrm>
          <a:prstGeom prst="rect">
            <a:avLst/>
          </a:prstGeom>
          <a:noFill/>
          <a:ln/>
        </p:spPr>
        <p:txBody>
          <a:bodyPr wrap="square" lIns="0" tIns="0" rIns="0" bIns="0" rtlCol="0" anchor="ctr"/>
          <a:lstStyle/>
          <a:p>
            <a:pPr algn="ctr" indent="0" marL="0">
              <a:buNone/>
            </a:pPr>
            <a:r>
              <a:rPr lang="en-US" sz="1050" b="1" dirty="0">
                <a:solidFill>
                  <a:schemeClr val="tx1"/>
                </a:solidFill>
              </a:rPr>
              <a:t>Method</a:t>
            </a:r>
            <a:endParaRPr lang="en-US" sz="1050" dirty="0"/>
          </a:p>
        </p:txBody>
      </p:sp>
      <p:sp>
        <p:nvSpPr>
          <p:cNvPr id="10" name="nav-link-Method">
            <a:hlinkClick r:id="rId4" tooltip="Go to Method" action="ppaction://hlinksldjump"/>
          </p:cNvPr>
          <p:cNvSpPr/>
          <p:nvPr/>
        </p:nvSpPr>
        <p:spPr>
          <a:xfrm>
            <a:off x="2724912" y="118872"/>
            <a:ext cx="713232" cy="256032"/>
          </a:xfrm>
          <a:prstGeom prst="rect">
            <a:avLst/>
          </a:prstGeom>
          <a:solidFill>
            <a:srgbClr val="FFFFFF">
              <a:alpha val="0"/>
            </a:srgbClr>
          </a:solidFill>
          <a:ln/>
        </p:spPr>
      </p:sp>
      <p:sp>
        <p:nvSpPr>
          <p:cNvPr id="11" name="nav-Results"/>
          <p:cNvSpPr txBox="1"/>
          <p:nvPr/>
        </p:nvSpPr>
        <p:spPr>
          <a:xfrm>
            <a:off x="3493008" y="118872"/>
            <a:ext cx="731520" cy="256032"/>
          </a:xfrm>
          <a:prstGeom prst="rect">
            <a:avLst/>
          </a:prstGeom>
          <a:noFill/>
          <a:ln/>
        </p:spPr>
        <p:txBody>
          <a:bodyPr wrap="square" lIns="0" tIns="0" rIns="0" bIns="0" rtlCol="0" anchor="ctr"/>
          <a:lstStyle/>
          <a:p>
            <a:pPr algn="ctr" indent="0" marL="0">
              <a:buNone/>
            </a:pPr>
            <a:r>
              <a:rPr lang="en-US" sz="1050" dirty="0">
                <a:solidFill>
                  <a:srgbClr val="5F6772"/>
                </a:solidFill>
              </a:rPr>
              <a:t>Results</a:t>
            </a:r>
            <a:endParaRPr lang="en-US" sz="1050" dirty="0"/>
          </a:p>
        </p:txBody>
      </p:sp>
      <p:sp>
        <p:nvSpPr>
          <p:cNvPr id="12" name="nav-link-Results">
            <a:hlinkClick r:id="rId5" tooltip="Go to Results" action="ppaction://hlinksldjump"/>
          </p:cNvPr>
          <p:cNvSpPr/>
          <p:nvPr/>
        </p:nvSpPr>
        <p:spPr>
          <a:xfrm>
            <a:off x="3493008" y="118872"/>
            <a:ext cx="731520" cy="256032"/>
          </a:xfrm>
          <a:prstGeom prst="rect">
            <a:avLst/>
          </a:prstGeom>
          <a:solidFill>
            <a:srgbClr val="FFFFFF">
              <a:alpha val="0"/>
            </a:srgbClr>
          </a:solidFill>
          <a:ln/>
        </p:spPr>
      </p:sp>
      <p:sp>
        <p:nvSpPr>
          <p:cNvPr id="13" name="nav-Wrap-up"/>
          <p:cNvSpPr txBox="1"/>
          <p:nvPr/>
        </p:nvSpPr>
        <p:spPr>
          <a:xfrm>
            <a:off x="4279392" y="118872"/>
            <a:ext cx="786384" cy="256032"/>
          </a:xfrm>
          <a:prstGeom prst="rect">
            <a:avLst/>
          </a:prstGeom>
          <a:noFill/>
          <a:ln/>
        </p:spPr>
        <p:txBody>
          <a:bodyPr wrap="square" lIns="0" tIns="0" rIns="0" bIns="0" rtlCol="0" anchor="ctr"/>
          <a:lstStyle/>
          <a:p>
            <a:pPr algn="ctr" indent="0" marL="0">
              <a:buNone/>
            </a:pPr>
            <a:r>
              <a:rPr lang="en-US" sz="1050" dirty="0">
                <a:solidFill>
                  <a:srgbClr val="5F6772"/>
                </a:solidFill>
              </a:rPr>
              <a:t>Wrap-up</a:t>
            </a:r>
            <a:endParaRPr lang="en-US" sz="1050" dirty="0"/>
          </a:p>
        </p:txBody>
      </p:sp>
      <p:sp>
        <p:nvSpPr>
          <p:cNvPr id="14" name="nav-link-Wrap-up">
            <a:hlinkClick r:id="rId6" tooltip="Go to Wrap-up" action="ppaction://hlinksldjump"/>
          </p:cNvPr>
          <p:cNvSpPr/>
          <p:nvPr/>
        </p:nvSpPr>
        <p:spPr>
          <a:xfrm>
            <a:off x="4279392" y="118872"/>
            <a:ext cx="786384" cy="256032"/>
          </a:xfrm>
          <a:prstGeom prst="rect">
            <a:avLst/>
          </a:prstGeom>
          <a:solidFill>
            <a:srgbClr val="FFFFFF">
              <a:alpha val="0"/>
            </a:srgbClr>
          </a:solidFill>
          <a:ln/>
        </p:spPr>
      </p:sp>
      <p:sp>
        <p:nvSpPr>
          <p:cNvPr id="15" name="nav-Appendix"/>
          <p:cNvSpPr txBox="1"/>
          <p:nvPr/>
        </p:nvSpPr>
        <p:spPr>
          <a:xfrm>
            <a:off x="5120640" y="118872"/>
            <a:ext cx="859536" cy="256032"/>
          </a:xfrm>
          <a:prstGeom prst="rect">
            <a:avLst/>
          </a:prstGeom>
          <a:noFill/>
          <a:ln/>
        </p:spPr>
        <p:txBody>
          <a:bodyPr wrap="square" lIns="0" tIns="0" rIns="0" bIns="0" rtlCol="0" anchor="ctr"/>
          <a:lstStyle/>
          <a:p>
            <a:pPr algn="ctr" indent="0" marL="0">
              <a:buNone/>
            </a:pPr>
            <a:r>
              <a:rPr lang="en-US" sz="1050" dirty="0">
                <a:solidFill>
                  <a:srgbClr val="5F6772"/>
                </a:solidFill>
              </a:rPr>
              <a:t>Appendix</a:t>
            </a:r>
            <a:endParaRPr lang="en-US" sz="1050" dirty="0"/>
          </a:p>
        </p:txBody>
      </p:sp>
      <p:sp>
        <p:nvSpPr>
          <p:cNvPr id="16" name="nav-link-Appendix">
            <a:hlinkClick r:id="rId7" tooltip="Go to Appendix" action="ppaction://hlinksldjump"/>
          </p:cNvPr>
          <p:cNvSpPr/>
          <p:nvPr/>
        </p:nvSpPr>
        <p:spPr>
          <a:xfrm>
            <a:off x="5120640" y="118872"/>
            <a:ext cx="859536" cy="256032"/>
          </a:xfrm>
          <a:prstGeom prst="rect">
            <a:avLst/>
          </a:prstGeom>
          <a:solidFill>
            <a:srgbClr val="FFFFFF">
              <a:alpha val="0"/>
            </a:srgbClr>
          </a:solidFill>
          <a:ln/>
        </p:spPr>
      </p:sp>
      <p:sp>
        <p:nvSpPr>
          <p:cNvPr id="17" name="Text 0"/>
          <p:cNvSpPr/>
          <p:nvPr>
            <p:ph idx="100" type="title" hasCustomPrompt="1"/>
          </p:nvPr>
        </p:nvSpPr>
        <p:spPr>
          <a:xfrm>
            <a:off x="457200" y="475488"/>
            <a:ext cx="8229600" cy="777240"/>
          </a:xfrm>
          <a:prstGeom prst="rect">
            <a:avLst/>
          </a:prstGeom>
          <a:noFill/>
          <a:ln/>
        </p:spPr>
        <p:txBody>
          <a:bodyPr wrap="square" lIns="0" tIns="0" rIns="0" bIns="0" rtlCol="0" anchor="t"/>
          <a:lstStyle/>
          <a:p>
            <a:pPr algn="l" indent="0" marL="0">
              <a:buNone/>
            </a:pPr>
            <a:r>
              <a:rPr lang="en-US" sz="2200" b="1" dirty="0">
                <a:solidFill>
                  <a:schemeClr val="tx1"/>
                </a:solidFill>
              </a:rPr>
              <a:t>We split by time: train on January 2019 – June 2023, tune on July–September, test once on October–December 2023</a:t>
            </a:r>
            <a:endParaRPr lang="en-US" sz="2200" dirty="0"/>
          </a:p>
        </p:txBody>
      </p:sp>
      <p:sp>
        <p:nvSpPr>
          <p:cNvPr id="18" name="block-1"/>
          <p:cNvSpPr txBox="1"/>
          <p:nvPr/>
        </p:nvSpPr>
        <p:spPr>
          <a:xfrm>
            <a:off x="457200" y="1508760"/>
            <a:ext cx="960120" cy="658368"/>
          </a:xfrm>
          <a:prstGeom prst="roundRect">
            <a:avLst>
              <a:gd name="adj" fmla="val 8333"/>
            </a:avLst>
          </a:prstGeom>
          <a:solidFill>
            <a:srgbClr val="232A33"/>
          </a:solidFill>
          <a:ln/>
        </p:spPr>
        <p:txBody>
          <a:bodyPr wrap="square" lIns="0" tIns="0" rIns="0" bIns="0" rtlCol="0" anchor="ctr"/>
          <a:lstStyle/>
          <a:p>
            <a:pPr algn="ctr" indent="0" marL="0">
              <a:buNone/>
            </a:pPr>
            <a:r>
              <a:rPr lang="en-US" sz="1300" b="1" dirty="0">
                <a:solidFill>
                  <a:schemeClr val="bg1"/>
                </a:solidFill>
              </a:rPr>
              <a:t>2019</a:t>
            </a:r>
            <a:endParaRPr lang="en-US" sz="1300" dirty="0"/>
          </a:p>
        </p:txBody>
      </p:sp>
      <p:sp>
        <p:nvSpPr>
          <p:cNvPr id="19" name="block-2"/>
          <p:cNvSpPr txBox="1"/>
          <p:nvPr/>
        </p:nvSpPr>
        <p:spPr>
          <a:xfrm>
            <a:off x="1485900" y="1508760"/>
            <a:ext cx="960120" cy="658368"/>
          </a:xfrm>
          <a:prstGeom prst="roundRect">
            <a:avLst>
              <a:gd name="adj" fmla="val 8333"/>
            </a:avLst>
          </a:prstGeom>
          <a:solidFill>
            <a:srgbClr val="232A33"/>
          </a:solidFill>
          <a:ln/>
        </p:spPr>
        <p:txBody>
          <a:bodyPr wrap="square" lIns="0" tIns="0" rIns="0" bIns="0" rtlCol="0" anchor="ctr"/>
          <a:lstStyle/>
          <a:p>
            <a:pPr algn="ctr" indent="0" marL="0">
              <a:buNone/>
            </a:pPr>
            <a:r>
              <a:rPr lang="en-US" sz="1300" b="1" dirty="0">
                <a:solidFill>
                  <a:schemeClr val="bg1"/>
                </a:solidFill>
              </a:rPr>
              <a:t>2020</a:t>
            </a:r>
            <a:endParaRPr lang="en-US" sz="1300" dirty="0"/>
          </a:p>
        </p:txBody>
      </p:sp>
      <p:sp>
        <p:nvSpPr>
          <p:cNvPr id="20" name="block-3"/>
          <p:cNvSpPr txBox="1"/>
          <p:nvPr/>
        </p:nvSpPr>
        <p:spPr>
          <a:xfrm>
            <a:off x="2514600" y="1508760"/>
            <a:ext cx="960120" cy="658368"/>
          </a:xfrm>
          <a:prstGeom prst="roundRect">
            <a:avLst>
              <a:gd name="adj" fmla="val 8333"/>
            </a:avLst>
          </a:prstGeom>
          <a:solidFill>
            <a:srgbClr val="232A33"/>
          </a:solidFill>
          <a:ln/>
        </p:spPr>
        <p:txBody>
          <a:bodyPr wrap="square" lIns="0" tIns="0" rIns="0" bIns="0" rtlCol="0" anchor="ctr"/>
          <a:lstStyle/>
          <a:p>
            <a:pPr algn="ctr" indent="0" marL="0">
              <a:buNone/>
            </a:pPr>
            <a:r>
              <a:rPr lang="en-US" sz="1300" b="1" dirty="0">
                <a:solidFill>
                  <a:schemeClr val="bg1"/>
                </a:solidFill>
              </a:rPr>
              <a:t>2021</a:t>
            </a:r>
            <a:endParaRPr lang="en-US" sz="1300" dirty="0"/>
          </a:p>
        </p:txBody>
      </p:sp>
      <p:sp>
        <p:nvSpPr>
          <p:cNvPr id="21" name="block-4"/>
          <p:cNvSpPr txBox="1"/>
          <p:nvPr/>
        </p:nvSpPr>
        <p:spPr>
          <a:xfrm>
            <a:off x="3543300" y="1508760"/>
            <a:ext cx="960120" cy="658368"/>
          </a:xfrm>
          <a:prstGeom prst="roundRect">
            <a:avLst>
              <a:gd name="adj" fmla="val 8333"/>
            </a:avLst>
          </a:prstGeom>
          <a:solidFill>
            <a:srgbClr val="232A33"/>
          </a:solidFill>
          <a:ln/>
        </p:spPr>
        <p:txBody>
          <a:bodyPr wrap="square" lIns="0" tIns="0" rIns="0" bIns="0" rtlCol="0" anchor="ctr"/>
          <a:lstStyle/>
          <a:p>
            <a:pPr algn="ctr" indent="0" marL="0">
              <a:buNone/>
            </a:pPr>
            <a:r>
              <a:rPr lang="en-US" sz="1300" b="1" dirty="0">
                <a:solidFill>
                  <a:schemeClr val="bg1"/>
                </a:solidFill>
              </a:rPr>
              <a:t>2022</a:t>
            </a:r>
            <a:endParaRPr lang="en-US" sz="1300" dirty="0"/>
          </a:p>
        </p:txBody>
      </p:sp>
      <p:sp>
        <p:nvSpPr>
          <p:cNvPr id="22" name="block-5"/>
          <p:cNvSpPr txBox="1"/>
          <p:nvPr/>
        </p:nvSpPr>
        <p:spPr>
          <a:xfrm>
            <a:off x="4572000" y="1508760"/>
            <a:ext cx="960120" cy="658368"/>
          </a:xfrm>
          <a:prstGeom prst="roundRect">
            <a:avLst>
              <a:gd name="adj" fmla="val 8333"/>
            </a:avLst>
          </a:prstGeom>
          <a:solidFill>
            <a:srgbClr val="232A33"/>
          </a:solidFill>
          <a:ln/>
        </p:spPr>
        <p:txBody>
          <a:bodyPr wrap="square" lIns="0" tIns="0" rIns="0" bIns="0" rtlCol="0" anchor="ctr"/>
          <a:lstStyle/>
          <a:p>
            <a:pPr algn="ctr" indent="0" marL="0">
              <a:buNone/>
            </a:pPr>
            <a:r>
              <a:rPr lang="en-US" sz="1300" b="1" dirty="0">
                <a:solidFill>
                  <a:schemeClr val="bg1"/>
                </a:solidFill>
              </a:rPr>
              <a:t>Q1 2023</a:t>
            </a:r>
            <a:endParaRPr lang="en-US" sz="1300" dirty="0"/>
          </a:p>
        </p:txBody>
      </p:sp>
      <p:sp>
        <p:nvSpPr>
          <p:cNvPr id="23" name="block-6"/>
          <p:cNvSpPr txBox="1"/>
          <p:nvPr/>
        </p:nvSpPr>
        <p:spPr>
          <a:xfrm>
            <a:off x="5600700" y="1508760"/>
            <a:ext cx="960120" cy="658368"/>
          </a:xfrm>
          <a:prstGeom prst="roundRect">
            <a:avLst>
              <a:gd name="adj" fmla="val 8333"/>
            </a:avLst>
          </a:prstGeom>
          <a:solidFill>
            <a:srgbClr val="232A33"/>
          </a:solidFill>
          <a:ln/>
        </p:spPr>
        <p:txBody>
          <a:bodyPr wrap="square" lIns="0" tIns="0" rIns="0" bIns="0" rtlCol="0" anchor="ctr"/>
          <a:lstStyle/>
          <a:p>
            <a:pPr algn="ctr" indent="0" marL="0">
              <a:buNone/>
            </a:pPr>
            <a:r>
              <a:rPr lang="en-US" sz="1300" b="1" dirty="0">
                <a:solidFill>
                  <a:schemeClr val="bg1"/>
                </a:solidFill>
              </a:rPr>
              <a:t>Q2 2023</a:t>
            </a:r>
            <a:endParaRPr lang="en-US" sz="1300" dirty="0"/>
          </a:p>
        </p:txBody>
      </p:sp>
      <p:sp>
        <p:nvSpPr>
          <p:cNvPr id="24" name="block-7"/>
          <p:cNvSpPr txBox="1"/>
          <p:nvPr/>
        </p:nvSpPr>
        <p:spPr>
          <a:xfrm>
            <a:off x="6629400" y="1508760"/>
            <a:ext cx="960120" cy="658368"/>
          </a:xfrm>
          <a:prstGeom prst="roundRect">
            <a:avLst>
              <a:gd name="adj" fmla="val 8333"/>
            </a:avLst>
          </a:prstGeom>
          <a:solidFill>
            <a:srgbClr val="8A939E"/>
          </a:solidFill>
          <a:ln/>
        </p:spPr>
        <p:txBody>
          <a:bodyPr wrap="square" lIns="0" tIns="0" rIns="0" bIns="0" rtlCol="0" anchor="ctr"/>
          <a:lstStyle/>
          <a:p>
            <a:pPr algn="ctr" indent="0" marL="0">
              <a:buNone/>
            </a:pPr>
            <a:r>
              <a:rPr lang="en-US" sz="1300" b="1" dirty="0">
                <a:solidFill>
                  <a:schemeClr val="tx1"/>
                </a:solidFill>
              </a:rPr>
              <a:t>Q3 2023</a:t>
            </a:r>
            <a:endParaRPr lang="en-US" sz="1300" dirty="0"/>
          </a:p>
        </p:txBody>
      </p:sp>
      <p:sp>
        <p:nvSpPr>
          <p:cNvPr id="25" name="block-8"/>
          <p:cNvSpPr txBox="1"/>
          <p:nvPr/>
        </p:nvSpPr>
        <p:spPr>
          <a:xfrm>
            <a:off x="7658100" y="1508760"/>
            <a:ext cx="960120" cy="658368"/>
          </a:xfrm>
          <a:prstGeom prst="roundRect">
            <a:avLst>
              <a:gd name="adj" fmla="val 8333"/>
            </a:avLst>
          </a:prstGeom>
          <a:solidFill>
            <a:srgbClr val="F2B705"/>
          </a:solidFill>
          <a:ln/>
        </p:spPr>
        <p:txBody>
          <a:bodyPr wrap="square" lIns="0" tIns="0" rIns="0" bIns="0" rtlCol="0" anchor="ctr"/>
          <a:lstStyle/>
          <a:p>
            <a:pPr algn="ctr" indent="0" marL="0">
              <a:buNone/>
            </a:pPr>
            <a:r>
              <a:rPr lang="en-US" sz="1300" b="1" dirty="0">
                <a:solidFill>
                  <a:schemeClr val="tx1"/>
                </a:solidFill>
              </a:rPr>
              <a:t>Q4 2023</a:t>
            </a:r>
            <a:endParaRPr lang="en-US" sz="1300" dirty="0"/>
          </a:p>
        </p:txBody>
      </p:sp>
      <p:sp>
        <p:nvSpPr>
          <p:cNvPr id="26" name="legend-swatch-1"/>
          <p:cNvSpPr/>
          <p:nvPr/>
        </p:nvSpPr>
        <p:spPr>
          <a:xfrm>
            <a:off x="457200" y="2532888"/>
            <a:ext cx="274320" cy="274320"/>
          </a:xfrm>
          <a:prstGeom prst="roundRect">
            <a:avLst>
              <a:gd name="adj" fmla="val 16667"/>
            </a:avLst>
          </a:prstGeom>
          <a:solidFill>
            <a:srgbClr val="232A33"/>
          </a:solidFill>
          <a:ln/>
        </p:spPr>
      </p:sp>
      <p:sp>
        <p:nvSpPr>
          <p:cNvPr id="27" name="legend-1"/>
          <p:cNvSpPr txBox="1"/>
          <p:nvPr/>
        </p:nvSpPr>
        <p:spPr>
          <a:xfrm>
            <a:off x="868680" y="2468880"/>
            <a:ext cx="7772400" cy="402336"/>
          </a:xfrm>
          <a:prstGeom prst="rect">
            <a:avLst/>
          </a:prstGeom>
          <a:noFill/>
          <a:ln/>
        </p:spPr>
        <p:txBody>
          <a:bodyPr wrap="square" lIns="0" tIns="0" rIns="0" bIns="0" rtlCol="0" anchor="ctr"/>
          <a:lstStyle/>
          <a:p>
            <a:pPr indent="0" marL="0">
              <a:buNone/>
            </a:pPr>
            <a:r>
              <a:rPr lang="en-US" sz="1500" b="1" dirty="0">
                <a:solidFill>
                  <a:schemeClr val="tx1"/>
                </a:solidFill>
              </a:rPr>
              <a:t>Training  </a:t>
            </a:r>
            <a:pPr indent="0" marL="0">
              <a:buNone/>
            </a:pPr>
            <a:r>
              <a:rPr lang="en-US" sz="1500" dirty="0">
                <a:solidFill>
                  <a:schemeClr val="tx1"/>
                </a:solidFill>
              </a:rPr>
              <a:t>Jan 2019 – Jun 2023   ·   1,877,385 trips · 91.6%   ·   fit models while tuning</a:t>
            </a:r>
            <a:endParaRPr lang="en-US" sz="1500" dirty="0"/>
          </a:p>
        </p:txBody>
      </p:sp>
      <p:sp>
        <p:nvSpPr>
          <p:cNvPr id="28" name="legend-swatch-2"/>
          <p:cNvSpPr/>
          <p:nvPr/>
        </p:nvSpPr>
        <p:spPr>
          <a:xfrm>
            <a:off x="457200" y="2990088"/>
            <a:ext cx="274320" cy="274320"/>
          </a:xfrm>
          <a:prstGeom prst="roundRect">
            <a:avLst>
              <a:gd name="adj" fmla="val 16667"/>
            </a:avLst>
          </a:prstGeom>
          <a:solidFill>
            <a:srgbClr val="8A939E"/>
          </a:solidFill>
          <a:ln/>
        </p:spPr>
      </p:sp>
      <p:sp>
        <p:nvSpPr>
          <p:cNvPr id="29" name="legend-2"/>
          <p:cNvSpPr txBox="1"/>
          <p:nvPr/>
        </p:nvSpPr>
        <p:spPr>
          <a:xfrm>
            <a:off x="868680" y="2926080"/>
            <a:ext cx="7772400" cy="402336"/>
          </a:xfrm>
          <a:prstGeom prst="rect">
            <a:avLst/>
          </a:prstGeom>
          <a:noFill/>
          <a:ln/>
        </p:spPr>
        <p:txBody>
          <a:bodyPr wrap="square" lIns="0" tIns="0" rIns="0" bIns="0" rtlCol="0" anchor="ctr"/>
          <a:lstStyle/>
          <a:p>
            <a:pPr indent="0" marL="0">
              <a:buNone/>
            </a:pPr>
            <a:r>
              <a:rPr lang="en-US" sz="1500" b="1" dirty="0">
                <a:solidFill>
                  <a:schemeClr val="tx1"/>
                </a:solidFill>
              </a:rPr>
              <a:t>Validation  </a:t>
            </a:r>
            <a:pPr indent="0" marL="0">
              <a:buNone/>
            </a:pPr>
            <a:r>
              <a:rPr lang="en-US" sz="1500" dirty="0">
                <a:solidFill>
                  <a:schemeClr val="tx1"/>
                </a:solidFill>
              </a:rPr>
              <a:t>Jul – Sep 2023   ·   78,497 trips · 3.8%   ·   choose settings and set-up</a:t>
            </a:r>
            <a:endParaRPr lang="en-US" sz="1500" dirty="0"/>
          </a:p>
        </p:txBody>
      </p:sp>
      <p:sp>
        <p:nvSpPr>
          <p:cNvPr id="30" name="legend-swatch-3"/>
          <p:cNvSpPr/>
          <p:nvPr/>
        </p:nvSpPr>
        <p:spPr>
          <a:xfrm>
            <a:off x="457200" y="3447288"/>
            <a:ext cx="274320" cy="274320"/>
          </a:xfrm>
          <a:prstGeom prst="roundRect">
            <a:avLst>
              <a:gd name="adj" fmla="val 16667"/>
            </a:avLst>
          </a:prstGeom>
          <a:solidFill>
            <a:srgbClr val="F2B705"/>
          </a:solidFill>
          <a:ln/>
        </p:spPr>
      </p:sp>
      <p:sp>
        <p:nvSpPr>
          <p:cNvPr id="31" name="legend-3"/>
          <p:cNvSpPr txBox="1"/>
          <p:nvPr/>
        </p:nvSpPr>
        <p:spPr>
          <a:xfrm>
            <a:off x="868680" y="3383280"/>
            <a:ext cx="7772400" cy="402336"/>
          </a:xfrm>
          <a:prstGeom prst="rect">
            <a:avLst/>
          </a:prstGeom>
          <a:noFill/>
          <a:ln/>
        </p:spPr>
        <p:txBody>
          <a:bodyPr wrap="square" lIns="0" tIns="0" rIns="0" bIns="0" rtlCol="0" anchor="ctr"/>
          <a:lstStyle/>
          <a:p>
            <a:pPr indent="0" marL="0">
              <a:buNone/>
            </a:pPr>
            <a:r>
              <a:rPr lang="en-US" sz="1500" b="1" dirty="0">
                <a:solidFill>
                  <a:schemeClr val="tx1"/>
                </a:solidFill>
              </a:rPr>
              <a:t>Test  </a:t>
            </a:r>
            <a:pPr indent="0" marL="0">
              <a:buNone/>
            </a:pPr>
            <a:r>
              <a:rPr lang="en-US" sz="1500" dirty="0">
                <a:solidFill>
                  <a:schemeClr val="tx1"/>
                </a:solidFill>
              </a:rPr>
              <a:t>Oct – Dec 2023   ·   93,033 trips · 4.5%   ·   final score, used once</a:t>
            </a:r>
            <a:endParaRPr lang="en-US" sz="1500" dirty="0"/>
          </a:p>
        </p:txBody>
      </p:sp>
      <p:sp>
        <p:nvSpPr>
          <p:cNvPr id="32" name="split-final-card"/>
          <p:cNvSpPr/>
          <p:nvPr/>
        </p:nvSpPr>
        <p:spPr>
          <a:xfrm>
            <a:off x="457200" y="3931920"/>
            <a:ext cx="8229600" cy="640080"/>
          </a:xfrm>
          <a:prstGeom prst="roundRect">
            <a:avLst>
              <a:gd name="adj" fmla="val 11429"/>
            </a:avLst>
          </a:prstGeom>
          <a:solidFill>
            <a:srgbClr val="F1F3F5"/>
          </a:solidFill>
          <a:ln/>
        </p:spPr>
      </p:sp>
      <p:sp>
        <p:nvSpPr>
          <p:cNvPr id="33" name="split-final-text"/>
          <p:cNvSpPr txBox="1"/>
          <p:nvPr/>
        </p:nvSpPr>
        <p:spPr>
          <a:xfrm>
            <a:off x="640080" y="3931920"/>
            <a:ext cx="7863840" cy="640080"/>
          </a:xfrm>
          <a:prstGeom prst="rect">
            <a:avLst/>
          </a:prstGeom>
          <a:noFill/>
          <a:ln/>
        </p:spPr>
        <p:txBody>
          <a:bodyPr wrap="square" lIns="0" tIns="0" rIns="0" bIns="0" rtlCol="0" anchor="ctr"/>
          <a:lstStyle/>
          <a:p>
            <a:pPr indent="0" marL="0">
              <a:buNone/>
            </a:pPr>
            <a:r>
              <a:rPr lang="en-US" sz="1400" b="1" dirty="0">
                <a:solidFill>
                  <a:schemeClr val="tx1"/>
                </a:solidFill>
              </a:rPr>
              <a:t>Final models: </a:t>
            </a:r>
            <a:pPr indent="0" marL="0">
              <a:buNone/>
            </a:pPr>
            <a:r>
              <a:rPr lang="en-US" sz="1400" dirty="0">
                <a:solidFill>
                  <a:schemeClr val="tx1"/>
                </a:solidFill>
              </a:rPr>
              <a:t>refit on 200,000 trips from January 2019 – September 2023, then scored once on all 93,033 test trips.</a:t>
            </a:r>
            <a:endParaRPr lang="en-US" sz="1400" dirty="0"/>
          </a:p>
        </p:txBody>
      </p:sp>
      <p:sp>
        <p:nvSpPr>
          <p:cNvPr id="34" name="citation"/>
          <p:cNvSpPr txBox="1"/>
          <p:nvPr/>
        </p:nvSpPr>
        <p:spPr>
          <a:xfrm>
            <a:off x="457200" y="4754880"/>
            <a:ext cx="7680960" cy="256032"/>
          </a:xfrm>
          <a:prstGeom prst="rect">
            <a:avLst/>
          </a:prstGeom>
          <a:noFill/>
          <a:ln/>
        </p:spPr>
        <p:txBody>
          <a:bodyPr wrap="square" lIns="0" tIns="0" rIns="0" bIns="0" rtlCol="0" anchor="ctr"/>
          <a:lstStyle/>
          <a:p>
            <a:pPr indent="0" marL="0">
              <a:buNone/>
            </a:pPr>
            <a:r>
              <a:rPr lang="en-US" sz="1050" dirty="0">
                <a:solidFill>
                  <a:srgbClr val="5F6772"/>
                </a:solidFill>
              </a:rPr>
              <a:t>Blocks are years and quarters, not to scale. Counts are trips in the cleaned 1% sample. Why not a random split? Appendix F.</a:t>
            </a:r>
            <a:endParaRPr lang="en-US" sz="1050" dirty="0"/>
          </a:p>
        </p:txBody>
      </p:sp>
      <p:sp>
        <p:nvSpPr>
          <p:cNvPr id="25" name="Slide Number Placeholder 0"/>
          <p:cNvSpPr>
            <a:spLocks noGrp="1"/>
          </p:cNvSpPr>
          <p:nvPr>
            <p:ph type="sldNum" sz="quarter" idx="4294967295"/>
          </p:nvPr>
        </p:nvSpPr>
        <p:spPr>
          <a:xfrm>
            <a:off x="8275320" y="4754880"/>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77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nav-Agenda"/>
          <p:cNvSpPr txBox="1"/>
          <p:nvPr/>
        </p:nvSpPr>
        <p:spPr>
          <a:xfrm>
            <a:off x="457200" y="118872"/>
            <a:ext cx="713232" cy="256032"/>
          </a:xfrm>
          <a:prstGeom prst="rect">
            <a:avLst/>
          </a:prstGeom>
          <a:noFill/>
          <a:ln/>
        </p:spPr>
        <p:txBody>
          <a:bodyPr wrap="square" lIns="0" tIns="0" rIns="0" bIns="0" rtlCol="0" anchor="ctr"/>
          <a:lstStyle/>
          <a:p>
            <a:pPr algn="ctr" indent="0" marL="0">
              <a:buNone/>
            </a:pPr>
            <a:r>
              <a:rPr lang="en-US" sz="1050" dirty="0">
                <a:solidFill>
                  <a:srgbClr val="5F6772"/>
                </a:solidFill>
              </a:rPr>
              <a:t>Agenda</a:t>
            </a:r>
            <a:endParaRPr lang="en-US" sz="1050" dirty="0"/>
          </a:p>
        </p:txBody>
      </p:sp>
      <p:sp>
        <p:nvSpPr>
          <p:cNvPr id="3" name="nav-link-Agenda">
            <a:hlinkClick r:id="rId1" tooltip="Go to Agenda" action="ppaction://hlinksldjump"/>
          </p:cNvPr>
          <p:cNvSpPr/>
          <p:nvPr/>
        </p:nvSpPr>
        <p:spPr>
          <a:xfrm>
            <a:off x="457200" y="118872"/>
            <a:ext cx="713232" cy="256032"/>
          </a:xfrm>
          <a:prstGeom prst="rect">
            <a:avLst/>
          </a:prstGeom>
          <a:solidFill>
            <a:srgbClr val="FFFFFF">
              <a:alpha val="0"/>
            </a:srgbClr>
          </a:solidFill>
          <a:ln/>
        </p:spPr>
      </p:sp>
      <p:sp>
        <p:nvSpPr>
          <p:cNvPr id="4" name="nav-Question"/>
          <p:cNvSpPr txBox="1"/>
          <p:nvPr/>
        </p:nvSpPr>
        <p:spPr>
          <a:xfrm>
            <a:off x="1225296" y="118872"/>
            <a:ext cx="822960" cy="256032"/>
          </a:xfrm>
          <a:prstGeom prst="rect">
            <a:avLst/>
          </a:prstGeom>
          <a:noFill/>
          <a:ln/>
        </p:spPr>
        <p:txBody>
          <a:bodyPr wrap="square" lIns="0" tIns="0" rIns="0" bIns="0" rtlCol="0" anchor="ctr"/>
          <a:lstStyle/>
          <a:p>
            <a:pPr algn="ctr" indent="0" marL="0">
              <a:buNone/>
            </a:pPr>
            <a:r>
              <a:rPr lang="en-US" sz="1050" dirty="0">
                <a:solidFill>
                  <a:srgbClr val="5F6772"/>
                </a:solidFill>
              </a:rPr>
              <a:t>Question</a:t>
            </a:r>
            <a:endParaRPr lang="en-US" sz="1050" dirty="0"/>
          </a:p>
        </p:txBody>
      </p:sp>
      <p:sp>
        <p:nvSpPr>
          <p:cNvPr id="5" name="nav-link-Question">
            <a:hlinkClick r:id="rId2" tooltip="Go to Question" action="ppaction://hlinksldjump"/>
          </p:cNvPr>
          <p:cNvSpPr/>
          <p:nvPr/>
        </p:nvSpPr>
        <p:spPr>
          <a:xfrm>
            <a:off x="1225296" y="118872"/>
            <a:ext cx="822960" cy="256032"/>
          </a:xfrm>
          <a:prstGeom prst="rect">
            <a:avLst/>
          </a:prstGeom>
          <a:solidFill>
            <a:srgbClr val="FFFFFF">
              <a:alpha val="0"/>
            </a:srgbClr>
          </a:solidFill>
          <a:ln/>
        </p:spPr>
      </p:sp>
      <p:sp>
        <p:nvSpPr>
          <p:cNvPr id="6" name="nav-Data"/>
          <p:cNvSpPr txBox="1"/>
          <p:nvPr/>
        </p:nvSpPr>
        <p:spPr>
          <a:xfrm>
            <a:off x="2103120" y="118872"/>
            <a:ext cx="566928" cy="256032"/>
          </a:xfrm>
          <a:prstGeom prst="rect">
            <a:avLst/>
          </a:prstGeom>
          <a:noFill/>
          <a:ln/>
        </p:spPr>
        <p:txBody>
          <a:bodyPr wrap="square" lIns="0" tIns="0" rIns="0" bIns="0" rtlCol="0" anchor="ctr"/>
          <a:lstStyle/>
          <a:p>
            <a:pPr algn="ctr" indent="0" marL="0">
              <a:buNone/>
            </a:pPr>
            <a:r>
              <a:rPr lang="en-US" sz="1050" dirty="0">
                <a:solidFill>
                  <a:srgbClr val="5F6772"/>
                </a:solidFill>
              </a:rPr>
              <a:t>Data</a:t>
            </a:r>
            <a:endParaRPr lang="en-US" sz="1050" dirty="0"/>
          </a:p>
        </p:txBody>
      </p:sp>
      <p:sp>
        <p:nvSpPr>
          <p:cNvPr id="7" name="nav-link-Data">
            <a:hlinkClick r:id="rId3" tooltip="Go to Data" action="ppaction://hlinksldjump"/>
          </p:cNvPr>
          <p:cNvSpPr/>
          <p:nvPr/>
        </p:nvSpPr>
        <p:spPr>
          <a:xfrm>
            <a:off x="2103120" y="118872"/>
            <a:ext cx="566928" cy="256032"/>
          </a:xfrm>
          <a:prstGeom prst="rect">
            <a:avLst/>
          </a:prstGeom>
          <a:solidFill>
            <a:srgbClr val="FFFFFF">
              <a:alpha val="0"/>
            </a:srgbClr>
          </a:solidFill>
          <a:ln/>
        </p:spPr>
      </p:sp>
      <p:sp>
        <p:nvSpPr>
          <p:cNvPr id="8" name="nav-pill-Method"/>
          <p:cNvSpPr/>
          <p:nvPr/>
        </p:nvSpPr>
        <p:spPr>
          <a:xfrm>
            <a:off x="2724912" y="118872"/>
            <a:ext cx="713232" cy="256032"/>
          </a:xfrm>
          <a:prstGeom prst="roundRect">
            <a:avLst>
              <a:gd name="adj" fmla="val 50000"/>
            </a:avLst>
          </a:prstGeom>
          <a:solidFill>
            <a:srgbClr val="F2B705"/>
          </a:solidFill>
          <a:ln w="6350">
            <a:solidFill>
              <a:srgbClr val="F2B705"/>
            </a:solidFill>
            <a:prstDash val="solid"/>
          </a:ln>
        </p:spPr>
      </p:sp>
      <p:sp>
        <p:nvSpPr>
          <p:cNvPr id="9" name="nav-Method"/>
          <p:cNvSpPr txBox="1"/>
          <p:nvPr/>
        </p:nvSpPr>
        <p:spPr>
          <a:xfrm>
            <a:off x="2724912" y="118872"/>
            <a:ext cx="713232" cy="256032"/>
          </a:xfrm>
          <a:prstGeom prst="rect">
            <a:avLst/>
          </a:prstGeom>
          <a:noFill/>
          <a:ln/>
        </p:spPr>
        <p:txBody>
          <a:bodyPr wrap="square" lIns="0" tIns="0" rIns="0" bIns="0" rtlCol="0" anchor="ctr"/>
          <a:lstStyle/>
          <a:p>
            <a:pPr algn="ctr" indent="0" marL="0">
              <a:buNone/>
            </a:pPr>
            <a:r>
              <a:rPr lang="en-US" sz="1050" b="1" dirty="0">
                <a:solidFill>
                  <a:schemeClr val="tx1"/>
                </a:solidFill>
              </a:rPr>
              <a:t>Method</a:t>
            </a:r>
            <a:endParaRPr lang="en-US" sz="1050" dirty="0"/>
          </a:p>
        </p:txBody>
      </p:sp>
      <p:sp>
        <p:nvSpPr>
          <p:cNvPr id="10" name="nav-link-Method">
            <a:hlinkClick r:id="rId4" tooltip="Go to Method" action="ppaction://hlinksldjump"/>
          </p:cNvPr>
          <p:cNvSpPr/>
          <p:nvPr/>
        </p:nvSpPr>
        <p:spPr>
          <a:xfrm>
            <a:off x="2724912" y="118872"/>
            <a:ext cx="713232" cy="256032"/>
          </a:xfrm>
          <a:prstGeom prst="rect">
            <a:avLst/>
          </a:prstGeom>
          <a:solidFill>
            <a:srgbClr val="FFFFFF">
              <a:alpha val="0"/>
            </a:srgbClr>
          </a:solidFill>
          <a:ln/>
        </p:spPr>
      </p:sp>
      <p:sp>
        <p:nvSpPr>
          <p:cNvPr id="11" name="nav-Results"/>
          <p:cNvSpPr txBox="1"/>
          <p:nvPr/>
        </p:nvSpPr>
        <p:spPr>
          <a:xfrm>
            <a:off x="3493008" y="118872"/>
            <a:ext cx="731520" cy="256032"/>
          </a:xfrm>
          <a:prstGeom prst="rect">
            <a:avLst/>
          </a:prstGeom>
          <a:noFill/>
          <a:ln/>
        </p:spPr>
        <p:txBody>
          <a:bodyPr wrap="square" lIns="0" tIns="0" rIns="0" bIns="0" rtlCol="0" anchor="ctr"/>
          <a:lstStyle/>
          <a:p>
            <a:pPr algn="ctr" indent="0" marL="0">
              <a:buNone/>
            </a:pPr>
            <a:r>
              <a:rPr lang="en-US" sz="1050" dirty="0">
                <a:solidFill>
                  <a:srgbClr val="5F6772"/>
                </a:solidFill>
              </a:rPr>
              <a:t>Results</a:t>
            </a:r>
            <a:endParaRPr lang="en-US" sz="1050" dirty="0"/>
          </a:p>
        </p:txBody>
      </p:sp>
      <p:sp>
        <p:nvSpPr>
          <p:cNvPr id="12" name="nav-link-Results">
            <a:hlinkClick r:id="rId5" tooltip="Go to Results" action="ppaction://hlinksldjump"/>
          </p:cNvPr>
          <p:cNvSpPr/>
          <p:nvPr/>
        </p:nvSpPr>
        <p:spPr>
          <a:xfrm>
            <a:off x="3493008" y="118872"/>
            <a:ext cx="731520" cy="256032"/>
          </a:xfrm>
          <a:prstGeom prst="rect">
            <a:avLst/>
          </a:prstGeom>
          <a:solidFill>
            <a:srgbClr val="FFFFFF">
              <a:alpha val="0"/>
            </a:srgbClr>
          </a:solidFill>
          <a:ln/>
        </p:spPr>
      </p:sp>
      <p:sp>
        <p:nvSpPr>
          <p:cNvPr id="13" name="nav-Wrap-up"/>
          <p:cNvSpPr txBox="1"/>
          <p:nvPr/>
        </p:nvSpPr>
        <p:spPr>
          <a:xfrm>
            <a:off x="4279392" y="118872"/>
            <a:ext cx="786384" cy="256032"/>
          </a:xfrm>
          <a:prstGeom prst="rect">
            <a:avLst/>
          </a:prstGeom>
          <a:noFill/>
          <a:ln/>
        </p:spPr>
        <p:txBody>
          <a:bodyPr wrap="square" lIns="0" tIns="0" rIns="0" bIns="0" rtlCol="0" anchor="ctr"/>
          <a:lstStyle/>
          <a:p>
            <a:pPr algn="ctr" indent="0" marL="0">
              <a:buNone/>
            </a:pPr>
            <a:r>
              <a:rPr lang="en-US" sz="1050" dirty="0">
                <a:solidFill>
                  <a:srgbClr val="5F6772"/>
                </a:solidFill>
              </a:rPr>
              <a:t>Wrap-up</a:t>
            </a:r>
            <a:endParaRPr lang="en-US" sz="1050" dirty="0"/>
          </a:p>
        </p:txBody>
      </p:sp>
      <p:sp>
        <p:nvSpPr>
          <p:cNvPr id="14" name="nav-link-Wrap-up">
            <a:hlinkClick r:id="rId6" tooltip="Go to Wrap-up" action="ppaction://hlinksldjump"/>
          </p:cNvPr>
          <p:cNvSpPr/>
          <p:nvPr/>
        </p:nvSpPr>
        <p:spPr>
          <a:xfrm>
            <a:off x="4279392" y="118872"/>
            <a:ext cx="786384" cy="256032"/>
          </a:xfrm>
          <a:prstGeom prst="rect">
            <a:avLst/>
          </a:prstGeom>
          <a:solidFill>
            <a:srgbClr val="FFFFFF">
              <a:alpha val="0"/>
            </a:srgbClr>
          </a:solidFill>
          <a:ln/>
        </p:spPr>
      </p:sp>
      <p:sp>
        <p:nvSpPr>
          <p:cNvPr id="15" name="nav-Appendix"/>
          <p:cNvSpPr txBox="1"/>
          <p:nvPr/>
        </p:nvSpPr>
        <p:spPr>
          <a:xfrm>
            <a:off x="5120640" y="118872"/>
            <a:ext cx="859536" cy="256032"/>
          </a:xfrm>
          <a:prstGeom prst="rect">
            <a:avLst/>
          </a:prstGeom>
          <a:noFill/>
          <a:ln/>
        </p:spPr>
        <p:txBody>
          <a:bodyPr wrap="square" lIns="0" tIns="0" rIns="0" bIns="0" rtlCol="0" anchor="ctr"/>
          <a:lstStyle/>
          <a:p>
            <a:pPr algn="ctr" indent="0" marL="0">
              <a:buNone/>
            </a:pPr>
            <a:r>
              <a:rPr lang="en-US" sz="1050" dirty="0">
                <a:solidFill>
                  <a:srgbClr val="5F6772"/>
                </a:solidFill>
              </a:rPr>
              <a:t>Appendix</a:t>
            </a:r>
            <a:endParaRPr lang="en-US" sz="1050" dirty="0"/>
          </a:p>
        </p:txBody>
      </p:sp>
      <p:sp>
        <p:nvSpPr>
          <p:cNvPr id="16" name="nav-link-Appendix">
            <a:hlinkClick r:id="rId7" tooltip="Go to Appendix" action="ppaction://hlinksldjump"/>
          </p:cNvPr>
          <p:cNvSpPr/>
          <p:nvPr/>
        </p:nvSpPr>
        <p:spPr>
          <a:xfrm>
            <a:off x="5120640" y="118872"/>
            <a:ext cx="859536" cy="256032"/>
          </a:xfrm>
          <a:prstGeom prst="rect">
            <a:avLst/>
          </a:prstGeom>
          <a:solidFill>
            <a:srgbClr val="FFFFFF">
              <a:alpha val="0"/>
            </a:srgbClr>
          </a:solidFill>
          <a:ln/>
        </p:spPr>
      </p:sp>
      <p:sp>
        <p:nvSpPr>
          <p:cNvPr id="17" name="Text 0"/>
          <p:cNvSpPr/>
          <p:nvPr>
            <p:ph idx="100" type="title" hasCustomPrompt="1"/>
          </p:nvPr>
        </p:nvSpPr>
        <p:spPr>
          <a:xfrm>
            <a:off x="457200" y="475488"/>
            <a:ext cx="8229600" cy="777240"/>
          </a:xfrm>
          <a:prstGeom prst="rect">
            <a:avLst/>
          </a:prstGeom>
          <a:noFill/>
          <a:ln/>
        </p:spPr>
        <p:txBody>
          <a:bodyPr wrap="square" lIns="0" tIns="0" rIns="0" bIns="0" rtlCol="0" anchor="t"/>
          <a:lstStyle/>
          <a:p>
            <a:pPr algn="l" indent="0" marL="0">
              <a:buNone/>
            </a:pPr>
            <a:r>
              <a:rPr lang="en-US" sz="2200" b="1" dirty="0">
                <a:solidFill>
                  <a:schemeClr val="tx1"/>
                </a:solidFill>
              </a:rPr>
              <a:t>Five years help only once old fares are converted; a model trained before the increase is off by $5.50</a:t>
            </a:r>
            <a:endParaRPr lang="en-US" sz="2200" dirty="0"/>
          </a:p>
        </p:txBody>
      </p:sp>
      <p:graphicFrame>
        <p:nvGraphicFramePr>
          <p:cNvPr id="18" name="chart-setup" descr=""/>
          <p:cNvGraphicFramePr/>
          <p:nvPr/>
        </p:nvGraphicFramePr>
        <p:xfrm>
          <a:off x="320040" y="1325880"/>
          <a:ext cx="5486400" cy="3383280"/>
        </p:xfrm>
        <a:graphic xmlns:a="http://schemas.openxmlformats.org/drawingml/2006/main">
          <a:graphicData uri="http://schemas.openxmlformats.org/drawingml/2006/chart">
            <c:chart xmlns:c="http://schemas.openxmlformats.org/drawingml/2006/chart" r:id="rId8"/>
          </a:graphicData>
        </a:graphic>
      </p:graphicFrame>
      <p:sp>
        <p:nvSpPr>
          <p:cNvPr id="19" name="panel-header"/>
          <p:cNvSpPr txBox="1"/>
          <p:nvPr/>
        </p:nvSpPr>
        <p:spPr>
          <a:xfrm>
            <a:off x="5989320" y="1463040"/>
            <a:ext cx="2697480" cy="320040"/>
          </a:xfrm>
          <a:prstGeom prst="rect">
            <a:avLst/>
          </a:prstGeom>
          <a:noFill/>
          <a:ln/>
        </p:spPr>
        <p:txBody>
          <a:bodyPr wrap="square" lIns="0" tIns="0" rIns="0" bIns="0" rtlCol="0" anchor="ctr"/>
          <a:lstStyle/>
          <a:p>
            <a:pPr indent="0" marL="0">
              <a:buNone/>
            </a:pPr>
            <a:r>
              <a:rPr lang="en-US" sz="1500" b="1" dirty="0">
                <a:solidFill>
                  <a:schemeClr val="tx1"/>
                </a:solidFill>
              </a:rPr>
              <a:t>Validation error, Jul–Sep 2023</a:t>
            </a:r>
            <a:endParaRPr lang="en-US" sz="1500" dirty="0"/>
          </a:p>
        </p:txBody>
      </p:sp>
      <p:sp>
        <p:nvSpPr>
          <p:cNvPr id="20" name="setup-bullets"/>
          <p:cNvSpPr txBox="1"/>
          <p:nvPr/>
        </p:nvSpPr>
        <p:spPr>
          <a:xfrm>
            <a:off x="5989320" y="1874520"/>
            <a:ext cx="2697480" cy="2743200"/>
          </a:xfrm>
          <a:prstGeom prst="rect">
            <a:avLst/>
          </a:prstGeom>
          <a:noFill/>
          <a:ln/>
        </p:spPr>
        <p:txBody>
          <a:bodyPr wrap="square" lIns="0" tIns="0" rIns="0" bIns="0" rtlCol="0" anchor="t"/>
          <a:lstStyle/>
          <a:p>
            <a:pPr marL="177800" indent="-177800">
              <a:spcAft>
                <a:spcPts val="900"/>
              </a:spcAft>
              <a:buSzPct val="100000"/>
              <a:buChar char="•"/>
            </a:pPr>
            <a:r>
              <a:rPr lang="en-US" sz="1300" dirty="0">
                <a:solidFill>
                  <a:schemeClr val="tx1"/>
                </a:solidFill>
              </a:rPr>
              <a:t>Old prices only: $5.50, almost 3× the best</a:t>
            </a:r>
            <a:endParaRPr lang="en-US" sz="1300" dirty="0"/>
          </a:p>
          <a:p>
            <a:pPr marL="177800" indent="-177800">
              <a:spcAft>
                <a:spcPts val="900"/>
              </a:spcAft>
              <a:buSzPct val="100000"/>
              <a:buChar char="•"/>
            </a:pPr>
            <a:r>
              <a:rPr lang="en-US" sz="1300" dirty="0">
                <a:solidFill>
                  <a:schemeClr val="tx1"/>
                </a:solidFill>
              </a:rPr>
              <a:t>Year + tariff flag helps, but trees must learn two price lists ($2.13)</a:t>
            </a:r>
            <a:endParaRPr lang="en-US" sz="1300" dirty="0"/>
          </a:p>
          <a:p>
            <a:pPr marL="177800" indent="-177800">
              <a:spcAft>
                <a:spcPts val="900"/>
              </a:spcAft>
              <a:buSzPct val="100000"/>
              <a:buChar char="•"/>
            </a:pPr>
            <a:r>
              <a:rPr lang="en-US" sz="1300" dirty="0">
                <a:solidFill>
                  <a:schemeClr val="tx1"/>
                </a:solidFill>
              </a:rPr>
              <a:t>Converted fares are best for both models ($1.92–1.97)</a:t>
            </a:r>
            <a:endParaRPr lang="en-US" sz="1300" dirty="0"/>
          </a:p>
          <a:p>
            <a:pPr marL="177800" indent="-177800">
              <a:spcAft>
                <a:spcPts val="900"/>
              </a:spcAft>
              <a:buSzPct val="100000"/>
              <a:buChar char="•"/>
            </a:pPr>
            <a:r>
              <a:rPr lang="en-US" sz="1300" dirty="0">
                <a:solidFill>
                  <a:schemeClr val="tx1"/>
                </a:solidFill>
              </a:rPr>
              <a:t>Once converted, 2022–23 alone is within 1% of all years</a:t>
            </a:r>
            <a:endParaRPr lang="en-US" sz="1300" dirty="0"/>
          </a:p>
        </p:txBody>
      </p:sp>
      <p:sp>
        <p:nvSpPr>
          <p:cNvPr id="21" name="citation"/>
          <p:cNvSpPr txBox="1"/>
          <p:nvPr/>
        </p:nvSpPr>
        <p:spPr>
          <a:xfrm>
            <a:off x="457200" y="4754880"/>
            <a:ext cx="7680960" cy="256032"/>
          </a:xfrm>
          <a:prstGeom prst="rect">
            <a:avLst/>
          </a:prstGeom>
          <a:noFill/>
          <a:ln/>
        </p:spPr>
        <p:txBody>
          <a:bodyPr wrap="square" lIns="0" tIns="0" rIns="0" bIns="0" rtlCol="0" anchor="ctr"/>
          <a:lstStyle/>
          <a:p>
            <a:pPr indent="0" marL="0">
              <a:buNone/>
            </a:pPr>
            <a:r>
              <a:rPr lang="en-US" sz="1050" dirty="0">
                <a:solidFill>
                  <a:srgbClr val="5F6772"/>
                </a:solidFill>
              </a:rPr>
              <a:t>150,000 training trips per set-up, scored on 78,497 Jul–Sep 2023 trips; test months untouched. Notebook section 10.2.</a:t>
            </a:r>
            <a:endParaRPr lang="en-US" sz="1050" dirty="0"/>
          </a:p>
        </p:txBody>
      </p:sp>
      <p:sp>
        <p:nvSpPr>
          <p:cNvPr id="25" name="Slide Number Placeholder 0"/>
          <p:cNvSpPr>
            <a:spLocks noGrp="1"/>
          </p:cNvSpPr>
          <p:nvPr>
            <p:ph type="sldNum" sz="quarter" idx="4294967295"/>
          </p:nvPr>
        </p:nvSpPr>
        <p:spPr>
          <a:xfrm>
            <a:off x="8275320" y="4754880"/>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77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nav-Agenda"/>
          <p:cNvSpPr txBox="1"/>
          <p:nvPr/>
        </p:nvSpPr>
        <p:spPr>
          <a:xfrm>
            <a:off x="457200" y="118872"/>
            <a:ext cx="713232" cy="256032"/>
          </a:xfrm>
          <a:prstGeom prst="rect">
            <a:avLst/>
          </a:prstGeom>
          <a:noFill/>
          <a:ln/>
        </p:spPr>
        <p:txBody>
          <a:bodyPr wrap="square" lIns="0" tIns="0" rIns="0" bIns="0" rtlCol="0" anchor="ctr"/>
          <a:lstStyle/>
          <a:p>
            <a:pPr algn="ctr" indent="0" marL="0">
              <a:buNone/>
            </a:pPr>
            <a:r>
              <a:rPr lang="en-US" sz="1050" dirty="0">
                <a:solidFill>
                  <a:srgbClr val="5F6772"/>
                </a:solidFill>
              </a:rPr>
              <a:t>Agenda</a:t>
            </a:r>
            <a:endParaRPr lang="en-US" sz="1050" dirty="0"/>
          </a:p>
        </p:txBody>
      </p:sp>
      <p:sp>
        <p:nvSpPr>
          <p:cNvPr id="3" name="nav-link-Agenda">
            <a:hlinkClick r:id="rId1" tooltip="Go to Agenda" action="ppaction://hlinksldjump"/>
          </p:cNvPr>
          <p:cNvSpPr/>
          <p:nvPr/>
        </p:nvSpPr>
        <p:spPr>
          <a:xfrm>
            <a:off x="457200" y="118872"/>
            <a:ext cx="713232" cy="256032"/>
          </a:xfrm>
          <a:prstGeom prst="rect">
            <a:avLst/>
          </a:prstGeom>
          <a:solidFill>
            <a:srgbClr val="FFFFFF">
              <a:alpha val="0"/>
            </a:srgbClr>
          </a:solidFill>
          <a:ln/>
        </p:spPr>
      </p:sp>
      <p:sp>
        <p:nvSpPr>
          <p:cNvPr id="4" name="nav-Question"/>
          <p:cNvSpPr txBox="1"/>
          <p:nvPr/>
        </p:nvSpPr>
        <p:spPr>
          <a:xfrm>
            <a:off x="1225296" y="118872"/>
            <a:ext cx="822960" cy="256032"/>
          </a:xfrm>
          <a:prstGeom prst="rect">
            <a:avLst/>
          </a:prstGeom>
          <a:noFill/>
          <a:ln/>
        </p:spPr>
        <p:txBody>
          <a:bodyPr wrap="square" lIns="0" tIns="0" rIns="0" bIns="0" rtlCol="0" anchor="ctr"/>
          <a:lstStyle/>
          <a:p>
            <a:pPr algn="ctr" indent="0" marL="0">
              <a:buNone/>
            </a:pPr>
            <a:r>
              <a:rPr lang="en-US" sz="1050" dirty="0">
                <a:solidFill>
                  <a:srgbClr val="5F6772"/>
                </a:solidFill>
              </a:rPr>
              <a:t>Question</a:t>
            </a:r>
            <a:endParaRPr lang="en-US" sz="1050" dirty="0"/>
          </a:p>
        </p:txBody>
      </p:sp>
      <p:sp>
        <p:nvSpPr>
          <p:cNvPr id="5" name="nav-link-Question">
            <a:hlinkClick r:id="rId2" tooltip="Go to Question" action="ppaction://hlinksldjump"/>
          </p:cNvPr>
          <p:cNvSpPr/>
          <p:nvPr/>
        </p:nvSpPr>
        <p:spPr>
          <a:xfrm>
            <a:off x="1225296" y="118872"/>
            <a:ext cx="822960" cy="256032"/>
          </a:xfrm>
          <a:prstGeom prst="rect">
            <a:avLst/>
          </a:prstGeom>
          <a:solidFill>
            <a:srgbClr val="FFFFFF">
              <a:alpha val="0"/>
            </a:srgbClr>
          </a:solidFill>
          <a:ln/>
        </p:spPr>
      </p:sp>
      <p:sp>
        <p:nvSpPr>
          <p:cNvPr id="6" name="nav-Data"/>
          <p:cNvSpPr txBox="1"/>
          <p:nvPr/>
        </p:nvSpPr>
        <p:spPr>
          <a:xfrm>
            <a:off x="2103120" y="118872"/>
            <a:ext cx="566928" cy="256032"/>
          </a:xfrm>
          <a:prstGeom prst="rect">
            <a:avLst/>
          </a:prstGeom>
          <a:noFill/>
          <a:ln/>
        </p:spPr>
        <p:txBody>
          <a:bodyPr wrap="square" lIns="0" tIns="0" rIns="0" bIns="0" rtlCol="0" anchor="ctr"/>
          <a:lstStyle/>
          <a:p>
            <a:pPr algn="ctr" indent="0" marL="0">
              <a:buNone/>
            </a:pPr>
            <a:r>
              <a:rPr lang="en-US" sz="1050" dirty="0">
                <a:solidFill>
                  <a:srgbClr val="5F6772"/>
                </a:solidFill>
              </a:rPr>
              <a:t>Data</a:t>
            </a:r>
            <a:endParaRPr lang="en-US" sz="1050" dirty="0"/>
          </a:p>
        </p:txBody>
      </p:sp>
      <p:sp>
        <p:nvSpPr>
          <p:cNvPr id="7" name="nav-link-Data">
            <a:hlinkClick r:id="rId3" tooltip="Go to Data" action="ppaction://hlinksldjump"/>
          </p:cNvPr>
          <p:cNvSpPr/>
          <p:nvPr/>
        </p:nvSpPr>
        <p:spPr>
          <a:xfrm>
            <a:off x="2103120" y="118872"/>
            <a:ext cx="566928" cy="256032"/>
          </a:xfrm>
          <a:prstGeom prst="rect">
            <a:avLst/>
          </a:prstGeom>
          <a:solidFill>
            <a:srgbClr val="FFFFFF">
              <a:alpha val="0"/>
            </a:srgbClr>
          </a:solidFill>
          <a:ln/>
        </p:spPr>
      </p:sp>
      <p:sp>
        <p:nvSpPr>
          <p:cNvPr id="8" name="nav-pill-Method"/>
          <p:cNvSpPr/>
          <p:nvPr/>
        </p:nvSpPr>
        <p:spPr>
          <a:xfrm>
            <a:off x="2724912" y="118872"/>
            <a:ext cx="713232" cy="256032"/>
          </a:xfrm>
          <a:prstGeom prst="roundRect">
            <a:avLst>
              <a:gd name="adj" fmla="val 50000"/>
            </a:avLst>
          </a:prstGeom>
          <a:solidFill>
            <a:srgbClr val="F2B705"/>
          </a:solidFill>
          <a:ln w="6350">
            <a:solidFill>
              <a:srgbClr val="F2B705"/>
            </a:solidFill>
            <a:prstDash val="solid"/>
          </a:ln>
        </p:spPr>
      </p:sp>
      <p:sp>
        <p:nvSpPr>
          <p:cNvPr id="9" name="nav-Method"/>
          <p:cNvSpPr txBox="1"/>
          <p:nvPr/>
        </p:nvSpPr>
        <p:spPr>
          <a:xfrm>
            <a:off x="2724912" y="118872"/>
            <a:ext cx="713232" cy="256032"/>
          </a:xfrm>
          <a:prstGeom prst="rect">
            <a:avLst/>
          </a:prstGeom>
          <a:noFill/>
          <a:ln/>
        </p:spPr>
        <p:txBody>
          <a:bodyPr wrap="square" lIns="0" tIns="0" rIns="0" bIns="0" rtlCol="0" anchor="ctr"/>
          <a:lstStyle/>
          <a:p>
            <a:pPr algn="ctr" indent="0" marL="0">
              <a:buNone/>
            </a:pPr>
            <a:r>
              <a:rPr lang="en-US" sz="1050" b="1" dirty="0">
                <a:solidFill>
                  <a:schemeClr val="tx1"/>
                </a:solidFill>
              </a:rPr>
              <a:t>Method</a:t>
            </a:r>
            <a:endParaRPr lang="en-US" sz="1050" dirty="0"/>
          </a:p>
        </p:txBody>
      </p:sp>
      <p:sp>
        <p:nvSpPr>
          <p:cNvPr id="10" name="nav-link-Method">
            <a:hlinkClick r:id="rId4" tooltip="Go to Method" action="ppaction://hlinksldjump"/>
          </p:cNvPr>
          <p:cNvSpPr/>
          <p:nvPr/>
        </p:nvSpPr>
        <p:spPr>
          <a:xfrm>
            <a:off x="2724912" y="118872"/>
            <a:ext cx="713232" cy="256032"/>
          </a:xfrm>
          <a:prstGeom prst="rect">
            <a:avLst/>
          </a:prstGeom>
          <a:solidFill>
            <a:srgbClr val="FFFFFF">
              <a:alpha val="0"/>
            </a:srgbClr>
          </a:solidFill>
          <a:ln/>
        </p:spPr>
      </p:sp>
      <p:sp>
        <p:nvSpPr>
          <p:cNvPr id="11" name="nav-Results"/>
          <p:cNvSpPr txBox="1"/>
          <p:nvPr/>
        </p:nvSpPr>
        <p:spPr>
          <a:xfrm>
            <a:off x="3493008" y="118872"/>
            <a:ext cx="731520" cy="256032"/>
          </a:xfrm>
          <a:prstGeom prst="rect">
            <a:avLst/>
          </a:prstGeom>
          <a:noFill/>
          <a:ln/>
        </p:spPr>
        <p:txBody>
          <a:bodyPr wrap="square" lIns="0" tIns="0" rIns="0" bIns="0" rtlCol="0" anchor="ctr"/>
          <a:lstStyle/>
          <a:p>
            <a:pPr algn="ctr" indent="0" marL="0">
              <a:buNone/>
            </a:pPr>
            <a:r>
              <a:rPr lang="en-US" sz="1050" dirty="0">
                <a:solidFill>
                  <a:srgbClr val="5F6772"/>
                </a:solidFill>
              </a:rPr>
              <a:t>Results</a:t>
            </a:r>
            <a:endParaRPr lang="en-US" sz="1050" dirty="0"/>
          </a:p>
        </p:txBody>
      </p:sp>
      <p:sp>
        <p:nvSpPr>
          <p:cNvPr id="12" name="nav-link-Results">
            <a:hlinkClick r:id="rId5" tooltip="Go to Results" action="ppaction://hlinksldjump"/>
          </p:cNvPr>
          <p:cNvSpPr/>
          <p:nvPr/>
        </p:nvSpPr>
        <p:spPr>
          <a:xfrm>
            <a:off x="3493008" y="118872"/>
            <a:ext cx="731520" cy="256032"/>
          </a:xfrm>
          <a:prstGeom prst="rect">
            <a:avLst/>
          </a:prstGeom>
          <a:solidFill>
            <a:srgbClr val="FFFFFF">
              <a:alpha val="0"/>
            </a:srgbClr>
          </a:solidFill>
          <a:ln/>
        </p:spPr>
      </p:sp>
      <p:sp>
        <p:nvSpPr>
          <p:cNvPr id="13" name="nav-Wrap-up"/>
          <p:cNvSpPr txBox="1"/>
          <p:nvPr/>
        </p:nvSpPr>
        <p:spPr>
          <a:xfrm>
            <a:off x="4279392" y="118872"/>
            <a:ext cx="786384" cy="256032"/>
          </a:xfrm>
          <a:prstGeom prst="rect">
            <a:avLst/>
          </a:prstGeom>
          <a:noFill/>
          <a:ln/>
        </p:spPr>
        <p:txBody>
          <a:bodyPr wrap="square" lIns="0" tIns="0" rIns="0" bIns="0" rtlCol="0" anchor="ctr"/>
          <a:lstStyle/>
          <a:p>
            <a:pPr algn="ctr" indent="0" marL="0">
              <a:buNone/>
            </a:pPr>
            <a:r>
              <a:rPr lang="en-US" sz="1050" dirty="0">
                <a:solidFill>
                  <a:srgbClr val="5F6772"/>
                </a:solidFill>
              </a:rPr>
              <a:t>Wrap-up</a:t>
            </a:r>
            <a:endParaRPr lang="en-US" sz="1050" dirty="0"/>
          </a:p>
        </p:txBody>
      </p:sp>
      <p:sp>
        <p:nvSpPr>
          <p:cNvPr id="14" name="nav-link-Wrap-up">
            <a:hlinkClick r:id="rId6" tooltip="Go to Wrap-up" action="ppaction://hlinksldjump"/>
          </p:cNvPr>
          <p:cNvSpPr/>
          <p:nvPr/>
        </p:nvSpPr>
        <p:spPr>
          <a:xfrm>
            <a:off x="4279392" y="118872"/>
            <a:ext cx="786384" cy="256032"/>
          </a:xfrm>
          <a:prstGeom prst="rect">
            <a:avLst/>
          </a:prstGeom>
          <a:solidFill>
            <a:srgbClr val="FFFFFF">
              <a:alpha val="0"/>
            </a:srgbClr>
          </a:solidFill>
          <a:ln/>
        </p:spPr>
      </p:sp>
      <p:sp>
        <p:nvSpPr>
          <p:cNvPr id="15" name="nav-Appendix"/>
          <p:cNvSpPr txBox="1"/>
          <p:nvPr/>
        </p:nvSpPr>
        <p:spPr>
          <a:xfrm>
            <a:off x="5120640" y="118872"/>
            <a:ext cx="859536" cy="256032"/>
          </a:xfrm>
          <a:prstGeom prst="rect">
            <a:avLst/>
          </a:prstGeom>
          <a:noFill/>
          <a:ln/>
        </p:spPr>
        <p:txBody>
          <a:bodyPr wrap="square" lIns="0" tIns="0" rIns="0" bIns="0" rtlCol="0" anchor="ctr"/>
          <a:lstStyle/>
          <a:p>
            <a:pPr algn="ctr" indent="0" marL="0">
              <a:buNone/>
            </a:pPr>
            <a:r>
              <a:rPr lang="en-US" sz="1050" dirty="0">
                <a:solidFill>
                  <a:srgbClr val="5F6772"/>
                </a:solidFill>
              </a:rPr>
              <a:t>Appendix</a:t>
            </a:r>
            <a:endParaRPr lang="en-US" sz="1050" dirty="0"/>
          </a:p>
        </p:txBody>
      </p:sp>
      <p:sp>
        <p:nvSpPr>
          <p:cNvPr id="16" name="nav-link-Appendix">
            <a:hlinkClick r:id="rId7" tooltip="Go to Appendix" action="ppaction://hlinksldjump"/>
          </p:cNvPr>
          <p:cNvSpPr/>
          <p:nvPr/>
        </p:nvSpPr>
        <p:spPr>
          <a:xfrm>
            <a:off x="5120640" y="118872"/>
            <a:ext cx="859536" cy="256032"/>
          </a:xfrm>
          <a:prstGeom prst="rect">
            <a:avLst/>
          </a:prstGeom>
          <a:solidFill>
            <a:srgbClr val="FFFFFF">
              <a:alpha val="0"/>
            </a:srgbClr>
          </a:solidFill>
          <a:ln/>
        </p:spPr>
      </p:sp>
      <p:sp>
        <p:nvSpPr>
          <p:cNvPr id="17" name="Text 0"/>
          <p:cNvSpPr/>
          <p:nvPr>
            <p:ph idx="100" type="title" hasCustomPrompt="1"/>
          </p:nvPr>
        </p:nvSpPr>
        <p:spPr>
          <a:xfrm>
            <a:off x="457200" y="475488"/>
            <a:ext cx="8229600" cy="777240"/>
          </a:xfrm>
          <a:prstGeom prst="rect">
            <a:avLst/>
          </a:prstGeom>
          <a:noFill/>
          <a:ln/>
        </p:spPr>
        <p:txBody>
          <a:bodyPr wrap="square" lIns="0" tIns="0" rIns="0" bIns="0" rtlCol="0" anchor="t"/>
          <a:lstStyle/>
          <a:p>
            <a:pPr algn="l" indent="0" marL="0">
              <a:buNone/>
            </a:pPr>
            <a:r>
              <a:rPr lang="en-US" sz="2200" b="1" dirty="0">
                <a:solidFill>
                  <a:schemeClr val="tx1"/>
                </a:solidFill>
              </a:rPr>
              <a:t>Five methods are compared on identical data, against a linear-regression bar to beat</a:t>
            </a:r>
            <a:endParaRPr lang="en-US" sz="2200" dirty="0"/>
          </a:p>
        </p:txBody>
      </p:sp>
      <p:sp>
        <p:nvSpPr>
          <p:cNvPr id="18" name="method-card-1"/>
          <p:cNvSpPr/>
          <p:nvPr/>
        </p:nvSpPr>
        <p:spPr>
          <a:xfrm>
            <a:off x="457200" y="1417320"/>
            <a:ext cx="1517904" cy="2514600"/>
          </a:xfrm>
          <a:prstGeom prst="roundRect">
            <a:avLst>
              <a:gd name="adj" fmla="val 4819"/>
            </a:avLst>
          </a:prstGeom>
          <a:solidFill>
            <a:srgbClr val="F1F3F5"/>
          </a:solidFill>
          <a:ln/>
        </p:spPr>
      </p:sp>
      <p:sp>
        <p:nvSpPr>
          <p:cNvPr id="19" name="method-name-1"/>
          <p:cNvSpPr txBox="1"/>
          <p:nvPr/>
        </p:nvSpPr>
        <p:spPr>
          <a:xfrm>
            <a:off x="585216" y="1508760"/>
            <a:ext cx="1261872" cy="566928"/>
          </a:xfrm>
          <a:prstGeom prst="rect">
            <a:avLst/>
          </a:prstGeom>
          <a:noFill/>
          <a:ln/>
        </p:spPr>
        <p:txBody>
          <a:bodyPr wrap="square" lIns="0" tIns="0" rIns="0" bIns="0" rtlCol="0" anchor="ctr"/>
          <a:lstStyle/>
          <a:p>
            <a:pPr indent="0" marL="0">
              <a:buNone/>
            </a:pPr>
            <a:r>
              <a:rPr lang="en-US" sz="1400" b="1" dirty="0">
                <a:solidFill>
                  <a:schemeClr val="tx1"/>
                </a:solidFill>
              </a:rPr>
              <a:t>Neural network</a:t>
            </a:r>
            <a:endParaRPr lang="en-US" sz="1400" dirty="0"/>
          </a:p>
        </p:txBody>
      </p:sp>
      <p:sp>
        <p:nvSpPr>
          <p:cNvPr id="20" name="method-how-1"/>
          <p:cNvSpPr txBox="1"/>
          <p:nvPr/>
        </p:nvSpPr>
        <p:spPr>
          <a:xfrm>
            <a:off x="585216" y="2121408"/>
            <a:ext cx="1261872" cy="822960"/>
          </a:xfrm>
          <a:prstGeom prst="rect">
            <a:avLst/>
          </a:prstGeom>
          <a:noFill/>
          <a:ln/>
        </p:spPr>
        <p:txBody>
          <a:bodyPr wrap="square" lIns="0" tIns="0" rIns="0" bIns="0" rtlCol="0" anchor="t"/>
          <a:lstStyle/>
          <a:p>
            <a:pPr indent="0" marL="0">
              <a:buNone/>
            </a:pPr>
            <a:r>
              <a:rPr lang="en-US" sz="1200" dirty="0">
                <a:solidFill>
                  <a:schemeClr val="tx1"/>
                </a:solidFill>
              </a:rPr>
              <a:t>Layers of neurons learn non-linear patterns</a:t>
            </a:r>
            <a:endParaRPr lang="en-US" sz="1200" dirty="0"/>
          </a:p>
        </p:txBody>
      </p:sp>
      <p:sp>
        <p:nvSpPr>
          <p:cNvPr id="21" name="method-setting-1"/>
          <p:cNvSpPr txBox="1"/>
          <p:nvPr/>
        </p:nvSpPr>
        <p:spPr>
          <a:xfrm>
            <a:off x="585216" y="2971800"/>
            <a:ext cx="1261872" cy="868680"/>
          </a:xfrm>
          <a:prstGeom prst="rect">
            <a:avLst/>
          </a:prstGeom>
          <a:noFill/>
          <a:ln/>
        </p:spPr>
        <p:txBody>
          <a:bodyPr wrap="square" lIns="0" tIns="0" rIns="0" bIns="0" rtlCol="0" anchor="t"/>
          <a:lstStyle/>
          <a:p>
            <a:pPr indent="0" marL="0">
              <a:buNone/>
            </a:pPr>
            <a:r>
              <a:rPr lang="en-US" sz="1150" b="1" dirty="0">
                <a:solidFill>
                  <a:schemeClr val="tx1"/>
                </a:solidFill>
              </a:rPr>
              <a:t>Chosen: </a:t>
            </a:r>
            <a:pPr indent="0" marL="0">
              <a:buNone/>
            </a:pPr>
            <a:r>
              <a:rPr lang="en-US" sz="1150" dirty="0">
                <a:solidFill>
                  <a:schemeClr val="tx1"/>
                </a:solidFill>
              </a:rPr>
              <a:t>2 layers 64-32, α = 0.0001, early stopping</a:t>
            </a:r>
            <a:endParaRPr lang="en-US" sz="1150" dirty="0"/>
          </a:p>
        </p:txBody>
      </p:sp>
      <p:sp>
        <p:nvSpPr>
          <p:cNvPr id="22" name="method-card-2"/>
          <p:cNvSpPr/>
          <p:nvPr/>
        </p:nvSpPr>
        <p:spPr>
          <a:xfrm>
            <a:off x="2135124" y="1417320"/>
            <a:ext cx="1517904" cy="2514600"/>
          </a:xfrm>
          <a:prstGeom prst="roundRect">
            <a:avLst>
              <a:gd name="adj" fmla="val 4819"/>
            </a:avLst>
          </a:prstGeom>
          <a:solidFill>
            <a:srgbClr val="F1F3F5"/>
          </a:solidFill>
          <a:ln/>
        </p:spPr>
      </p:sp>
      <p:sp>
        <p:nvSpPr>
          <p:cNvPr id="23" name="method-name-2"/>
          <p:cNvSpPr txBox="1"/>
          <p:nvPr/>
        </p:nvSpPr>
        <p:spPr>
          <a:xfrm>
            <a:off x="2263140" y="1508760"/>
            <a:ext cx="1261872" cy="566928"/>
          </a:xfrm>
          <a:prstGeom prst="rect">
            <a:avLst/>
          </a:prstGeom>
          <a:noFill/>
          <a:ln/>
        </p:spPr>
        <p:txBody>
          <a:bodyPr wrap="square" lIns="0" tIns="0" rIns="0" bIns="0" rtlCol="0" anchor="ctr"/>
          <a:lstStyle/>
          <a:p>
            <a:pPr indent="0" marL="0">
              <a:buNone/>
            </a:pPr>
            <a:r>
              <a:rPr lang="en-US" sz="1400" b="1" dirty="0">
                <a:solidFill>
                  <a:schemeClr val="tx1"/>
                </a:solidFill>
              </a:rPr>
              <a:t>SVM (SVR)</a:t>
            </a:r>
            <a:endParaRPr lang="en-US" sz="1400" dirty="0"/>
          </a:p>
        </p:txBody>
      </p:sp>
      <p:sp>
        <p:nvSpPr>
          <p:cNvPr id="24" name="method-how-2"/>
          <p:cNvSpPr txBox="1"/>
          <p:nvPr/>
        </p:nvSpPr>
        <p:spPr>
          <a:xfrm>
            <a:off x="2263140" y="2121408"/>
            <a:ext cx="1261872" cy="822960"/>
          </a:xfrm>
          <a:prstGeom prst="rect">
            <a:avLst/>
          </a:prstGeom>
          <a:noFill/>
          <a:ln/>
        </p:spPr>
        <p:txBody>
          <a:bodyPr wrap="square" lIns="0" tIns="0" rIns="0" bIns="0" rtlCol="0" anchor="t"/>
          <a:lstStyle/>
          <a:p>
            <a:pPr indent="0" marL="0">
              <a:buNone/>
            </a:pPr>
            <a:r>
              <a:rPr lang="en-US" sz="1200" dirty="0">
                <a:solidFill>
                  <a:schemeClr val="tx1"/>
                </a:solidFill>
              </a:rPr>
              <a:t>Fits a ±ε tube; an RBF kernel lets it bend</a:t>
            </a:r>
            <a:endParaRPr lang="en-US" sz="1200" dirty="0"/>
          </a:p>
        </p:txBody>
      </p:sp>
      <p:sp>
        <p:nvSpPr>
          <p:cNvPr id="25" name="method-setting-2"/>
          <p:cNvSpPr txBox="1"/>
          <p:nvPr/>
        </p:nvSpPr>
        <p:spPr>
          <a:xfrm>
            <a:off x="2263140" y="2971800"/>
            <a:ext cx="1261872" cy="868680"/>
          </a:xfrm>
          <a:prstGeom prst="rect">
            <a:avLst/>
          </a:prstGeom>
          <a:noFill/>
          <a:ln/>
        </p:spPr>
        <p:txBody>
          <a:bodyPr wrap="square" lIns="0" tIns="0" rIns="0" bIns="0" rtlCol="0" anchor="t"/>
          <a:lstStyle/>
          <a:p>
            <a:pPr indent="0" marL="0">
              <a:buNone/>
            </a:pPr>
            <a:r>
              <a:rPr lang="en-US" sz="1150" b="1" dirty="0">
                <a:solidFill>
                  <a:schemeClr val="tx1"/>
                </a:solidFill>
              </a:rPr>
              <a:t>Chosen: </a:t>
            </a:r>
            <a:pPr indent="0" marL="0">
              <a:buNone/>
            </a:pPr>
            <a:r>
              <a:rPr lang="en-US" sz="1150" dirty="0">
                <a:solidFill>
                  <a:schemeClr val="tx1"/>
                </a:solidFill>
              </a:rPr>
              <a:t>C = 100, γ = 0.005 on 20k rows; plus a linear SVR</a:t>
            </a:r>
            <a:endParaRPr lang="en-US" sz="1150" dirty="0"/>
          </a:p>
        </p:txBody>
      </p:sp>
      <p:sp>
        <p:nvSpPr>
          <p:cNvPr id="26" name="method-card-3"/>
          <p:cNvSpPr/>
          <p:nvPr/>
        </p:nvSpPr>
        <p:spPr>
          <a:xfrm>
            <a:off x="3813048" y="1417320"/>
            <a:ext cx="1517904" cy="2514600"/>
          </a:xfrm>
          <a:prstGeom prst="roundRect">
            <a:avLst>
              <a:gd name="adj" fmla="val 4819"/>
            </a:avLst>
          </a:prstGeom>
          <a:solidFill>
            <a:srgbClr val="F1F3F5"/>
          </a:solidFill>
          <a:ln/>
        </p:spPr>
      </p:sp>
      <p:sp>
        <p:nvSpPr>
          <p:cNvPr id="27" name="method-name-3"/>
          <p:cNvSpPr txBox="1"/>
          <p:nvPr/>
        </p:nvSpPr>
        <p:spPr>
          <a:xfrm>
            <a:off x="3941064" y="1508760"/>
            <a:ext cx="1261872" cy="566928"/>
          </a:xfrm>
          <a:prstGeom prst="rect">
            <a:avLst/>
          </a:prstGeom>
          <a:noFill/>
          <a:ln/>
        </p:spPr>
        <p:txBody>
          <a:bodyPr wrap="square" lIns="0" tIns="0" rIns="0" bIns="0" rtlCol="0" anchor="ctr"/>
          <a:lstStyle/>
          <a:p>
            <a:pPr indent="0" marL="0">
              <a:buNone/>
            </a:pPr>
            <a:r>
              <a:rPr lang="en-US" sz="1400" b="1" dirty="0">
                <a:solidFill>
                  <a:schemeClr val="tx1"/>
                </a:solidFill>
              </a:rPr>
              <a:t>Random forest</a:t>
            </a:r>
            <a:endParaRPr lang="en-US" sz="1400" dirty="0"/>
          </a:p>
        </p:txBody>
      </p:sp>
      <p:sp>
        <p:nvSpPr>
          <p:cNvPr id="28" name="method-how-3"/>
          <p:cNvSpPr txBox="1"/>
          <p:nvPr/>
        </p:nvSpPr>
        <p:spPr>
          <a:xfrm>
            <a:off x="3941064" y="2121408"/>
            <a:ext cx="1261872" cy="822960"/>
          </a:xfrm>
          <a:prstGeom prst="rect">
            <a:avLst/>
          </a:prstGeom>
          <a:noFill/>
          <a:ln/>
        </p:spPr>
        <p:txBody>
          <a:bodyPr wrap="square" lIns="0" tIns="0" rIns="0" bIns="0" rtlCol="0" anchor="t"/>
          <a:lstStyle/>
          <a:p>
            <a:pPr indent="0" marL="0">
              <a:buNone/>
            </a:pPr>
            <a:r>
              <a:rPr lang="en-US" sz="1200" dirty="0">
                <a:solidFill>
                  <a:schemeClr val="tx1"/>
                </a:solidFill>
              </a:rPr>
              <a:t>Averages 100 decision trees grown on bootstrap samples</a:t>
            </a:r>
            <a:endParaRPr lang="en-US" sz="1200" dirty="0"/>
          </a:p>
        </p:txBody>
      </p:sp>
      <p:sp>
        <p:nvSpPr>
          <p:cNvPr id="29" name="method-setting-3"/>
          <p:cNvSpPr txBox="1"/>
          <p:nvPr/>
        </p:nvSpPr>
        <p:spPr>
          <a:xfrm>
            <a:off x="3941064" y="2971800"/>
            <a:ext cx="1261872" cy="868680"/>
          </a:xfrm>
          <a:prstGeom prst="rect">
            <a:avLst/>
          </a:prstGeom>
          <a:noFill/>
          <a:ln/>
        </p:spPr>
        <p:txBody>
          <a:bodyPr wrap="square" lIns="0" tIns="0" rIns="0" bIns="0" rtlCol="0" anchor="t"/>
          <a:lstStyle/>
          <a:p>
            <a:pPr indent="0" marL="0">
              <a:buNone/>
            </a:pPr>
            <a:r>
              <a:rPr lang="en-US" sz="1150" b="1" dirty="0">
                <a:solidFill>
                  <a:schemeClr val="tx1"/>
                </a:solidFill>
              </a:rPr>
              <a:t>Chosen: </a:t>
            </a:r>
            <a:pPr indent="0" marL="0">
              <a:buNone/>
            </a:pPr>
            <a:r>
              <a:rPr lang="en-US" sz="1150" dirty="0">
                <a:solidFill>
                  <a:schemeClr val="tx1"/>
                </a:solidFill>
              </a:rPr>
              <a:t>min. 5 trips per leaf, all features per split</a:t>
            </a:r>
            <a:endParaRPr lang="en-US" sz="1150" dirty="0"/>
          </a:p>
        </p:txBody>
      </p:sp>
      <p:sp>
        <p:nvSpPr>
          <p:cNvPr id="30" name="method-card-4"/>
          <p:cNvSpPr/>
          <p:nvPr/>
        </p:nvSpPr>
        <p:spPr>
          <a:xfrm>
            <a:off x="5490972" y="1417320"/>
            <a:ext cx="1517904" cy="2514600"/>
          </a:xfrm>
          <a:prstGeom prst="roundRect">
            <a:avLst>
              <a:gd name="adj" fmla="val 4819"/>
            </a:avLst>
          </a:prstGeom>
          <a:solidFill>
            <a:srgbClr val="F1F3F5"/>
          </a:solidFill>
          <a:ln/>
        </p:spPr>
      </p:sp>
      <p:sp>
        <p:nvSpPr>
          <p:cNvPr id="31" name="method-name-4"/>
          <p:cNvSpPr txBox="1"/>
          <p:nvPr/>
        </p:nvSpPr>
        <p:spPr>
          <a:xfrm>
            <a:off x="5618988" y="1508760"/>
            <a:ext cx="1261872" cy="566928"/>
          </a:xfrm>
          <a:prstGeom prst="rect">
            <a:avLst/>
          </a:prstGeom>
          <a:noFill/>
          <a:ln/>
        </p:spPr>
        <p:txBody>
          <a:bodyPr wrap="square" lIns="0" tIns="0" rIns="0" bIns="0" rtlCol="0" anchor="ctr"/>
          <a:lstStyle/>
          <a:p>
            <a:pPr indent="0" marL="0">
              <a:buNone/>
            </a:pPr>
            <a:r>
              <a:rPr lang="en-US" sz="1400" b="1" dirty="0">
                <a:solidFill>
                  <a:schemeClr val="tx1"/>
                </a:solidFill>
              </a:rPr>
              <a:t>Ridge &amp; Lasso</a:t>
            </a:r>
            <a:endParaRPr lang="en-US" sz="1400" dirty="0"/>
          </a:p>
        </p:txBody>
      </p:sp>
      <p:sp>
        <p:nvSpPr>
          <p:cNvPr id="32" name="method-how-4"/>
          <p:cNvSpPr txBox="1"/>
          <p:nvPr/>
        </p:nvSpPr>
        <p:spPr>
          <a:xfrm>
            <a:off x="5618988" y="2121408"/>
            <a:ext cx="1261872" cy="822960"/>
          </a:xfrm>
          <a:prstGeom prst="rect">
            <a:avLst/>
          </a:prstGeom>
          <a:noFill/>
          <a:ln/>
        </p:spPr>
        <p:txBody>
          <a:bodyPr wrap="square" lIns="0" tIns="0" rIns="0" bIns="0" rtlCol="0" anchor="t"/>
          <a:lstStyle/>
          <a:p>
            <a:pPr indent="0" marL="0">
              <a:buNone/>
            </a:pPr>
            <a:r>
              <a:rPr lang="en-US" sz="1200" dirty="0">
                <a:solidFill>
                  <a:schemeClr val="tx1"/>
                </a:solidFill>
              </a:rPr>
              <a:t>Linear regression with an L2 or L1 penalty</a:t>
            </a:r>
            <a:endParaRPr lang="en-US" sz="1200" dirty="0"/>
          </a:p>
        </p:txBody>
      </p:sp>
      <p:sp>
        <p:nvSpPr>
          <p:cNvPr id="33" name="method-setting-4"/>
          <p:cNvSpPr txBox="1"/>
          <p:nvPr/>
        </p:nvSpPr>
        <p:spPr>
          <a:xfrm>
            <a:off x="5618988" y="2971800"/>
            <a:ext cx="1261872" cy="868680"/>
          </a:xfrm>
          <a:prstGeom prst="rect">
            <a:avLst/>
          </a:prstGeom>
          <a:noFill/>
          <a:ln/>
        </p:spPr>
        <p:txBody>
          <a:bodyPr wrap="square" lIns="0" tIns="0" rIns="0" bIns="0" rtlCol="0" anchor="t"/>
          <a:lstStyle/>
          <a:p>
            <a:pPr indent="0" marL="0">
              <a:buNone/>
            </a:pPr>
            <a:r>
              <a:rPr lang="en-US" sz="1150" b="1" dirty="0">
                <a:solidFill>
                  <a:schemeClr val="tx1"/>
                </a:solidFill>
              </a:rPr>
              <a:t>Chosen: </a:t>
            </a:r>
            <a:pPr indent="0" marL="0">
              <a:buNone/>
            </a:pPr>
            <a:r>
              <a:rPr lang="en-US" sz="1150" dirty="0">
                <a:solidFill>
                  <a:schemeClr val="tx1"/>
                </a:solidFill>
              </a:rPr>
              <a:t>penalty α chosen on Jul–Sep 2023</a:t>
            </a:r>
            <a:endParaRPr lang="en-US" sz="1150" dirty="0"/>
          </a:p>
        </p:txBody>
      </p:sp>
      <p:sp>
        <p:nvSpPr>
          <p:cNvPr id="34" name="method-card-5"/>
          <p:cNvSpPr/>
          <p:nvPr/>
        </p:nvSpPr>
        <p:spPr>
          <a:xfrm>
            <a:off x="7168896" y="1417320"/>
            <a:ext cx="1517904" cy="2514600"/>
          </a:xfrm>
          <a:prstGeom prst="roundRect">
            <a:avLst>
              <a:gd name="adj" fmla="val 4819"/>
            </a:avLst>
          </a:prstGeom>
          <a:solidFill>
            <a:srgbClr val="FFFFFF"/>
          </a:solidFill>
          <a:ln/>
        </p:spPr>
      </p:sp>
      <p:sp>
        <p:nvSpPr>
          <p:cNvPr id="35" name="method-card-baseline-outline"/>
          <p:cNvSpPr/>
          <p:nvPr/>
        </p:nvSpPr>
        <p:spPr>
          <a:xfrm>
            <a:off x="7168896" y="1417320"/>
            <a:ext cx="1517904" cy="2514600"/>
          </a:xfrm>
          <a:prstGeom prst="roundRect">
            <a:avLst>
              <a:gd name="adj" fmla="val 4819"/>
            </a:avLst>
          </a:prstGeom>
          <a:solidFill>
            <a:srgbClr val="FFFFFF"/>
          </a:solidFill>
          <a:ln w="15875">
            <a:solidFill>
              <a:srgbClr val="C4C9D0"/>
            </a:solidFill>
            <a:prstDash val="dash"/>
          </a:ln>
        </p:spPr>
      </p:sp>
      <p:sp>
        <p:nvSpPr>
          <p:cNvPr id="36" name="method-name-5"/>
          <p:cNvSpPr txBox="1"/>
          <p:nvPr/>
        </p:nvSpPr>
        <p:spPr>
          <a:xfrm>
            <a:off x="7296912" y="1508760"/>
            <a:ext cx="1261872" cy="566928"/>
          </a:xfrm>
          <a:prstGeom prst="rect">
            <a:avLst/>
          </a:prstGeom>
          <a:noFill/>
          <a:ln/>
        </p:spPr>
        <p:txBody>
          <a:bodyPr wrap="square" lIns="0" tIns="0" rIns="0" bIns="0" rtlCol="0" anchor="ctr"/>
          <a:lstStyle/>
          <a:p>
            <a:pPr indent="0" marL="0">
              <a:buNone/>
            </a:pPr>
            <a:r>
              <a:rPr lang="en-US" sz="1400" b="1" dirty="0">
                <a:solidFill>
                  <a:schemeClr val="tx1"/>
                </a:solidFill>
              </a:rPr>
              <a:t>Linear regression</a:t>
            </a:r>
            <a:endParaRPr lang="en-US" sz="1400" dirty="0"/>
          </a:p>
        </p:txBody>
      </p:sp>
      <p:sp>
        <p:nvSpPr>
          <p:cNvPr id="37" name="method-how-5"/>
          <p:cNvSpPr txBox="1"/>
          <p:nvPr/>
        </p:nvSpPr>
        <p:spPr>
          <a:xfrm>
            <a:off x="7296912" y="2121408"/>
            <a:ext cx="1261872" cy="822960"/>
          </a:xfrm>
          <a:prstGeom prst="rect">
            <a:avLst/>
          </a:prstGeom>
          <a:noFill/>
          <a:ln/>
        </p:spPr>
        <p:txBody>
          <a:bodyPr wrap="square" lIns="0" tIns="0" rIns="0" bIns="0" rtlCol="0" anchor="t"/>
          <a:lstStyle/>
          <a:p>
            <a:pPr indent="0" marL="0">
              <a:buNone/>
            </a:pPr>
            <a:r>
              <a:rPr lang="en-US" sz="1200" dirty="0">
                <a:solidFill>
                  <a:schemeClr val="tx1"/>
                </a:solidFill>
              </a:rPr>
              <a:t>Straight-line model</a:t>
            </a:r>
            <a:endParaRPr lang="en-US" sz="1200" dirty="0"/>
          </a:p>
        </p:txBody>
      </p:sp>
      <p:sp>
        <p:nvSpPr>
          <p:cNvPr id="38" name="method-setting-5"/>
          <p:cNvSpPr txBox="1"/>
          <p:nvPr/>
        </p:nvSpPr>
        <p:spPr>
          <a:xfrm>
            <a:off x="7296912" y="2971800"/>
            <a:ext cx="1261872" cy="868680"/>
          </a:xfrm>
          <a:prstGeom prst="rect">
            <a:avLst/>
          </a:prstGeom>
          <a:noFill/>
          <a:ln/>
        </p:spPr>
        <p:txBody>
          <a:bodyPr wrap="square" lIns="0" tIns="0" rIns="0" bIns="0" rtlCol="0" anchor="t"/>
          <a:lstStyle/>
          <a:p>
            <a:pPr indent="0" marL="0">
              <a:buNone/>
            </a:pPr>
            <a:r>
              <a:rPr lang="en-US" sz="1150" b="1" dirty="0">
                <a:solidFill>
                  <a:schemeClr val="tx1"/>
                </a:solidFill>
              </a:rPr>
              <a:t>Chosen: </a:t>
            </a:r>
            <a:pPr indent="0" marL="0">
              <a:buNone/>
            </a:pPr>
            <a:r>
              <a:rPr lang="en-US" sz="1150" dirty="0">
                <a:solidFill>
                  <a:schemeClr val="tx1"/>
                </a:solidFill>
              </a:rPr>
              <a:t>comparison only, the bar to beat</a:t>
            </a:r>
            <a:endParaRPr lang="en-US" sz="1150" dirty="0"/>
          </a:p>
        </p:txBody>
      </p:sp>
      <p:sp>
        <p:nvSpPr>
          <p:cNvPr id="39" name="methods-shared"/>
          <p:cNvSpPr txBox="1"/>
          <p:nvPr/>
        </p:nvSpPr>
        <p:spPr>
          <a:xfrm>
            <a:off x="457200" y="4069080"/>
            <a:ext cx="8229600" cy="566928"/>
          </a:xfrm>
          <a:prstGeom prst="rect">
            <a:avLst/>
          </a:prstGeom>
          <a:noFill/>
          <a:ln/>
        </p:spPr>
        <p:txBody>
          <a:bodyPr wrap="square" lIns="0" tIns="0" rIns="0" bIns="0" rtlCol="0" anchor="ctr"/>
          <a:lstStyle/>
          <a:p>
            <a:pPr indent="0" marL="0">
              <a:buNone/>
            </a:pPr>
            <a:r>
              <a:rPr lang="en-US" sz="1300" b="1" dirty="0">
                <a:solidFill>
                  <a:schemeClr val="tx1"/>
                </a:solidFill>
              </a:rPr>
              <a:t>Shared by all: </a:t>
            </a:r>
            <a:pPr indent="0" marL="0">
              <a:buNone/>
            </a:pPr>
            <a:r>
              <a:rPr lang="en-US" sz="1300" dirty="0">
                <a:solidFill>
                  <a:schemeClr val="tx1"/>
                </a:solidFill>
              </a:rPr>
              <a:t>the same 16 pickup-time inputs (incl. month, year, tariff flag), fares in 2023 prices, tuned on Jul–Sep 2023, tested on Oct–Dec 2023.</a:t>
            </a:r>
            <a:endParaRPr lang="en-US" sz="1300" dirty="0"/>
          </a:p>
        </p:txBody>
      </p:sp>
      <p:sp>
        <p:nvSpPr>
          <p:cNvPr id="40" name="citation"/>
          <p:cNvSpPr txBox="1"/>
          <p:nvPr/>
        </p:nvSpPr>
        <p:spPr>
          <a:xfrm>
            <a:off x="457200" y="4754880"/>
            <a:ext cx="7680960" cy="256032"/>
          </a:xfrm>
          <a:prstGeom prst="rect">
            <a:avLst/>
          </a:prstGeom>
          <a:noFill/>
          <a:ln/>
        </p:spPr>
        <p:txBody>
          <a:bodyPr wrap="square" lIns="0" tIns="0" rIns="0" bIns="0" rtlCol="0" anchor="ctr"/>
          <a:lstStyle/>
          <a:p>
            <a:pPr indent="0" marL="0">
              <a:buNone/>
            </a:pPr>
            <a:r>
              <a:rPr lang="en-US" sz="1050" dirty="0">
                <a:solidFill>
                  <a:srgbClr val="5F6772"/>
                </a:solidFill>
              </a:rPr>
              <a:t>Breiman (2001); Drucker et al. (1997); Hoerl &amp; Kennard (1970); Tibshirani (1996); Pedregosa et al. (2011).</a:t>
            </a:r>
            <a:endParaRPr lang="en-US" sz="1050" dirty="0"/>
          </a:p>
        </p:txBody>
      </p:sp>
      <p:sp>
        <p:nvSpPr>
          <p:cNvPr id="25" name="Slide Number Placeholder 0"/>
          <p:cNvSpPr>
            <a:spLocks noGrp="1"/>
          </p:cNvSpPr>
          <p:nvPr>
            <p:ph type="sldNum" sz="quarter" idx="4294967295"/>
          </p:nvPr>
        </p:nvSpPr>
        <p:spPr>
          <a:xfrm>
            <a:off x="8275320" y="4754880"/>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77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nav-Agenda"/>
          <p:cNvSpPr txBox="1"/>
          <p:nvPr/>
        </p:nvSpPr>
        <p:spPr>
          <a:xfrm>
            <a:off x="457200" y="118872"/>
            <a:ext cx="713232" cy="256032"/>
          </a:xfrm>
          <a:prstGeom prst="rect">
            <a:avLst/>
          </a:prstGeom>
          <a:noFill/>
          <a:ln/>
        </p:spPr>
        <p:txBody>
          <a:bodyPr wrap="square" lIns="0" tIns="0" rIns="0" bIns="0" rtlCol="0" anchor="ctr"/>
          <a:lstStyle/>
          <a:p>
            <a:pPr algn="ctr" indent="0" marL="0">
              <a:buNone/>
            </a:pPr>
            <a:r>
              <a:rPr lang="en-US" sz="1050" dirty="0">
                <a:solidFill>
                  <a:srgbClr val="5F6772"/>
                </a:solidFill>
              </a:rPr>
              <a:t>Agenda</a:t>
            </a:r>
            <a:endParaRPr lang="en-US" sz="1050" dirty="0"/>
          </a:p>
        </p:txBody>
      </p:sp>
      <p:sp>
        <p:nvSpPr>
          <p:cNvPr id="3" name="nav-link-Agenda">
            <a:hlinkClick r:id="rId1" tooltip="Go to Agenda" action="ppaction://hlinksldjump"/>
          </p:cNvPr>
          <p:cNvSpPr/>
          <p:nvPr/>
        </p:nvSpPr>
        <p:spPr>
          <a:xfrm>
            <a:off x="457200" y="118872"/>
            <a:ext cx="713232" cy="256032"/>
          </a:xfrm>
          <a:prstGeom prst="rect">
            <a:avLst/>
          </a:prstGeom>
          <a:solidFill>
            <a:srgbClr val="FFFFFF">
              <a:alpha val="0"/>
            </a:srgbClr>
          </a:solidFill>
          <a:ln/>
        </p:spPr>
      </p:sp>
      <p:sp>
        <p:nvSpPr>
          <p:cNvPr id="4" name="nav-Question"/>
          <p:cNvSpPr txBox="1"/>
          <p:nvPr/>
        </p:nvSpPr>
        <p:spPr>
          <a:xfrm>
            <a:off x="1225296" y="118872"/>
            <a:ext cx="822960" cy="256032"/>
          </a:xfrm>
          <a:prstGeom prst="rect">
            <a:avLst/>
          </a:prstGeom>
          <a:noFill/>
          <a:ln/>
        </p:spPr>
        <p:txBody>
          <a:bodyPr wrap="square" lIns="0" tIns="0" rIns="0" bIns="0" rtlCol="0" anchor="ctr"/>
          <a:lstStyle/>
          <a:p>
            <a:pPr algn="ctr" indent="0" marL="0">
              <a:buNone/>
            </a:pPr>
            <a:r>
              <a:rPr lang="en-US" sz="1050" dirty="0">
                <a:solidFill>
                  <a:srgbClr val="5F6772"/>
                </a:solidFill>
              </a:rPr>
              <a:t>Question</a:t>
            </a:r>
            <a:endParaRPr lang="en-US" sz="1050" dirty="0"/>
          </a:p>
        </p:txBody>
      </p:sp>
      <p:sp>
        <p:nvSpPr>
          <p:cNvPr id="5" name="nav-link-Question">
            <a:hlinkClick r:id="rId2" tooltip="Go to Question" action="ppaction://hlinksldjump"/>
          </p:cNvPr>
          <p:cNvSpPr/>
          <p:nvPr/>
        </p:nvSpPr>
        <p:spPr>
          <a:xfrm>
            <a:off x="1225296" y="118872"/>
            <a:ext cx="822960" cy="256032"/>
          </a:xfrm>
          <a:prstGeom prst="rect">
            <a:avLst/>
          </a:prstGeom>
          <a:solidFill>
            <a:srgbClr val="FFFFFF">
              <a:alpha val="0"/>
            </a:srgbClr>
          </a:solidFill>
          <a:ln/>
        </p:spPr>
      </p:sp>
      <p:sp>
        <p:nvSpPr>
          <p:cNvPr id="6" name="nav-Data"/>
          <p:cNvSpPr txBox="1"/>
          <p:nvPr/>
        </p:nvSpPr>
        <p:spPr>
          <a:xfrm>
            <a:off x="2103120" y="118872"/>
            <a:ext cx="566928" cy="256032"/>
          </a:xfrm>
          <a:prstGeom prst="rect">
            <a:avLst/>
          </a:prstGeom>
          <a:noFill/>
          <a:ln/>
        </p:spPr>
        <p:txBody>
          <a:bodyPr wrap="square" lIns="0" tIns="0" rIns="0" bIns="0" rtlCol="0" anchor="ctr"/>
          <a:lstStyle/>
          <a:p>
            <a:pPr algn="ctr" indent="0" marL="0">
              <a:buNone/>
            </a:pPr>
            <a:r>
              <a:rPr lang="en-US" sz="1050" dirty="0">
                <a:solidFill>
                  <a:srgbClr val="5F6772"/>
                </a:solidFill>
              </a:rPr>
              <a:t>Data</a:t>
            </a:r>
            <a:endParaRPr lang="en-US" sz="1050" dirty="0"/>
          </a:p>
        </p:txBody>
      </p:sp>
      <p:sp>
        <p:nvSpPr>
          <p:cNvPr id="7" name="nav-link-Data">
            <a:hlinkClick r:id="rId3" tooltip="Go to Data" action="ppaction://hlinksldjump"/>
          </p:cNvPr>
          <p:cNvSpPr/>
          <p:nvPr/>
        </p:nvSpPr>
        <p:spPr>
          <a:xfrm>
            <a:off x="2103120" y="118872"/>
            <a:ext cx="566928" cy="256032"/>
          </a:xfrm>
          <a:prstGeom prst="rect">
            <a:avLst/>
          </a:prstGeom>
          <a:solidFill>
            <a:srgbClr val="FFFFFF">
              <a:alpha val="0"/>
            </a:srgbClr>
          </a:solidFill>
          <a:ln/>
        </p:spPr>
      </p:sp>
      <p:sp>
        <p:nvSpPr>
          <p:cNvPr id="8" name="nav-Method"/>
          <p:cNvSpPr txBox="1"/>
          <p:nvPr/>
        </p:nvSpPr>
        <p:spPr>
          <a:xfrm>
            <a:off x="2724912" y="118872"/>
            <a:ext cx="713232" cy="256032"/>
          </a:xfrm>
          <a:prstGeom prst="rect">
            <a:avLst/>
          </a:prstGeom>
          <a:noFill/>
          <a:ln/>
        </p:spPr>
        <p:txBody>
          <a:bodyPr wrap="square" lIns="0" tIns="0" rIns="0" bIns="0" rtlCol="0" anchor="ctr"/>
          <a:lstStyle/>
          <a:p>
            <a:pPr algn="ctr" indent="0" marL="0">
              <a:buNone/>
            </a:pPr>
            <a:r>
              <a:rPr lang="en-US" sz="1050" dirty="0">
                <a:solidFill>
                  <a:srgbClr val="5F6772"/>
                </a:solidFill>
              </a:rPr>
              <a:t>Method</a:t>
            </a:r>
            <a:endParaRPr lang="en-US" sz="1050" dirty="0"/>
          </a:p>
        </p:txBody>
      </p:sp>
      <p:sp>
        <p:nvSpPr>
          <p:cNvPr id="9" name="nav-link-Method">
            <a:hlinkClick r:id="rId4" tooltip="Go to Method" action="ppaction://hlinksldjump"/>
          </p:cNvPr>
          <p:cNvSpPr/>
          <p:nvPr/>
        </p:nvSpPr>
        <p:spPr>
          <a:xfrm>
            <a:off x="2724912" y="118872"/>
            <a:ext cx="713232" cy="256032"/>
          </a:xfrm>
          <a:prstGeom prst="rect">
            <a:avLst/>
          </a:prstGeom>
          <a:solidFill>
            <a:srgbClr val="FFFFFF">
              <a:alpha val="0"/>
            </a:srgbClr>
          </a:solidFill>
          <a:ln/>
        </p:spPr>
      </p:sp>
      <p:sp>
        <p:nvSpPr>
          <p:cNvPr id="10" name="nav-pill-Results"/>
          <p:cNvSpPr/>
          <p:nvPr/>
        </p:nvSpPr>
        <p:spPr>
          <a:xfrm>
            <a:off x="3493008" y="118872"/>
            <a:ext cx="731520" cy="256032"/>
          </a:xfrm>
          <a:prstGeom prst="roundRect">
            <a:avLst>
              <a:gd name="adj" fmla="val 50000"/>
            </a:avLst>
          </a:prstGeom>
          <a:solidFill>
            <a:srgbClr val="F2B705"/>
          </a:solidFill>
          <a:ln w="6350">
            <a:solidFill>
              <a:srgbClr val="F2B705"/>
            </a:solidFill>
            <a:prstDash val="solid"/>
          </a:ln>
        </p:spPr>
      </p:sp>
      <p:sp>
        <p:nvSpPr>
          <p:cNvPr id="11" name="nav-Results"/>
          <p:cNvSpPr txBox="1"/>
          <p:nvPr/>
        </p:nvSpPr>
        <p:spPr>
          <a:xfrm>
            <a:off x="3493008" y="118872"/>
            <a:ext cx="731520" cy="256032"/>
          </a:xfrm>
          <a:prstGeom prst="rect">
            <a:avLst/>
          </a:prstGeom>
          <a:noFill/>
          <a:ln/>
        </p:spPr>
        <p:txBody>
          <a:bodyPr wrap="square" lIns="0" tIns="0" rIns="0" bIns="0" rtlCol="0" anchor="ctr"/>
          <a:lstStyle/>
          <a:p>
            <a:pPr algn="ctr" indent="0" marL="0">
              <a:buNone/>
            </a:pPr>
            <a:r>
              <a:rPr lang="en-US" sz="1050" b="1" dirty="0">
                <a:solidFill>
                  <a:schemeClr val="tx1"/>
                </a:solidFill>
              </a:rPr>
              <a:t>Results</a:t>
            </a:r>
            <a:endParaRPr lang="en-US" sz="1050" dirty="0"/>
          </a:p>
        </p:txBody>
      </p:sp>
      <p:sp>
        <p:nvSpPr>
          <p:cNvPr id="12" name="nav-link-Results">
            <a:hlinkClick r:id="rId5" tooltip="Go to Results" action="ppaction://hlinksldjump"/>
          </p:cNvPr>
          <p:cNvSpPr/>
          <p:nvPr/>
        </p:nvSpPr>
        <p:spPr>
          <a:xfrm>
            <a:off x="3493008" y="118872"/>
            <a:ext cx="731520" cy="256032"/>
          </a:xfrm>
          <a:prstGeom prst="rect">
            <a:avLst/>
          </a:prstGeom>
          <a:solidFill>
            <a:srgbClr val="FFFFFF">
              <a:alpha val="0"/>
            </a:srgbClr>
          </a:solidFill>
          <a:ln/>
        </p:spPr>
      </p:sp>
      <p:sp>
        <p:nvSpPr>
          <p:cNvPr id="13" name="nav-Wrap-up"/>
          <p:cNvSpPr txBox="1"/>
          <p:nvPr/>
        </p:nvSpPr>
        <p:spPr>
          <a:xfrm>
            <a:off x="4279392" y="118872"/>
            <a:ext cx="786384" cy="256032"/>
          </a:xfrm>
          <a:prstGeom prst="rect">
            <a:avLst/>
          </a:prstGeom>
          <a:noFill/>
          <a:ln/>
        </p:spPr>
        <p:txBody>
          <a:bodyPr wrap="square" lIns="0" tIns="0" rIns="0" bIns="0" rtlCol="0" anchor="ctr"/>
          <a:lstStyle/>
          <a:p>
            <a:pPr algn="ctr" indent="0" marL="0">
              <a:buNone/>
            </a:pPr>
            <a:r>
              <a:rPr lang="en-US" sz="1050" dirty="0">
                <a:solidFill>
                  <a:srgbClr val="5F6772"/>
                </a:solidFill>
              </a:rPr>
              <a:t>Wrap-up</a:t>
            </a:r>
            <a:endParaRPr lang="en-US" sz="1050" dirty="0"/>
          </a:p>
        </p:txBody>
      </p:sp>
      <p:sp>
        <p:nvSpPr>
          <p:cNvPr id="14" name="nav-link-Wrap-up">
            <a:hlinkClick r:id="rId6" tooltip="Go to Wrap-up" action="ppaction://hlinksldjump"/>
          </p:cNvPr>
          <p:cNvSpPr/>
          <p:nvPr/>
        </p:nvSpPr>
        <p:spPr>
          <a:xfrm>
            <a:off x="4279392" y="118872"/>
            <a:ext cx="786384" cy="256032"/>
          </a:xfrm>
          <a:prstGeom prst="rect">
            <a:avLst/>
          </a:prstGeom>
          <a:solidFill>
            <a:srgbClr val="FFFFFF">
              <a:alpha val="0"/>
            </a:srgbClr>
          </a:solidFill>
          <a:ln/>
        </p:spPr>
      </p:sp>
      <p:sp>
        <p:nvSpPr>
          <p:cNvPr id="15" name="nav-Appendix"/>
          <p:cNvSpPr txBox="1"/>
          <p:nvPr/>
        </p:nvSpPr>
        <p:spPr>
          <a:xfrm>
            <a:off x="5120640" y="118872"/>
            <a:ext cx="859536" cy="256032"/>
          </a:xfrm>
          <a:prstGeom prst="rect">
            <a:avLst/>
          </a:prstGeom>
          <a:noFill/>
          <a:ln/>
        </p:spPr>
        <p:txBody>
          <a:bodyPr wrap="square" lIns="0" tIns="0" rIns="0" bIns="0" rtlCol="0" anchor="ctr"/>
          <a:lstStyle/>
          <a:p>
            <a:pPr algn="ctr" indent="0" marL="0">
              <a:buNone/>
            </a:pPr>
            <a:r>
              <a:rPr lang="en-US" sz="1050" dirty="0">
                <a:solidFill>
                  <a:srgbClr val="5F6772"/>
                </a:solidFill>
              </a:rPr>
              <a:t>Appendix</a:t>
            </a:r>
            <a:endParaRPr lang="en-US" sz="1050" dirty="0"/>
          </a:p>
        </p:txBody>
      </p:sp>
      <p:sp>
        <p:nvSpPr>
          <p:cNvPr id="16" name="nav-link-Appendix">
            <a:hlinkClick r:id="rId7" tooltip="Go to Appendix" action="ppaction://hlinksldjump"/>
          </p:cNvPr>
          <p:cNvSpPr/>
          <p:nvPr/>
        </p:nvSpPr>
        <p:spPr>
          <a:xfrm>
            <a:off x="5120640" y="118872"/>
            <a:ext cx="859536" cy="256032"/>
          </a:xfrm>
          <a:prstGeom prst="rect">
            <a:avLst/>
          </a:prstGeom>
          <a:solidFill>
            <a:srgbClr val="FFFFFF">
              <a:alpha val="0"/>
            </a:srgbClr>
          </a:solidFill>
          <a:ln/>
        </p:spPr>
      </p:sp>
      <p:sp>
        <p:nvSpPr>
          <p:cNvPr id="17" name="Text 0"/>
          <p:cNvSpPr/>
          <p:nvPr>
            <p:ph idx="100" type="title" hasCustomPrompt="1"/>
          </p:nvPr>
        </p:nvSpPr>
        <p:spPr>
          <a:xfrm>
            <a:off x="457200" y="475488"/>
            <a:ext cx="8229600" cy="777240"/>
          </a:xfrm>
          <a:prstGeom prst="rect">
            <a:avLst/>
          </a:prstGeom>
          <a:noFill/>
          <a:ln/>
        </p:spPr>
        <p:txBody>
          <a:bodyPr wrap="square" lIns="0" tIns="0" rIns="0" bIns="0" rtlCol="0" anchor="t"/>
          <a:lstStyle/>
          <a:p>
            <a:pPr algn="l" indent="0" marL="0">
              <a:buNone/>
            </a:pPr>
            <a:r>
              <a:rPr lang="en-US" sz="2200" b="1" dirty="0">
                <a:solidFill>
                  <a:schemeClr val="tx1"/>
                </a:solidFill>
              </a:rPr>
              <a:t>The random forest predicts late-2023 fares best, with a $2.20 average error, 23% below linear regression</a:t>
            </a:r>
            <a:endParaRPr lang="en-US" sz="2200" dirty="0"/>
          </a:p>
        </p:txBody>
      </p:sp>
      <p:graphicFrame>
        <p:nvGraphicFramePr>
          <p:cNvPr id="18" name="chart-mae" descr=""/>
          <p:cNvGraphicFramePr/>
          <p:nvPr/>
        </p:nvGraphicFramePr>
        <p:xfrm>
          <a:off x="365760" y="1371600"/>
          <a:ext cx="5303520" cy="3291840"/>
        </p:xfrm>
        <a:graphic xmlns:a="http://schemas.openxmlformats.org/drawingml/2006/main">
          <a:graphicData uri="http://schemas.openxmlformats.org/drawingml/2006/chart">
            <c:chart xmlns:c="http://schemas.openxmlformats.org/drawingml/2006/chart" r:id="rId8"/>
          </a:graphicData>
        </a:graphic>
      </p:graphicFrame>
      <p:sp>
        <p:nvSpPr>
          <p:cNvPr id="19" name="mae-stat-card"/>
          <p:cNvSpPr/>
          <p:nvPr/>
        </p:nvSpPr>
        <p:spPr>
          <a:xfrm>
            <a:off x="5852160" y="1463040"/>
            <a:ext cx="2834640" cy="1143000"/>
          </a:xfrm>
          <a:prstGeom prst="roundRect">
            <a:avLst>
              <a:gd name="adj" fmla="val 6400"/>
            </a:avLst>
          </a:prstGeom>
          <a:solidFill>
            <a:srgbClr val="F2B705"/>
          </a:solidFill>
          <a:ln/>
        </p:spPr>
      </p:sp>
      <p:sp>
        <p:nvSpPr>
          <p:cNvPr id="20" name="mae-stat"/>
          <p:cNvSpPr txBox="1"/>
          <p:nvPr/>
        </p:nvSpPr>
        <p:spPr>
          <a:xfrm>
            <a:off x="6016752" y="1517904"/>
            <a:ext cx="1325880" cy="1005840"/>
          </a:xfrm>
          <a:prstGeom prst="rect">
            <a:avLst/>
          </a:prstGeom>
          <a:noFill/>
          <a:ln/>
        </p:spPr>
        <p:txBody>
          <a:bodyPr wrap="square" lIns="0" tIns="0" rIns="0" bIns="0" rtlCol="0" anchor="ctr"/>
          <a:lstStyle/>
          <a:p>
            <a:pPr indent="0" marL="0">
              <a:buNone/>
            </a:pPr>
            <a:r>
              <a:rPr lang="en-US" sz="3200" b="1" dirty="0">
                <a:solidFill>
                  <a:schemeClr val="tx1"/>
                </a:solidFill>
              </a:rPr>
              <a:t>$2.20</a:t>
            </a:r>
            <a:endParaRPr lang="en-US" sz="3200" dirty="0"/>
          </a:p>
        </p:txBody>
      </p:sp>
      <p:sp>
        <p:nvSpPr>
          <p:cNvPr id="21" name="mae-stat-label"/>
          <p:cNvSpPr txBox="1"/>
          <p:nvPr/>
        </p:nvSpPr>
        <p:spPr>
          <a:xfrm>
            <a:off x="7342632" y="1517904"/>
            <a:ext cx="1280160" cy="1005840"/>
          </a:xfrm>
          <a:prstGeom prst="rect">
            <a:avLst/>
          </a:prstGeom>
          <a:noFill/>
          <a:ln/>
        </p:spPr>
        <p:txBody>
          <a:bodyPr wrap="square" lIns="0" tIns="0" rIns="0" bIns="0" rtlCol="0" anchor="ctr"/>
          <a:lstStyle/>
          <a:p>
            <a:pPr indent="0" marL="0">
              <a:buNone/>
            </a:pPr>
            <a:r>
              <a:rPr lang="en-US" sz="1200" dirty="0">
                <a:solidFill>
                  <a:schemeClr val="tx1"/>
                </a:solidFill>
              </a:rPr>
              <a:t>average error per test trip (11% of the fare)</a:t>
            </a:r>
            <a:endParaRPr lang="en-US" sz="1200" dirty="0"/>
          </a:p>
        </p:txBody>
      </p:sp>
      <p:sp>
        <p:nvSpPr>
          <p:cNvPr id="22" name="mae-bullets"/>
          <p:cNvSpPr txBox="1"/>
          <p:nvPr/>
        </p:nvSpPr>
        <p:spPr>
          <a:xfrm>
            <a:off x="5852160" y="2834640"/>
            <a:ext cx="2834640" cy="1737360"/>
          </a:xfrm>
          <a:prstGeom prst="rect">
            <a:avLst/>
          </a:prstGeom>
          <a:noFill/>
          <a:ln/>
        </p:spPr>
        <p:txBody>
          <a:bodyPr wrap="square" lIns="0" tIns="0" rIns="0" bIns="0" rtlCol="0" anchor="t"/>
          <a:lstStyle/>
          <a:p>
            <a:pPr marL="177800" indent="-177800">
              <a:spcAft>
                <a:spcPts val="900"/>
              </a:spcAft>
              <a:buSzPct val="100000"/>
              <a:buChar char="•"/>
            </a:pPr>
            <a:r>
              <a:rPr lang="en-US" sz="1400" dirty="0">
                <a:solidFill>
                  <a:schemeClr val="tx1"/>
                </a:solidFill>
              </a:rPr>
              <a:t>R² 0.945 and 64.3% of trips within $2</a:t>
            </a:r>
            <a:endParaRPr lang="en-US" sz="1400" dirty="0"/>
          </a:p>
          <a:p>
            <a:pPr marL="177800" indent="-177800">
              <a:spcAft>
                <a:spcPts val="900"/>
              </a:spcAft>
              <a:buSzPct val="100000"/>
              <a:buChar char="•"/>
            </a:pPr>
            <a:r>
              <a:rPr lang="en-US" sz="1400" dirty="0">
                <a:solidFill>
                  <a:schemeClr val="tx1"/>
                </a:solidFill>
              </a:rPr>
              <a:t>Neural network a close second at $2.29, with the fewest large misses</a:t>
            </a:r>
            <a:endParaRPr lang="en-US" sz="1400" dirty="0"/>
          </a:p>
          <a:p>
            <a:pPr marL="177800" indent="-177800">
              <a:spcAft>
                <a:spcPts val="900"/>
              </a:spcAft>
              <a:buSzPct val="100000"/>
              <a:buChar char="•"/>
            </a:pPr>
            <a:r>
              <a:rPr lang="en-US" sz="1400" dirty="0">
                <a:solidFill>
                  <a:schemeClr val="tx1"/>
                </a:solidFill>
              </a:rPr>
              <a:t>All non-linear models beat the linear bar ($2.85)</a:t>
            </a:r>
            <a:endParaRPr lang="en-US" sz="1400" dirty="0"/>
          </a:p>
        </p:txBody>
      </p:sp>
      <p:sp>
        <p:nvSpPr>
          <p:cNvPr id="23" name="citation"/>
          <p:cNvSpPr txBox="1"/>
          <p:nvPr/>
        </p:nvSpPr>
        <p:spPr>
          <a:xfrm>
            <a:off x="457200" y="4754880"/>
            <a:ext cx="7680960" cy="256032"/>
          </a:xfrm>
          <a:prstGeom prst="rect">
            <a:avLst/>
          </a:prstGeom>
          <a:noFill/>
          <a:ln/>
        </p:spPr>
        <p:txBody>
          <a:bodyPr wrap="square" lIns="0" tIns="0" rIns="0" bIns="0" rtlCol="0" anchor="ctr"/>
          <a:lstStyle/>
          <a:p>
            <a:pPr indent="0" marL="0">
              <a:buNone/>
            </a:pPr>
            <a:r>
              <a:rPr lang="en-US" sz="1050" dirty="0">
                <a:solidFill>
                  <a:srgbClr val="5F6772"/>
                </a:solidFill>
              </a:rPr>
              <a:t>Mean absolute error on the same 93,033 trips from October–December 2023. Grey = comparison models.</a:t>
            </a:r>
            <a:endParaRPr lang="en-US" sz="1050" dirty="0"/>
          </a:p>
        </p:txBody>
      </p:sp>
      <p:sp>
        <p:nvSpPr>
          <p:cNvPr id="25" name="Slide Number Placeholder 0"/>
          <p:cNvSpPr>
            <a:spLocks noGrp="1"/>
          </p:cNvSpPr>
          <p:nvPr>
            <p:ph type="sldNum" sz="quarter" idx="4294967295"/>
          </p:nvPr>
        </p:nvSpPr>
        <p:spPr>
          <a:xfrm>
            <a:off x="8275320" y="4754880"/>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77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nav-Agenda"/>
          <p:cNvSpPr txBox="1"/>
          <p:nvPr/>
        </p:nvSpPr>
        <p:spPr>
          <a:xfrm>
            <a:off x="457200" y="118872"/>
            <a:ext cx="713232" cy="256032"/>
          </a:xfrm>
          <a:prstGeom prst="rect">
            <a:avLst/>
          </a:prstGeom>
          <a:noFill/>
          <a:ln/>
        </p:spPr>
        <p:txBody>
          <a:bodyPr wrap="square" lIns="0" tIns="0" rIns="0" bIns="0" rtlCol="0" anchor="ctr"/>
          <a:lstStyle/>
          <a:p>
            <a:pPr algn="ctr" indent="0" marL="0">
              <a:buNone/>
            </a:pPr>
            <a:r>
              <a:rPr lang="en-US" sz="1050" dirty="0">
                <a:solidFill>
                  <a:srgbClr val="5F6772"/>
                </a:solidFill>
              </a:rPr>
              <a:t>Agenda</a:t>
            </a:r>
            <a:endParaRPr lang="en-US" sz="1050" dirty="0"/>
          </a:p>
        </p:txBody>
      </p:sp>
      <p:sp>
        <p:nvSpPr>
          <p:cNvPr id="3" name="nav-link-Agenda">
            <a:hlinkClick r:id="rId1" tooltip="Go to Agenda" action="ppaction://hlinksldjump"/>
          </p:cNvPr>
          <p:cNvSpPr/>
          <p:nvPr/>
        </p:nvSpPr>
        <p:spPr>
          <a:xfrm>
            <a:off x="457200" y="118872"/>
            <a:ext cx="713232" cy="256032"/>
          </a:xfrm>
          <a:prstGeom prst="rect">
            <a:avLst/>
          </a:prstGeom>
          <a:solidFill>
            <a:srgbClr val="FFFFFF">
              <a:alpha val="0"/>
            </a:srgbClr>
          </a:solidFill>
          <a:ln/>
        </p:spPr>
      </p:sp>
      <p:sp>
        <p:nvSpPr>
          <p:cNvPr id="4" name="nav-Question"/>
          <p:cNvSpPr txBox="1"/>
          <p:nvPr/>
        </p:nvSpPr>
        <p:spPr>
          <a:xfrm>
            <a:off x="1225296" y="118872"/>
            <a:ext cx="822960" cy="256032"/>
          </a:xfrm>
          <a:prstGeom prst="rect">
            <a:avLst/>
          </a:prstGeom>
          <a:noFill/>
          <a:ln/>
        </p:spPr>
        <p:txBody>
          <a:bodyPr wrap="square" lIns="0" tIns="0" rIns="0" bIns="0" rtlCol="0" anchor="ctr"/>
          <a:lstStyle/>
          <a:p>
            <a:pPr algn="ctr" indent="0" marL="0">
              <a:buNone/>
            </a:pPr>
            <a:r>
              <a:rPr lang="en-US" sz="1050" dirty="0">
                <a:solidFill>
                  <a:srgbClr val="5F6772"/>
                </a:solidFill>
              </a:rPr>
              <a:t>Question</a:t>
            </a:r>
            <a:endParaRPr lang="en-US" sz="1050" dirty="0"/>
          </a:p>
        </p:txBody>
      </p:sp>
      <p:sp>
        <p:nvSpPr>
          <p:cNvPr id="5" name="nav-link-Question">
            <a:hlinkClick r:id="rId2" tooltip="Go to Question" action="ppaction://hlinksldjump"/>
          </p:cNvPr>
          <p:cNvSpPr/>
          <p:nvPr/>
        </p:nvSpPr>
        <p:spPr>
          <a:xfrm>
            <a:off x="1225296" y="118872"/>
            <a:ext cx="822960" cy="256032"/>
          </a:xfrm>
          <a:prstGeom prst="rect">
            <a:avLst/>
          </a:prstGeom>
          <a:solidFill>
            <a:srgbClr val="FFFFFF">
              <a:alpha val="0"/>
            </a:srgbClr>
          </a:solidFill>
          <a:ln/>
        </p:spPr>
      </p:sp>
      <p:sp>
        <p:nvSpPr>
          <p:cNvPr id="6" name="nav-Data"/>
          <p:cNvSpPr txBox="1"/>
          <p:nvPr/>
        </p:nvSpPr>
        <p:spPr>
          <a:xfrm>
            <a:off x="2103120" y="118872"/>
            <a:ext cx="566928" cy="256032"/>
          </a:xfrm>
          <a:prstGeom prst="rect">
            <a:avLst/>
          </a:prstGeom>
          <a:noFill/>
          <a:ln/>
        </p:spPr>
        <p:txBody>
          <a:bodyPr wrap="square" lIns="0" tIns="0" rIns="0" bIns="0" rtlCol="0" anchor="ctr"/>
          <a:lstStyle/>
          <a:p>
            <a:pPr algn="ctr" indent="0" marL="0">
              <a:buNone/>
            </a:pPr>
            <a:r>
              <a:rPr lang="en-US" sz="1050" dirty="0">
                <a:solidFill>
                  <a:srgbClr val="5F6772"/>
                </a:solidFill>
              </a:rPr>
              <a:t>Data</a:t>
            </a:r>
            <a:endParaRPr lang="en-US" sz="1050" dirty="0"/>
          </a:p>
        </p:txBody>
      </p:sp>
      <p:sp>
        <p:nvSpPr>
          <p:cNvPr id="7" name="nav-link-Data">
            <a:hlinkClick r:id="rId3" tooltip="Go to Data" action="ppaction://hlinksldjump"/>
          </p:cNvPr>
          <p:cNvSpPr/>
          <p:nvPr/>
        </p:nvSpPr>
        <p:spPr>
          <a:xfrm>
            <a:off x="2103120" y="118872"/>
            <a:ext cx="566928" cy="256032"/>
          </a:xfrm>
          <a:prstGeom prst="rect">
            <a:avLst/>
          </a:prstGeom>
          <a:solidFill>
            <a:srgbClr val="FFFFFF">
              <a:alpha val="0"/>
            </a:srgbClr>
          </a:solidFill>
          <a:ln/>
        </p:spPr>
      </p:sp>
      <p:sp>
        <p:nvSpPr>
          <p:cNvPr id="8" name="nav-Method"/>
          <p:cNvSpPr txBox="1"/>
          <p:nvPr/>
        </p:nvSpPr>
        <p:spPr>
          <a:xfrm>
            <a:off x="2724912" y="118872"/>
            <a:ext cx="713232" cy="256032"/>
          </a:xfrm>
          <a:prstGeom prst="rect">
            <a:avLst/>
          </a:prstGeom>
          <a:noFill/>
          <a:ln/>
        </p:spPr>
        <p:txBody>
          <a:bodyPr wrap="square" lIns="0" tIns="0" rIns="0" bIns="0" rtlCol="0" anchor="ctr"/>
          <a:lstStyle/>
          <a:p>
            <a:pPr algn="ctr" indent="0" marL="0">
              <a:buNone/>
            </a:pPr>
            <a:r>
              <a:rPr lang="en-US" sz="1050" dirty="0">
                <a:solidFill>
                  <a:srgbClr val="5F6772"/>
                </a:solidFill>
              </a:rPr>
              <a:t>Method</a:t>
            </a:r>
            <a:endParaRPr lang="en-US" sz="1050" dirty="0"/>
          </a:p>
        </p:txBody>
      </p:sp>
      <p:sp>
        <p:nvSpPr>
          <p:cNvPr id="9" name="nav-link-Method">
            <a:hlinkClick r:id="rId4" tooltip="Go to Method" action="ppaction://hlinksldjump"/>
          </p:cNvPr>
          <p:cNvSpPr/>
          <p:nvPr/>
        </p:nvSpPr>
        <p:spPr>
          <a:xfrm>
            <a:off x="2724912" y="118872"/>
            <a:ext cx="713232" cy="256032"/>
          </a:xfrm>
          <a:prstGeom prst="rect">
            <a:avLst/>
          </a:prstGeom>
          <a:solidFill>
            <a:srgbClr val="FFFFFF">
              <a:alpha val="0"/>
            </a:srgbClr>
          </a:solidFill>
          <a:ln/>
        </p:spPr>
      </p:sp>
      <p:sp>
        <p:nvSpPr>
          <p:cNvPr id="10" name="nav-pill-Results"/>
          <p:cNvSpPr/>
          <p:nvPr/>
        </p:nvSpPr>
        <p:spPr>
          <a:xfrm>
            <a:off x="3493008" y="118872"/>
            <a:ext cx="731520" cy="256032"/>
          </a:xfrm>
          <a:prstGeom prst="roundRect">
            <a:avLst>
              <a:gd name="adj" fmla="val 50000"/>
            </a:avLst>
          </a:prstGeom>
          <a:solidFill>
            <a:srgbClr val="F2B705"/>
          </a:solidFill>
          <a:ln w="6350">
            <a:solidFill>
              <a:srgbClr val="F2B705"/>
            </a:solidFill>
            <a:prstDash val="solid"/>
          </a:ln>
        </p:spPr>
      </p:sp>
      <p:sp>
        <p:nvSpPr>
          <p:cNvPr id="11" name="nav-Results"/>
          <p:cNvSpPr txBox="1"/>
          <p:nvPr/>
        </p:nvSpPr>
        <p:spPr>
          <a:xfrm>
            <a:off x="3493008" y="118872"/>
            <a:ext cx="731520" cy="256032"/>
          </a:xfrm>
          <a:prstGeom prst="rect">
            <a:avLst/>
          </a:prstGeom>
          <a:noFill/>
          <a:ln/>
        </p:spPr>
        <p:txBody>
          <a:bodyPr wrap="square" lIns="0" tIns="0" rIns="0" bIns="0" rtlCol="0" anchor="ctr"/>
          <a:lstStyle/>
          <a:p>
            <a:pPr algn="ctr" indent="0" marL="0">
              <a:buNone/>
            </a:pPr>
            <a:r>
              <a:rPr lang="en-US" sz="1050" b="1" dirty="0">
                <a:solidFill>
                  <a:schemeClr val="tx1"/>
                </a:solidFill>
              </a:rPr>
              <a:t>Results</a:t>
            </a:r>
            <a:endParaRPr lang="en-US" sz="1050" dirty="0"/>
          </a:p>
        </p:txBody>
      </p:sp>
      <p:sp>
        <p:nvSpPr>
          <p:cNvPr id="12" name="nav-link-Results">
            <a:hlinkClick r:id="rId5" tooltip="Go to Results" action="ppaction://hlinksldjump"/>
          </p:cNvPr>
          <p:cNvSpPr/>
          <p:nvPr/>
        </p:nvSpPr>
        <p:spPr>
          <a:xfrm>
            <a:off x="3493008" y="118872"/>
            <a:ext cx="731520" cy="256032"/>
          </a:xfrm>
          <a:prstGeom prst="rect">
            <a:avLst/>
          </a:prstGeom>
          <a:solidFill>
            <a:srgbClr val="FFFFFF">
              <a:alpha val="0"/>
            </a:srgbClr>
          </a:solidFill>
          <a:ln/>
        </p:spPr>
      </p:sp>
      <p:sp>
        <p:nvSpPr>
          <p:cNvPr id="13" name="nav-Wrap-up"/>
          <p:cNvSpPr txBox="1"/>
          <p:nvPr/>
        </p:nvSpPr>
        <p:spPr>
          <a:xfrm>
            <a:off x="4279392" y="118872"/>
            <a:ext cx="786384" cy="256032"/>
          </a:xfrm>
          <a:prstGeom prst="rect">
            <a:avLst/>
          </a:prstGeom>
          <a:noFill/>
          <a:ln/>
        </p:spPr>
        <p:txBody>
          <a:bodyPr wrap="square" lIns="0" tIns="0" rIns="0" bIns="0" rtlCol="0" anchor="ctr"/>
          <a:lstStyle/>
          <a:p>
            <a:pPr algn="ctr" indent="0" marL="0">
              <a:buNone/>
            </a:pPr>
            <a:r>
              <a:rPr lang="en-US" sz="1050" dirty="0">
                <a:solidFill>
                  <a:srgbClr val="5F6772"/>
                </a:solidFill>
              </a:rPr>
              <a:t>Wrap-up</a:t>
            </a:r>
            <a:endParaRPr lang="en-US" sz="1050" dirty="0"/>
          </a:p>
        </p:txBody>
      </p:sp>
      <p:sp>
        <p:nvSpPr>
          <p:cNvPr id="14" name="nav-link-Wrap-up">
            <a:hlinkClick r:id="rId6" tooltip="Go to Wrap-up" action="ppaction://hlinksldjump"/>
          </p:cNvPr>
          <p:cNvSpPr/>
          <p:nvPr/>
        </p:nvSpPr>
        <p:spPr>
          <a:xfrm>
            <a:off x="4279392" y="118872"/>
            <a:ext cx="786384" cy="256032"/>
          </a:xfrm>
          <a:prstGeom prst="rect">
            <a:avLst/>
          </a:prstGeom>
          <a:solidFill>
            <a:srgbClr val="FFFFFF">
              <a:alpha val="0"/>
            </a:srgbClr>
          </a:solidFill>
          <a:ln/>
        </p:spPr>
      </p:sp>
      <p:sp>
        <p:nvSpPr>
          <p:cNvPr id="15" name="nav-Appendix"/>
          <p:cNvSpPr txBox="1"/>
          <p:nvPr/>
        </p:nvSpPr>
        <p:spPr>
          <a:xfrm>
            <a:off x="5120640" y="118872"/>
            <a:ext cx="859536" cy="256032"/>
          </a:xfrm>
          <a:prstGeom prst="rect">
            <a:avLst/>
          </a:prstGeom>
          <a:noFill/>
          <a:ln/>
        </p:spPr>
        <p:txBody>
          <a:bodyPr wrap="square" lIns="0" tIns="0" rIns="0" bIns="0" rtlCol="0" anchor="ctr"/>
          <a:lstStyle/>
          <a:p>
            <a:pPr algn="ctr" indent="0" marL="0">
              <a:buNone/>
            </a:pPr>
            <a:r>
              <a:rPr lang="en-US" sz="1050" dirty="0">
                <a:solidFill>
                  <a:srgbClr val="5F6772"/>
                </a:solidFill>
              </a:rPr>
              <a:t>Appendix</a:t>
            </a:r>
            <a:endParaRPr lang="en-US" sz="1050" dirty="0"/>
          </a:p>
        </p:txBody>
      </p:sp>
      <p:sp>
        <p:nvSpPr>
          <p:cNvPr id="16" name="nav-link-Appendix">
            <a:hlinkClick r:id="rId7" tooltip="Go to Appendix" action="ppaction://hlinksldjump"/>
          </p:cNvPr>
          <p:cNvSpPr/>
          <p:nvPr/>
        </p:nvSpPr>
        <p:spPr>
          <a:xfrm>
            <a:off x="5120640" y="118872"/>
            <a:ext cx="859536" cy="256032"/>
          </a:xfrm>
          <a:prstGeom prst="rect">
            <a:avLst/>
          </a:prstGeom>
          <a:solidFill>
            <a:srgbClr val="FFFFFF">
              <a:alpha val="0"/>
            </a:srgbClr>
          </a:solidFill>
          <a:ln/>
        </p:spPr>
      </p:sp>
      <p:sp>
        <p:nvSpPr>
          <p:cNvPr id="17" name="Text 0"/>
          <p:cNvSpPr/>
          <p:nvPr>
            <p:ph idx="100" type="title" hasCustomPrompt="1"/>
          </p:nvPr>
        </p:nvSpPr>
        <p:spPr>
          <a:xfrm>
            <a:off x="457200" y="475488"/>
            <a:ext cx="8229600" cy="777240"/>
          </a:xfrm>
          <a:prstGeom prst="rect">
            <a:avLst/>
          </a:prstGeom>
          <a:noFill/>
          <a:ln/>
        </p:spPr>
        <p:txBody>
          <a:bodyPr wrap="square" lIns="0" tIns="0" rIns="0" bIns="0" rtlCol="0" anchor="t"/>
          <a:lstStyle/>
          <a:p>
            <a:pPr algn="l" indent="0" marL="0">
              <a:buNone/>
            </a:pPr>
            <a:r>
              <a:rPr lang="en-US" sz="2200" b="1" dirty="0">
                <a:solidFill>
                  <a:schemeClr val="tx1"/>
                </a:solidFill>
              </a:rPr>
              <a:t>Non-linear models price the $70 JFK flat fare almost exactly, while linear models miss by about $7</a:t>
            </a:r>
            <a:endParaRPr lang="en-US" sz="2200" dirty="0"/>
          </a:p>
        </p:txBody>
      </p:sp>
      <p:graphicFrame>
        <p:nvGraphicFramePr>
          <p:cNvPr id="18" name="chart-jfk" descr=""/>
          <p:cNvGraphicFramePr/>
          <p:nvPr/>
        </p:nvGraphicFramePr>
        <p:xfrm>
          <a:off x="365760" y="1371600"/>
          <a:ext cx="5303520" cy="3291840"/>
        </p:xfrm>
        <a:graphic xmlns:a="http://schemas.openxmlformats.org/drawingml/2006/main">
          <a:graphicData uri="http://schemas.openxmlformats.org/drawingml/2006/chart">
            <c:chart xmlns:c="http://schemas.openxmlformats.org/drawingml/2006/chart" r:id="rId8"/>
          </a:graphicData>
        </a:graphic>
      </p:graphicFrame>
      <p:sp>
        <p:nvSpPr>
          <p:cNvPr id="19" name="panel-header"/>
          <p:cNvSpPr txBox="1"/>
          <p:nvPr/>
        </p:nvSpPr>
        <p:spPr>
          <a:xfrm>
            <a:off x="5852160" y="1463040"/>
            <a:ext cx="2834640" cy="320040"/>
          </a:xfrm>
          <a:prstGeom prst="rect">
            <a:avLst/>
          </a:prstGeom>
          <a:noFill/>
          <a:ln/>
        </p:spPr>
        <p:txBody>
          <a:bodyPr wrap="square" lIns="0" tIns="0" rIns="0" bIns="0" rtlCol="0" anchor="ctr"/>
          <a:lstStyle/>
          <a:p>
            <a:pPr indent="0" marL="0">
              <a:buNone/>
            </a:pPr>
            <a:r>
              <a:rPr lang="en-US" sz="1500" b="1" dirty="0">
                <a:solidFill>
                  <a:schemeClr val="tx1"/>
                </a:solidFill>
              </a:rPr>
              <a:t>Rules beat straight lines</a:t>
            </a:r>
            <a:endParaRPr lang="en-US" sz="1500" dirty="0"/>
          </a:p>
        </p:txBody>
      </p:sp>
      <p:sp>
        <p:nvSpPr>
          <p:cNvPr id="20" name="jfk-bullets"/>
          <p:cNvSpPr txBox="1"/>
          <p:nvPr/>
        </p:nvSpPr>
        <p:spPr>
          <a:xfrm>
            <a:off x="5852160" y="1874520"/>
            <a:ext cx="2834640" cy="2697480"/>
          </a:xfrm>
          <a:prstGeom prst="rect">
            <a:avLst/>
          </a:prstGeom>
          <a:noFill/>
          <a:ln/>
        </p:spPr>
        <p:txBody>
          <a:bodyPr wrap="square" lIns="0" tIns="0" rIns="0" bIns="0" rtlCol="0" anchor="t"/>
          <a:lstStyle/>
          <a:p>
            <a:pPr marL="177800" indent="-177800">
              <a:spcAft>
                <a:spcPts val="900"/>
              </a:spcAft>
              <a:buSzPct val="100000"/>
              <a:buChar char="•"/>
            </a:pPr>
            <a:r>
              <a:rPr lang="en-US" sz="1400" dirty="0">
                <a:solidFill>
                  <a:schemeClr val="tx1"/>
                </a:solidFill>
              </a:rPr>
              <a:t>3,376 test trips used the flat $70 JFK fare</a:t>
            </a:r>
            <a:endParaRPr lang="en-US" sz="1400" dirty="0"/>
          </a:p>
          <a:p>
            <a:pPr marL="177800" indent="-177800">
              <a:spcAft>
                <a:spcPts val="900"/>
              </a:spcAft>
              <a:buSzPct val="100000"/>
              <a:buChar char="•"/>
            </a:pPr>
            <a:r>
              <a:rPr lang="en-US" sz="1400" dirty="0">
                <a:solidFill>
                  <a:schemeClr val="tx1"/>
                </a:solidFill>
              </a:rPr>
              <a:t>Trees and networks learn the rule 'JFK rate code → $70'</a:t>
            </a:r>
            <a:endParaRPr lang="en-US" sz="1400" dirty="0"/>
          </a:p>
          <a:p>
            <a:pPr marL="177800" indent="-177800">
              <a:spcAft>
                <a:spcPts val="900"/>
              </a:spcAft>
              <a:buSzPct val="100000"/>
              <a:buChar char="•"/>
            </a:pPr>
            <a:r>
              <a:rPr lang="en-US" sz="1400" dirty="0">
                <a:solidFill>
                  <a:schemeClr val="tx1"/>
                </a:solidFill>
              </a:rPr>
              <a:t>Linear models price JFK by distance and miss by $6.50–7</a:t>
            </a:r>
            <a:endParaRPr lang="en-US" sz="1400" dirty="0"/>
          </a:p>
        </p:txBody>
      </p:sp>
      <p:sp>
        <p:nvSpPr>
          <p:cNvPr id="21" name="citation"/>
          <p:cNvSpPr txBox="1"/>
          <p:nvPr/>
        </p:nvSpPr>
        <p:spPr>
          <a:xfrm>
            <a:off x="457200" y="4754880"/>
            <a:ext cx="7680960" cy="256032"/>
          </a:xfrm>
          <a:prstGeom prst="rect">
            <a:avLst/>
          </a:prstGeom>
          <a:noFill/>
          <a:ln/>
        </p:spPr>
        <p:txBody>
          <a:bodyPr wrap="square" lIns="0" tIns="0" rIns="0" bIns="0" rtlCol="0" anchor="ctr"/>
          <a:lstStyle/>
          <a:p>
            <a:pPr indent="0" marL="0">
              <a:buNone/>
            </a:pPr>
            <a:r>
              <a:rPr lang="en-US" sz="1050" dirty="0">
                <a:solidFill>
                  <a:srgbClr val="5F6772"/>
                </a:solidFill>
              </a:rPr>
              <a:t>Mean absolute error on JFK flat-fare trips (rate code 2) among the 93,033 test trips. Yellow = non-linear models.</a:t>
            </a:r>
            <a:endParaRPr lang="en-US" sz="1050" dirty="0"/>
          </a:p>
        </p:txBody>
      </p:sp>
      <p:sp>
        <p:nvSpPr>
          <p:cNvPr id="25" name="Slide Number Placeholder 0"/>
          <p:cNvSpPr>
            <a:spLocks noGrp="1"/>
          </p:cNvSpPr>
          <p:nvPr>
            <p:ph type="sldNum" sz="quarter" idx="4294967295"/>
          </p:nvPr>
        </p:nvSpPr>
        <p:spPr>
          <a:xfrm>
            <a:off x="8275320" y="4754880"/>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77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nav-Agenda"/>
          <p:cNvSpPr txBox="1"/>
          <p:nvPr/>
        </p:nvSpPr>
        <p:spPr>
          <a:xfrm>
            <a:off x="457200" y="118872"/>
            <a:ext cx="713232" cy="256032"/>
          </a:xfrm>
          <a:prstGeom prst="rect">
            <a:avLst/>
          </a:prstGeom>
          <a:noFill/>
          <a:ln/>
        </p:spPr>
        <p:txBody>
          <a:bodyPr wrap="square" lIns="0" tIns="0" rIns="0" bIns="0" rtlCol="0" anchor="ctr"/>
          <a:lstStyle/>
          <a:p>
            <a:pPr algn="ctr" indent="0" marL="0">
              <a:buNone/>
            </a:pPr>
            <a:r>
              <a:rPr lang="en-US" sz="1050" dirty="0">
                <a:solidFill>
                  <a:srgbClr val="5F6772"/>
                </a:solidFill>
              </a:rPr>
              <a:t>Agenda</a:t>
            </a:r>
            <a:endParaRPr lang="en-US" sz="1050" dirty="0"/>
          </a:p>
        </p:txBody>
      </p:sp>
      <p:sp>
        <p:nvSpPr>
          <p:cNvPr id="3" name="nav-link-Agenda">
            <a:hlinkClick r:id="rId1" tooltip="Go to Agenda" action="ppaction://hlinksldjump"/>
          </p:cNvPr>
          <p:cNvSpPr/>
          <p:nvPr/>
        </p:nvSpPr>
        <p:spPr>
          <a:xfrm>
            <a:off x="457200" y="118872"/>
            <a:ext cx="713232" cy="256032"/>
          </a:xfrm>
          <a:prstGeom prst="rect">
            <a:avLst/>
          </a:prstGeom>
          <a:solidFill>
            <a:srgbClr val="FFFFFF">
              <a:alpha val="0"/>
            </a:srgbClr>
          </a:solidFill>
          <a:ln/>
        </p:spPr>
      </p:sp>
      <p:sp>
        <p:nvSpPr>
          <p:cNvPr id="4" name="nav-Question"/>
          <p:cNvSpPr txBox="1"/>
          <p:nvPr/>
        </p:nvSpPr>
        <p:spPr>
          <a:xfrm>
            <a:off x="1225296" y="118872"/>
            <a:ext cx="822960" cy="256032"/>
          </a:xfrm>
          <a:prstGeom prst="rect">
            <a:avLst/>
          </a:prstGeom>
          <a:noFill/>
          <a:ln/>
        </p:spPr>
        <p:txBody>
          <a:bodyPr wrap="square" lIns="0" tIns="0" rIns="0" bIns="0" rtlCol="0" anchor="ctr"/>
          <a:lstStyle/>
          <a:p>
            <a:pPr algn="ctr" indent="0" marL="0">
              <a:buNone/>
            </a:pPr>
            <a:r>
              <a:rPr lang="en-US" sz="1050" dirty="0">
                <a:solidFill>
                  <a:srgbClr val="5F6772"/>
                </a:solidFill>
              </a:rPr>
              <a:t>Question</a:t>
            </a:r>
            <a:endParaRPr lang="en-US" sz="1050" dirty="0"/>
          </a:p>
        </p:txBody>
      </p:sp>
      <p:sp>
        <p:nvSpPr>
          <p:cNvPr id="5" name="nav-link-Question">
            <a:hlinkClick r:id="rId2" tooltip="Go to Question" action="ppaction://hlinksldjump"/>
          </p:cNvPr>
          <p:cNvSpPr/>
          <p:nvPr/>
        </p:nvSpPr>
        <p:spPr>
          <a:xfrm>
            <a:off x="1225296" y="118872"/>
            <a:ext cx="822960" cy="256032"/>
          </a:xfrm>
          <a:prstGeom prst="rect">
            <a:avLst/>
          </a:prstGeom>
          <a:solidFill>
            <a:srgbClr val="FFFFFF">
              <a:alpha val="0"/>
            </a:srgbClr>
          </a:solidFill>
          <a:ln/>
        </p:spPr>
      </p:sp>
      <p:sp>
        <p:nvSpPr>
          <p:cNvPr id="6" name="nav-Data"/>
          <p:cNvSpPr txBox="1"/>
          <p:nvPr/>
        </p:nvSpPr>
        <p:spPr>
          <a:xfrm>
            <a:off x="2103120" y="118872"/>
            <a:ext cx="566928" cy="256032"/>
          </a:xfrm>
          <a:prstGeom prst="rect">
            <a:avLst/>
          </a:prstGeom>
          <a:noFill/>
          <a:ln/>
        </p:spPr>
        <p:txBody>
          <a:bodyPr wrap="square" lIns="0" tIns="0" rIns="0" bIns="0" rtlCol="0" anchor="ctr"/>
          <a:lstStyle/>
          <a:p>
            <a:pPr algn="ctr" indent="0" marL="0">
              <a:buNone/>
            </a:pPr>
            <a:r>
              <a:rPr lang="en-US" sz="1050" dirty="0">
                <a:solidFill>
                  <a:srgbClr val="5F6772"/>
                </a:solidFill>
              </a:rPr>
              <a:t>Data</a:t>
            </a:r>
            <a:endParaRPr lang="en-US" sz="1050" dirty="0"/>
          </a:p>
        </p:txBody>
      </p:sp>
      <p:sp>
        <p:nvSpPr>
          <p:cNvPr id="7" name="nav-link-Data">
            <a:hlinkClick r:id="rId3" tooltip="Go to Data" action="ppaction://hlinksldjump"/>
          </p:cNvPr>
          <p:cNvSpPr/>
          <p:nvPr/>
        </p:nvSpPr>
        <p:spPr>
          <a:xfrm>
            <a:off x="2103120" y="118872"/>
            <a:ext cx="566928" cy="256032"/>
          </a:xfrm>
          <a:prstGeom prst="rect">
            <a:avLst/>
          </a:prstGeom>
          <a:solidFill>
            <a:srgbClr val="FFFFFF">
              <a:alpha val="0"/>
            </a:srgbClr>
          </a:solidFill>
          <a:ln/>
        </p:spPr>
      </p:sp>
      <p:sp>
        <p:nvSpPr>
          <p:cNvPr id="8" name="nav-Method"/>
          <p:cNvSpPr txBox="1"/>
          <p:nvPr/>
        </p:nvSpPr>
        <p:spPr>
          <a:xfrm>
            <a:off x="2724912" y="118872"/>
            <a:ext cx="713232" cy="256032"/>
          </a:xfrm>
          <a:prstGeom prst="rect">
            <a:avLst/>
          </a:prstGeom>
          <a:noFill/>
          <a:ln/>
        </p:spPr>
        <p:txBody>
          <a:bodyPr wrap="square" lIns="0" tIns="0" rIns="0" bIns="0" rtlCol="0" anchor="ctr"/>
          <a:lstStyle/>
          <a:p>
            <a:pPr algn="ctr" indent="0" marL="0">
              <a:buNone/>
            </a:pPr>
            <a:r>
              <a:rPr lang="en-US" sz="1050" dirty="0">
                <a:solidFill>
                  <a:srgbClr val="5F6772"/>
                </a:solidFill>
              </a:rPr>
              <a:t>Method</a:t>
            </a:r>
            <a:endParaRPr lang="en-US" sz="1050" dirty="0"/>
          </a:p>
        </p:txBody>
      </p:sp>
      <p:sp>
        <p:nvSpPr>
          <p:cNvPr id="9" name="nav-link-Method">
            <a:hlinkClick r:id="rId4" tooltip="Go to Method" action="ppaction://hlinksldjump"/>
          </p:cNvPr>
          <p:cNvSpPr/>
          <p:nvPr/>
        </p:nvSpPr>
        <p:spPr>
          <a:xfrm>
            <a:off x="2724912" y="118872"/>
            <a:ext cx="713232" cy="256032"/>
          </a:xfrm>
          <a:prstGeom prst="rect">
            <a:avLst/>
          </a:prstGeom>
          <a:solidFill>
            <a:srgbClr val="FFFFFF">
              <a:alpha val="0"/>
            </a:srgbClr>
          </a:solidFill>
          <a:ln/>
        </p:spPr>
      </p:sp>
      <p:sp>
        <p:nvSpPr>
          <p:cNvPr id="10" name="nav-pill-Results"/>
          <p:cNvSpPr/>
          <p:nvPr/>
        </p:nvSpPr>
        <p:spPr>
          <a:xfrm>
            <a:off x="3493008" y="118872"/>
            <a:ext cx="731520" cy="256032"/>
          </a:xfrm>
          <a:prstGeom prst="roundRect">
            <a:avLst>
              <a:gd name="adj" fmla="val 50000"/>
            </a:avLst>
          </a:prstGeom>
          <a:solidFill>
            <a:srgbClr val="F2B705"/>
          </a:solidFill>
          <a:ln w="6350">
            <a:solidFill>
              <a:srgbClr val="F2B705"/>
            </a:solidFill>
            <a:prstDash val="solid"/>
          </a:ln>
        </p:spPr>
      </p:sp>
      <p:sp>
        <p:nvSpPr>
          <p:cNvPr id="11" name="nav-Results"/>
          <p:cNvSpPr txBox="1"/>
          <p:nvPr/>
        </p:nvSpPr>
        <p:spPr>
          <a:xfrm>
            <a:off x="3493008" y="118872"/>
            <a:ext cx="731520" cy="256032"/>
          </a:xfrm>
          <a:prstGeom prst="rect">
            <a:avLst/>
          </a:prstGeom>
          <a:noFill/>
          <a:ln/>
        </p:spPr>
        <p:txBody>
          <a:bodyPr wrap="square" lIns="0" tIns="0" rIns="0" bIns="0" rtlCol="0" anchor="ctr"/>
          <a:lstStyle/>
          <a:p>
            <a:pPr algn="ctr" indent="0" marL="0">
              <a:buNone/>
            </a:pPr>
            <a:r>
              <a:rPr lang="en-US" sz="1050" b="1" dirty="0">
                <a:solidFill>
                  <a:schemeClr val="tx1"/>
                </a:solidFill>
              </a:rPr>
              <a:t>Results</a:t>
            </a:r>
            <a:endParaRPr lang="en-US" sz="1050" dirty="0"/>
          </a:p>
        </p:txBody>
      </p:sp>
      <p:sp>
        <p:nvSpPr>
          <p:cNvPr id="12" name="nav-link-Results">
            <a:hlinkClick r:id="rId5" tooltip="Go to Results" action="ppaction://hlinksldjump"/>
          </p:cNvPr>
          <p:cNvSpPr/>
          <p:nvPr/>
        </p:nvSpPr>
        <p:spPr>
          <a:xfrm>
            <a:off x="3493008" y="118872"/>
            <a:ext cx="731520" cy="256032"/>
          </a:xfrm>
          <a:prstGeom prst="rect">
            <a:avLst/>
          </a:prstGeom>
          <a:solidFill>
            <a:srgbClr val="FFFFFF">
              <a:alpha val="0"/>
            </a:srgbClr>
          </a:solidFill>
          <a:ln/>
        </p:spPr>
      </p:sp>
      <p:sp>
        <p:nvSpPr>
          <p:cNvPr id="13" name="nav-Wrap-up"/>
          <p:cNvSpPr txBox="1"/>
          <p:nvPr/>
        </p:nvSpPr>
        <p:spPr>
          <a:xfrm>
            <a:off x="4279392" y="118872"/>
            <a:ext cx="786384" cy="256032"/>
          </a:xfrm>
          <a:prstGeom prst="rect">
            <a:avLst/>
          </a:prstGeom>
          <a:noFill/>
          <a:ln/>
        </p:spPr>
        <p:txBody>
          <a:bodyPr wrap="square" lIns="0" tIns="0" rIns="0" bIns="0" rtlCol="0" anchor="ctr"/>
          <a:lstStyle/>
          <a:p>
            <a:pPr algn="ctr" indent="0" marL="0">
              <a:buNone/>
            </a:pPr>
            <a:r>
              <a:rPr lang="en-US" sz="1050" dirty="0">
                <a:solidFill>
                  <a:srgbClr val="5F6772"/>
                </a:solidFill>
              </a:rPr>
              <a:t>Wrap-up</a:t>
            </a:r>
            <a:endParaRPr lang="en-US" sz="1050" dirty="0"/>
          </a:p>
        </p:txBody>
      </p:sp>
      <p:sp>
        <p:nvSpPr>
          <p:cNvPr id="14" name="nav-link-Wrap-up">
            <a:hlinkClick r:id="rId6" tooltip="Go to Wrap-up" action="ppaction://hlinksldjump"/>
          </p:cNvPr>
          <p:cNvSpPr/>
          <p:nvPr/>
        </p:nvSpPr>
        <p:spPr>
          <a:xfrm>
            <a:off x="4279392" y="118872"/>
            <a:ext cx="786384" cy="256032"/>
          </a:xfrm>
          <a:prstGeom prst="rect">
            <a:avLst/>
          </a:prstGeom>
          <a:solidFill>
            <a:srgbClr val="FFFFFF">
              <a:alpha val="0"/>
            </a:srgbClr>
          </a:solidFill>
          <a:ln/>
        </p:spPr>
      </p:sp>
      <p:sp>
        <p:nvSpPr>
          <p:cNvPr id="15" name="nav-Appendix"/>
          <p:cNvSpPr txBox="1"/>
          <p:nvPr/>
        </p:nvSpPr>
        <p:spPr>
          <a:xfrm>
            <a:off x="5120640" y="118872"/>
            <a:ext cx="859536" cy="256032"/>
          </a:xfrm>
          <a:prstGeom prst="rect">
            <a:avLst/>
          </a:prstGeom>
          <a:noFill/>
          <a:ln/>
        </p:spPr>
        <p:txBody>
          <a:bodyPr wrap="square" lIns="0" tIns="0" rIns="0" bIns="0" rtlCol="0" anchor="ctr"/>
          <a:lstStyle/>
          <a:p>
            <a:pPr algn="ctr" indent="0" marL="0">
              <a:buNone/>
            </a:pPr>
            <a:r>
              <a:rPr lang="en-US" sz="1050" dirty="0">
                <a:solidFill>
                  <a:srgbClr val="5F6772"/>
                </a:solidFill>
              </a:rPr>
              <a:t>Appendix</a:t>
            </a:r>
            <a:endParaRPr lang="en-US" sz="1050" dirty="0"/>
          </a:p>
        </p:txBody>
      </p:sp>
      <p:sp>
        <p:nvSpPr>
          <p:cNvPr id="16" name="nav-link-Appendix">
            <a:hlinkClick r:id="rId7" tooltip="Go to Appendix" action="ppaction://hlinksldjump"/>
          </p:cNvPr>
          <p:cNvSpPr/>
          <p:nvPr/>
        </p:nvSpPr>
        <p:spPr>
          <a:xfrm>
            <a:off x="5120640" y="118872"/>
            <a:ext cx="859536" cy="256032"/>
          </a:xfrm>
          <a:prstGeom prst="rect">
            <a:avLst/>
          </a:prstGeom>
          <a:solidFill>
            <a:srgbClr val="FFFFFF">
              <a:alpha val="0"/>
            </a:srgbClr>
          </a:solidFill>
          <a:ln/>
        </p:spPr>
      </p:sp>
      <p:sp>
        <p:nvSpPr>
          <p:cNvPr id="17" name="Text 0"/>
          <p:cNvSpPr/>
          <p:nvPr>
            <p:ph idx="100" type="title" hasCustomPrompt="1"/>
          </p:nvPr>
        </p:nvSpPr>
        <p:spPr>
          <a:xfrm>
            <a:off x="457200" y="475488"/>
            <a:ext cx="8229600" cy="777240"/>
          </a:xfrm>
          <a:prstGeom prst="rect">
            <a:avLst/>
          </a:prstGeom>
          <a:noFill/>
          <a:ln/>
        </p:spPr>
        <p:txBody>
          <a:bodyPr wrap="square" lIns="0" tIns="0" rIns="0" bIns="0" rtlCol="0" anchor="t"/>
          <a:lstStyle/>
          <a:p>
            <a:pPr algn="l" indent="0" marL="0">
              <a:buNone/>
            </a:pPr>
            <a:r>
              <a:rPr lang="en-US" sz="2200" b="1" dirty="0">
                <a:solidFill>
                  <a:schemeClr val="tx1"/>
                </a:solidFill>
              </a:rPr>
              <a:t>Errors rise from October to December 2023, the slowest traffic of the five years</a:t>
            </a:r>
            <a:endParaRPr lang="en-US" sz="2200" dirty="0"/>
          </a:p>
        </p:txBody>
      </p:sp>
      <p:graphicFrame>
        <p:nvGraphicFramePr>
          <p:cNvPr id="18" name="chart-speed" descr=""/>
          <p:cNvGraphicFramePr/>
          <p:nvPr/>
        </p:nvGraphicFramePr>
        <p:xfrm>
          <a:off x="320040" y="1371600"/>
          <a:ext cx="5349240" cy="3291840"/>
        </p:xfrm>
        <a:graphic xmlns:a="http://schemas.openxmlformats.org/drawingml/2006/main">
          <a:graphicData uri="http://schemas.openxmlformats.org/drawingml/2006/chart">
            <c:chart xmlns:c="http://schemas.openxmlformats.org/drawingml/2006/chart" r:id="rId8"/>
          </a:graphicData>
        </a:graphic>
      </p:graphicFrame>
      <p:sp>
        <p:nvSpPr>
          <p:cNvPr id="19" name="speed-peak"/>
          <p:cNvSpPr txBox="1"/>
          <p:nvPr/>
        </p:nvSpPr>
        <p:spPr>
          <a:xfrm>
            <a:off x="1600200" y="1481328"/>
            <a:ext cx="1645920" cy="256032"/>
          </a:xfrm>
          <a:prstGeom prst="rect">
            <a:avLst/>
          </a:prstGeom>
          <a:noFill/>
          <a:ln/>
        </p:spPr>
        <p:txBody>
          <a:bodyPr wrap="square" lIns="0" tIns="0" rIns="0" bIns="0" rtlCol="0" anchor="ctr"/>
          <a:lstStyle/>
          <a:p>
            <a:pPr indent="0" marL="0">
              <a:buNone/>
            </a:pPr>
            <a:r>
              <a:rPr lang="en-US" sz="1100" b="1" dirty="0">
                <a:solidFill>
                  <a:schemeClr val="tx1"/>
                </a:solidFill>
              </a:rPr>
              <a:t>14.2 mph, May 2020</a:t>
            </a:r>
            <a:endParaRPr lang="en-US" sz="1100" dirty="0"/>
          </a:p>
        </p:txBody>
      </p:sp>
      <p:sp>
        <p:nvSpPr>
          <p:cNvPr id="20" name="speed-test"/>
          <p:cNvSpPr txBox="1"/>
          <p:nvPr/>
        </p:nvSpPr>
        <p:spPr>
          <a:xfrm>
            <a:off x="3703320" y="4005072"/>
            <a:ext cx="1920240" cy="256032"/>
          </a:xfrm>
          <a:prstGeom prst="rect">
            <a:avLst/>
          </a:prstGeom>
          <a:noFill/>
          <a:ln/>
        </p:spPr>
        <p:txBody>
          <a:bodyPr wrap="square" lIns="0" tIns="0" rIns="0" bIns="0" rtlCol="0" anchor="ctr"/>
          <a:lstStyle/>
          <a:p>
            <a:pPr algn="r" indent="0" marL="0">
              <a:buNone/>
            </a:pPr>
            <a:r>
              <a:rPr lang="en-US" sz="1100" b="1" dirty="0">
                <a:solidFill>
                  <a:schemeClr val="tx1"/>
                </a:solidFill>
              </a:rPr>
              <a:t>8.7–8.8 mph: test months</a:t>
            </a:r>
            <a:endParaRPr lang="en-US" sz="1100" dirty="0"/>
          </a:p>
        </p:txBody>
      </p:sp>
      <p:sp>
        <p:nvSpPr>
          <p:cNvPr id="21" name="panel-header"/>
          <p:cNvSpPr txBox="1"/>
          <p:nvPr/>
        </p:nvSpPr>
        <p:spPr>
          <a:xfrm>
            <a:off x="5852160" y="1463040"/>
            <a:ext cx="2834640" cy="320040"/>
          </a:xfrm>
          <a:prstGeom prst="rect">
            <a:avLst/>
          </a:prstGeom>
          <a:noFill/>
          <a:ln/>
        </p:spPr>
        <p:txBody>
          <a:bodyPr wrap="square" lIns="0" tIns="0" rIns="0" bIns="0" rtlCol="0" anchor="ctr"/>
          <a:lstStyle/>
          <a:p>
            <a:pPr indent="0" marL="0">
              <a:buNone/>
            </a:pPr>
            <a:r>
              <a:rPr lang="en-US" sz="1500" b="1" dirty="0">
                <a:solidFill>
                  <a:schemeClr val="tx1"/>
                </a:solidFill>
              </a:rPr>
              <a:t>A deliberately hard test</a:t>
            </a:r>
            <a:endParaRPr lang="en-US" sz="1500" dirty="0"/>
          </a:p>
        </p:txBody>
      </p:sp>
      <p:sp>
        <p:nvSpPr>
          <p:cNvPr id="22" name="speed-bullets"/>
          <p:cNvSpPr txBox="1"/>
          <p:nvPr/>
        </p:nvSpPr>
        <p:spPr>
          <a:xfrm>
            <a:off x="5852160" y="1874520"/>
            <a:ext cx="2834640" cy="2697480"/>
          </a:xfrm>
          <a:prstGeom prst="rect">
            <a:avLst/>
          </a:prstGeom>
          <a:noFill/>
          <a:ln/>
        </p:spPr>
        <p:txBody>
          <a:bodyPr wrap="square" lIns="0" tIns="0" rIns="0" bIns="0" rtlCol="0" anchor="t"/>
          <a:lstStyle/>
          <a:p>
            <a:pPr marL="177800" indent="-177800">
              <a:spcAft>
                <a:spcPts val="900"/>
              </a:spcAft>
              <a:buSzPct val="100000"/>
              <a:buChar char="•"/>
            </a:pPr>
            <a:r>
              <a:rPr lang="en-US" sz="1400" dirty="0">
                <a:solidFill>
                  <a:schemeClr val="tx1"/>
                </a:solidFill>
              </a:rPr>
              <a:t>Slow traffic adds time charges, so similar trips cost more different amounts</a:t>
            </a:r>
            <a:endParaRPr lang="en-US" sz="1400" dirty="0"/>
          </a:p>
          <a:p>
            <a:pPr marL="177800" indent="-177800">
              <a:spcAft>
                <a:spcPts val="900"/>
              </a:spcAft>
              <a:buSzPct val="100000"/>
              <a:buChar char="•"/>
            </a:pPr>
            <a:r>
              <a:rPr lang="en-US" sz="1400" dirty="0">
                <a:solidFill>
                  <a:schemeClr val="tx1"/>
                </a:solidFill>
              </a:rPr>
              <a:t>Fare spread of 2-mile trips peaks at $4.37 in December 2023</a:t>
            </a:r>
            <a:endParaRPr lang="en-US" sz="1400" dirty="0"/>
          </a:p>
          <a:p>
            <a:pPr marL="177800" indent="-177800">
              <a:spcAft>
                <a:spcPts val="900"/>
              </a:spcAft>
              <a:buSzPct val="100000"/>
              <a:buChar char="•"/>
            </a:pPr>
            <a:r>
              <a:rPr lang="en-US" sz="1400" dirty="0">
                <a:solidFill>
                  <a:schemeClr val="tx1"/>
                </a:solidFill>
              </a:rPr>
              <a:t>Random forest error: $2.07 Oct, $2.17 Nov, $2.37 Dec</a:t>
            </a:r>
            <a:endParaRPr lang="en-US" sz="1400" dirty="0"/>
          </a:p>
        </p:txBody>
      </p:sp>
      <p:sp>
        <p:nvSpPr>
          <p:cNvPr id="23" name="citation"/>
          <p:cNvSpPr txBox="1"/>
          <p:nvPr/>
        </p:nvSpPr>
        <p:spPr>
          <a:xfrm>
            <a:off x="457200" y="4754880"/>
            <a:ext cx="7680960" cy="256032"/>
          </a:xfrm>
          <a:prstGeom prst="rect">
            <a:avLst/>
          </a:prstGeom>
          <a:noFill/>
          <a:ln/>
        </p:spPr>
        <p:txBody>
          <a:bodyPr wrap="square" lIns="0" tIns="0" rIns="0" bIns="0" rtlCol="0" anchor="ctr"/>
          <a:lstStyle/>
          <a:p>
            <a:pPr indent="0" marL="0">
              <a:buNone/>
            </a:pPr>
            <a:r>
              <a:rPr lang="en-US" sz="1050" dirty="0">
                <a:solidFill>
                  <a:srgbClr val="5F6772"/>
                </a:solidFill>
              </a:rPr>
              <a:t>Median speed of standard-rate trips per month, cleaned 1% sample; fare spread in 2023 prices (notebook section 9.3).</a:t>
            </a:r>
            <a:endParaRPr lang="en-US" sz="1050" dirty="0"/>
          </a:p>
        </p:txBody>
      </p:sp>
      <p:sp>
        <p:nvSpPr>
          <p:cNvPr id="25" name="Slide Number Placeholder 0"/>
          <p:cNvSpPr>
            <a:spLocks noGrp="1"/>
          </p:cNvSpPr>
          <p:nvPr>
            <p:ph type="sldNum" sz="quarter" idx="4294967295"/>
          </p:nvPr>
        </p:nvSpPr>
        <p:spPr>
          <a:xfrm>
            <a:off x="8275320" y="4754880"/>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77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nav-Agenda"/>
          <p:cNvSpPr txBox="1"/>
          <p:nvPr/>
        </p:nvSpPr>
        <p:spPr>
          <a:xfrm>
            <a:off x="457200" y="118872"/>
            <a:ext cx="713232" cy="256032"/>
          </a:xfrm>
          <a:prstGeom prst="rect">
            <a:avLst/>
          </a:prstGeom>
          <a:noFill/>
          <a:ln/>
        </p:spPr>
        <p:txBody>
          <a:bodyPr wrap="square" lIns="0" tIns="0" rIns="0" bIns="0" rtlCol="0" anchor="ctr"/>
          <a:lstStyle/>
          <a:p>
            <a:pPr algn="ctr" indent="0" marL="0">
              <a:buNone/>
            </a:pPr>
            <a:r>
              <a:rPr lang="en-US" sz="1050" dirty="0">
                <a:solidFill>
                  <a:srgbClr val="5F6772"/>
                </a:solidFill>
              </a:rPr>
              <a:t>Agenda</a:t>
            </a:r>
            <a:endParaRPr lang="en-US" sz="1050" dirty="0"/>
          </a:p>
        </p:txBody>
      </p:sp>
      <p:sp>
        <p:nvSpPr>
          <p:cNvPr id="3" name="nav-link-Agenda">
            <a:hlinkClick r:id="rId1" tooltip="Go to Agenda" action="ppaction://hlinksldjump"/>
          </p:cNvPr>
          <p:cNvSpPr/>
          <p:nvPr/>
        </p:nvSpPr>
        <p:spPr>
          <a:xfrm>
            <a:off x="457200" y="118872"/>
            <a:ext cx="713232" cy="256032"/>
          </a:xfrm>
          <a:prstGeom prst="rect">
            <a:avLst/>
          </a:prstGeom>
          <a:solidFill>
            <a:srgbClr val="FFFFFF">
              <a:alpha val="0"/>
            </a:srgbClr>
          </a:solidFill>
          <a:ln/>
        </p:spPr>
      </p:sp>
      <p:sp>
        <p:nvSpPr>
          <p:cNvPr id="4" name="nav-Question"/>
          <p:cNvSpPr txBox="1"/>
          <p:nvPr/>
        </p:nvSpPr>
        <p:spPr>
          <a:xfrm>
            <a:off x="1225296" y="118872"/>
            <a:ext cx="822960" cy="256032"/>
          </a:xfrm>
          <a:prstGeom prst="rect">
            <a:avLst/>
          </a:prstGeom>
          <a:noFill/>
          <a:ln/>
        </p:spPr>
        <p:txBody>
          <a:bodyPr wrap="square" lIns="0" tIns="0" rIns="0" bIns="0" rtlCol="0" anchor="ctr"/>
          <a:lstStyle/>
          <a:p>
            <a:pPr algn="ctr" indent="0" marL="0">
              <a:buNone/>
            </a:pPr>
            <a:r>
              <a:rPr lang="en-US" sz="1050" dirty="0">
                <a:solidFill>
                  <a:srgbClr val="5F6772"/>
                </a:solidFill>
              </a:rPr>
              <a:t>Question</a:t>
            </a:r>
            <a:endParaRPr lang="en-US" sz="1050" dirty="0"/>
          </a:p>
        </p:txBody>
      </p:sp>
      <p:sp>
        <p:nvSpPr>
          <p:cNvPr id="5" name="nav-link-Question">
            <a:hlinkClick r:id="rId2" tooltip="Go to Question" action="ppaction://hlinksldjump"/>
          </p:cNvPr>
          <p:cNvSpPr/>
          <p:nvPr/>
        </p:nvSpPr>
        <p:spPr>
          <a:xfrm>
            <a:off x="1225296" y="118872"/>
            <a:ext cx="822960" cy="256032"/>
          </a:xfrm>
          <a:prstGeom prst="rect">
            <a:avLst/>
          </a:prstGeom>
          <a:solidFill>
            <a:srgbClr val="FFFFFF">
              <a:alpha val="0"/>
            </a:srgbClr>
          </a:solidFill>
          <a:ln/>
        </p:spPr>
      </p:sp>
      <p:sp>
        <p:nvSpPr>
          <p:cNvPr id="6" name="nav-Data"/>
          <p:cNvSpPr txBox="1"/>
          <p:nvPr/>
        </p:nvSpPr>
        <p:spPr>
          <a:xfrm>
            <a:off x="2103120" y="118872"/>
            <a:ext cx="566928" cy="256032"/>
          </a:xfrm>
          <a:prstGeom prst="rect">
            <a:avLst/>
          </a:prstGeom>
          <a:noFill/>
          <a:ln/>
        </p:spPr>
        <p:txBody>
          <a:bodyPr wrap="square" lIns="0" tIns="0" rIns="0" bIns="0" rtlCol="0" anchor="ctr"/>
          <a:lstStyle/>
          <a:p>
            <a:pPr algn="ctr" indent="0" marL="0">
              <a:buNone/>
            </a:pPr>
            <a:r>
              <a:rPr lang="en-US" sz="1050" dirty="0">
                <a:solidFill>
                  <a:srgbClr val="5F6772"/>
                </a:solidFill>
              </a:rPr>
              <a:t>Data</a:t>
            </a:r>
            <a:endParaRPr lang="en-US" sz="1050" dirty="0"/>
          </a:p>
        </p:txBody>
      </p:sp>
      <p:sp>
        <p:nvSpPr>
          <p:cNvPr id="7" name="nav-link-Data">
            <a:hlinkClick r:id="rId3" tooltip="Go to Data" action="ppaction://hlinksldjump"/>
          </p:cNvPr>
          <p:cNvSpPr/>
          <p:nvPr/>
        </p:nvSpPr>
        <p:spPr>
          <a:xfrm>
            <a:off x="2103120" y="118872"/>
            <a:ext cx="566928" cy="256032"/>
          </a:xfrm>
          <a:prstGeom prst="rect">
            <a:avLst/>
          </a:prstGeom>
          <a:solidFill>
            <a:srgbClr val="FFFFFF">
              <a:alpha val="0"/>
            </a:srgbClr>
          </a:solidFill>
          <a:ln/>
        </p:spPr>
      </p:sp>
      <p:sp>
        <p:nvSpPr>
          <p:cNvPr id="8" name="nav-Method"/>
          <p:cNvSpPr txBox="1"/>
          <p:nvPr/>
        </p:nvSpPr>
        <p:spPr>
          <a:xfrm>
            <a:off x="2724912" y="118872"/>
            <a:ext cx="713232" cy="256032"/>
          </a:xfrm>
          <a:prstGeom prst="rect">
            <a:avLst/>
          </a:prstGeom>
          <a:noFill/>
          <a:ln/>
        </p:spPr>
        <p:txBody>
          <a:bodyPr wrap="square" lIns="0" tIns="0" rIns="0" bIns="0" rtlCol="0" anchor="ctr"/>
          <a:lstStyle/>
          <a:p>
            <a:pPr algn="ctr" indent="0" marL="0">
              <a:buNone/>
            </a:pPr>
            <a:r>
              <a:rPr lang="en-US" sz="1050" dirty="0">
                <a:solidFill>
                  <a:srgbClr val="5F6772"/>
                </a:solidFill>
              </a:rPr>
              <a:t>Method</a:t>
            </a:r>
            <a:endParaRPr lang="en-US" sz="1050" dirty="0"/>
          </a:p>
        </p:txBody>
      </p:sp>
      <p:sp>
        <p:nvSpPr>
          <p:cNvPr id="9" name="nav-link-Method">
            <a:hlinkClick r:id="rId4" tooltip="Go to Method" action="ppaction://hlinksldjump"/>
          </p:cNvPr>
          <p:cNvSpPr/>
          <p:nvPr/>
        </p:nvSpPr>
        <p:spPr>
          <a:xfrm>
            <a:off x="2724912" y="118872"/>
            <a:ext cx="713232" cy="256032"/>
          </a:xfrm>
          <a:prstGeom prst="rect">
            <a:avLst/>
          </a:prstGeom>
          <a:solidFill>
            <a:srgbClr val="FFFFFF">
              <a:alpha val="0"/>
            </a:srgbClr>
          </a:solidFill>
          <a:ln/>
        </p:spPr>
      </p:sp>
      <p:sp>
        <p:nvSpPr>
          <p:cNvPr id="10" name="nav-pill-Results"/>
          <p:cNvSpPr/>
          <p:nvPr/>
        </p:nvSpPr>
        <p:spPr>
          <a:xfrm>
            <a:off x="3493008" y="118872"/>
            <a:ext cx="731520" cy="256032"/>
          </a:xfrm>
          <a:prstGeom prst="roundRect">
            <a:avLst>
              <a:gd name="adj" fmla="val 50000"/>
            </a:avLst>
          </a:prstGeom>
          <a:solidFill>
            <a:srgbClr val="F2B705"/>
          </a:solidFill>
          <a:ln w="6350">
            <a:solidFill>
              <a:srgbClr val="F2B705"/>
            </a:solidFill>
            <a:prstDash val="solid"/>
          </a:ln>
        </p:spPr>
      </p:sp>
      <p:sp>
        <p:nvSpPr>
          <p:cNvPr id="11" name="nav-Results"/>
          <p:cNvSpPr txBox="1"/>
          <p:nvPr/>
        </p:nvSpPr>
        <p:spPr>
          <a:xfrm>
            <a:off x="3493008" y="118872"/>
            <a:ext cx="731520" cy="256032"/>
          </a:xfrm>
          <a:prstGeom prst="rect">
            <a:avLst/>
          </a:prstGeom>
          <a:noFill/>
          <a:ln/>
        </p:spPr>
        <p:txBody>
          <a:bodyPr wrap="square" lIns="0" tIns="0" rIns="0" bIns="0" rtlCol="0" anchor="ctr"/>
          <a:lstStyle/>
          <a:p>
            <a:pPr algn="ctr" indent="0" marL="0">
              <a:buNone/>
            </a:pPr>
            <a:r>
              <a:rPr lang="en-US" sz="1050" b="1" dirty="0">
                <a:solidFill>
                  <a:schemeClr val="tx1"/>
                </a:solidFill>
              </a:rPr>
              <a:t>Results</a:t>
            </a:r>
            <a:endParaRPr lang="en-US" sz="1050" dirty="0"/>
          </a:p>
        </p:txBody>
      </p:sp>
      <p:sp>
        <p:nvSpPr>
          <p:cNvPr id="12" name="nav-link-Results">
            <a:hlinkClick r:id="rId5" tooltip="Go to Results" action="ppaction://hlinksldjump"/>
          </p:cNvPr>
          <p:cNvSpPr/>
          <p:nvPr/>
        </p:nvSpPr>
        <p:spPr>
          <a:xfrm>
            <a:off x="3493008" y="118872"/>
            <a:ext cx="731520" cy="256032"/>
          </a:xfrm>
          <a:prstGeom prst="rect">
            <a:avLst/>
          </a:prstGeom>
          <a:solidFill>
            <a:srgbClr val="FFFFFF">
              <a:alpha val="0"/>
            </a:srgbClr>
          </a:solidFill>
          <a:ln/>
        </p:spPr>
      </p:sp>
      <p:sp>
        <p:nvSpPr>
          <p:cNvPr id="13" name="nav-Wrap-up"/>
          <p:cNvSpPr txBox="1"/>
          <p:nvPr/>
        </p:nvSpPr>
        <p:spPr>
          <a:xfrm>
            <a:off x="4279392" y="118872"/>
            <a:ext cx="786384" cy="256032"/>
          </a:xfrm>
          <a:prstGeom prst="rect">
            <a:avLst/>
          </a:prstGeom>
          <a:noFill/>
          <a:ln/>
        </p:spPr>
        <p:txBody>
          <a:bodyPr wrap="square" lIns="0" tIns="0" rIns="0" bIns="0" rtlCol="0" anchor="ctr"/>
          <a:lstStyle/>
          <a:p>
            <a:pPr algn="ctr" indent="0" marL="0">
              <a:buNone/>
            </a:pPr>
            <a:r>
              <a:rPr lang="en-US" sz="1050" dirty="0">
                <a:solidFill>
                  <a:srgbClr val="5F6772"/>
                </a:solidFill>
              </a:rPr>
              <a:t>Wrap-up</a:t>
            </a:r>
            <a:endParaRPr lang="en-US" sz="1050" dirty="0"/>
          </a:p>
        </p:txBody>
      </p:sp>
      <p:sp>
        <p:nvSpPr>
          <p:cNvPr id="14" name="nav-link-Wrap-up">
            <a:hlinkClick r:id="rId6" tooltip="Go to Wrap-up" action="ppaction://hlinksldjump"/>
          </p:cNvPr>
          <p:cNvSpPr/>
          <p:nvPr/>
        </p:nvSpPr>
        <p:spPr>
          <a:xfrm>
            <a:off x="4279392" y="118872"/>
            <a:ext cx="786384" cy="256032"/>
          </a:xfrm>
          <a:prstGeom prst="rect">
            <a:avLst/>
          </a:prstGeom>
          <a:solidFill>
            <a:srgbClr val="FFFFFF">
              <a:alpha val="0"/>
            </a:srgbClr>
          </a:solidFill>
          <a:ln/>
        </p:spPr>
      </p:sp>
      <p:sp>
        <p:nvSpPr>
          <p:cNvPr id="15" name="nav-Appendix"/>
          <p:cNvSpPr txBox="1"/>
          <p:nvPr/>
        </p:nvSpPr>
        <p:spPr>
          <a:xfrm>
            <a:off x="5120640" y="118872"/>
            <a:ext cx="859536" cy="256032"/>
          </a:xfrm>
          <a:prstGeom prst="rect">
            <a:avLst/>
          </a:prstGeom>
          <a:noFill/>
          <a:ln/>
        </p:spPr>
        <p:txBody>
          <a:bodyPr wrap="square" lIns="0" tIns="0" rIns="0" bIns="0" rtlCol="0" anchor="ctr"/>
          <a:lstStyle/>
          <a:p>
            <a:pPr algn="ctr" indent="0" marL="0">
              <a:buNone/>
            </a:pPr>
            <a:r>
              <a:rPr lang="en-US" sz="1050" dirty="0">
                <a:solidFill>
                  <a:srgbClr val="5F6772"/>
                </a:solidFill>
              </a:rPr>
              <a:t>Appendix</a:t>
            </a:r>
            <a:endParaRPr lang="en-US" sz="1050" dirty="0"/>
          </a:p>
        </p:txBody>
      </p:sp>
      <p:sp>
        <p:nvSpPr>
          <p:cNvPr id="16" name="nav-link-Appendix">
            <a:hlinkClick r:id="rId7" tooltip="Go to Appendix" action="ppaction://hlinksldjump"/>
          </p:cNvPr>
          <p:cNvSpPr/>
          <p:nvPr/>
        </p:nvSpPr>
        <p:spPr>
          <a:xfrm>
            <a:off x="5120640" y="118872"/>
            <a:ext cx="859536" cy="256032"/>
          </a:xfrm>
          <a:prstGeom prst="rect">
            <a:avLst/>
          </a:prstGeom>
          <a:solidFill>
            <a:srgbClr val="FFFFFF">
              <a:alpha val="0"/>
            </a:srgbClr>
          </a:solidFill>
          <a:ln/>
        </p:spPr>
      </p:sp>
      <p:sp>
        <p:nvSpPr>
          <p:cNvPr id="17" name="Text 0"/>
          <p:cNvSpPr/>
          <p:nvPr>
            <p:ph idx="100" type="title" hasCustomPrompt="1"/>
          </p:nvPr>
        </p:nvSpPr>
        <p:spPr>
          <a:xfrm>
            <a:off x="457200" y="475488"/>
            <a:ext cx="8229600" cy="777240"/>
          </a:xfrm>
          <a:prstGeom prst="rect">
            <a:avLst/>
          </a:prstGeom>
          <a:noFill/>
          <a:ln/>
        </p:spPr>
        <p:txBody>
          <a:bodyPr wrap="square" lIns="0" tIns="0" rIns="0" bIns="0" rtlCol="0" anchor="t"/>
          <a:lstStyle/>
          <a:p>
            <a:pPr algn="l" indent="0" marL="0">
              <a:buNone/>
            </a:pPr>
            <a:r>
              <a:rPr lang="en-US" sz="2200" b="1" dirty="0">
                <a:solidFill>
                  <a:schemeClr val="tx1"/>
                </a:solidFill>
              </a:rPr>
              <a:t>200,000 training trips are enough: beyond that, more data barely reduces the error</a:t>
            </a:r>
            <a:endParaRPr lang="en-US" sz="2200" dirty="0"/>
          </a:p>
        </p:txBody>
      </p:sp>
      <p:graphicFrame>
        <p:nvGraphicFramePr>
          <p:cNvPr id="18" name="chart-learning-curve" descr=""/>
          <p:cNvGraphicFramePr/>
          <p:nvPr/>
        </p:nvGraphicFramePr>
        <p:xfrm>
          <a:off x="365760" y="1371600"/>
          <a:ext cx="5303520" cy="3291840"/>
        </p:xfrm>
        <a:graphic xmlns:a="http://schemas.openxmlformats.org/drawingml/2006/main">
          <a:graphicData uri="http://schemas.openxmlformats.org/drawingml/2006/chart">
            <c:chart xmlns:c="http://schemas.openxmlformats.org/drawingml/2006/chart" r:id="rId8"/>
          </a:graphicData>
        </a:graphic>
      </p:graphicFrame>
      <p:sp>
        <p:nvSpPr>
          <p:cNvPr id="19" name="curve-callout"/>
          <p:cNvSpPr txBox="1"/>
          <p:nvPr/>
        </p:nvSpPr>
        <p:spPr>
          <a:xfrm>
            <a:off x="3703320" y="3611880"/>
            <a:ext cx="1051560" cy="274320"/>
          </a:xfrm>
          <a:prstGeom prst="roundRect">
            <a:avLst>
              <a:gd name="adj" fmla="val 50000"/>
            </a:avLst>
          </a:prstGeom>
          <a:solidFill>
            <a:srgbClr val="F2B705"/>
          </a:solidFill>
          <a:ln/>
        </p:spPr>
        <p:txBody>
          <a:bodyPr wrap="square" lIns="0" tIns="0" rIns="0" bIns="0" rtlCol="0" anchor="ctr"/>
          <a:lstStyle/>
          <a:p>
            <a:pPr algn="ctr" indent="0" marL="0">
              <a:buNone/>
            </a:pPr>
            <a:r>
              <a:rPr lang="en-US" sz="1100" b="1" dirty="0">
                <a:solidFill>
                  <a:schemeClr val="tx1"/>
                </a:solidFill>
              </a:rPr>
              <a:t>200k chosen</a:t>
            </a:r>
            <a:endParaRPr lang="en-US" sz="1100" dirty="0"/>
          </a:p>
        </p:txBody>
      </p:sp>
      <p:sp>
        <p:nvSpPr>
          <p:cNvPr id="20" name="panel-header"/>
          <p:cNvSpPr txBox="1"/>
          <p:nvPr/>
        </p:nvSpPr>
        <p:spPr>
          <a:xfrm>
            <a:off x="5852160" y="1463040"/>
            <a:ext cx="2834640" cy="320040"/>
          </a:xfrm>
          <a:prstGeom prst="rect">
            <a:avLst/>
          </a:prstGeom>
          <a:noFill/>
          <a:ln/>
        </p:spPr>
        <p:txBody>
          <a:bodyPr wrap="square" lIns="0" tIns="0" rIns="0" bIns="0" rtlCol="0" anchor="ctr"/>
          <a:lstStyle/>
          <a:p>
            <a:pPr indent="0" marL="0">
              <a:buNone/>
            </a:pPr>
            <a:r>
              <a:rPr lang="en-US" sz="1500" b="1" dirty="0">
                <a:solidFill>
                  <a:schemeClr val="tx1"/>
                </a:solidFill>
              </a:rPr>
              <a:t>Why we stopped at 200,000</a:t>
            </a:r>
            <a:endParaRPr lang="en-US" sz="1500" dirty="0"/>
          </a:p>
        </p:txBody>
      </p:sp>
      <p:sp>
        <p:nvSpPr>
          <p:cNvPr id="21" name="curve-bullets"/>
          <p:cNvSpPr txBox="1"/>
          <p:nvPr/>
        </p:nvSpPr>
        <p:spPr>
          <a:xfrm>
            <a:off x="5852160" y="1874520"/>
            <a:ext cx="2834640" cy="2697480"/>
          </a:xfrm>
          <a:prstGeom prst="rect">
            <a:avLst/>
          </a:prstGeom>
          <a:noFill/>
          <a:ln/>
        </p:spPr>
        <p:txBody>
          <a:bodyPr wrap="square" lIns="0" tIns="0" rIns="0" bIns="0" rtlCol="0" anchor="t"/>
          <a:lstStyle/>
          <a:p>
            <a:pPr marL="177800" indent="-177800">
              <a:spcAft>
                <a:spcPts val="900"/>
              </a:spcAft>
              <a:buSzPct val="100000"/>
              <a:buChar char="•"/>
            </a:pPr>
            <a:r>
              <a:rPr lang="en-US" sz="1400" dirty="0">
                <a:solidFill>
                  <a:schemeClr val="tx1"/>
                </a:solidFill>
              </a:rPr>
              <a:t>Neural network: $2.41 at 25k → $2.03 at 200k; 400k gains only 0.7%</a:t>
            </a:r>
            <a:endParaRPr lang="en-US" sz="1400" dirty="0"/>
          </a:p>
          <a:p>
            <a:pPr marL="177800" indent="-177800">
              <a:spcAft>
                <a:spcPts val="900"/>
              </a:spcAft>
              <a:buSzPct val="100000"/>
              <a:buChar char="•"/>
            </a:pPr>
            <a:r>
              <a:rPr lang="en-US" sz="1400" dirty="0">
                <a:solidFill>
                  <a:schemeClr val="tx1"/>
                </a:solidFill>
              </a:rPr>
              <a:t>Linear regression barely moves ($2.61 → $2.57): its shape, not data, limits it</a:t>
            </a:r>
            <a:endParaRPr lang="en-US" sz="1400" dirty="0"/>
          </a:p>
          <a:p>
            <a:pPr marL="177800" indent="-177800">
              <a:spcAft>
                <a:spcPts val="900"/>
              </a:spcAft>
              <a:buSzPct val="100000"/>
              <a:buChar char="•"/>
            </a:pPr>
            <a:r>
              <a:rPr lang="en-US" sz="1400" dirty="0">
                <a:solidFill>
                  <a:schemeClr val="tx1"/>
                </a:solidFill>
              </a:rPr>
              <a:t>More rows would only make every model slower</a:t>
            </a:r>
            <a:endParaRPr lang="en-US" sz="1400" dirty="0"/>
          </a:p>
        </p:txBody>
      </p:sp>
      <p:sp>
        <p:nvSpPr>
          <p:cNvPr id="22" name="citation"/>
          <p:cNvSpPr txBox="1"/>
          <p:nvPr/>
        </p:nvSpPr>
        <p:spPr>
          <a:xfrm>
            <a:off x="457200" y="4754880"/>
            <a:ext cx="7680960" cy="256032"/>
          </a:xfrm>
          <a:prstGeom prst="rect">
            <a:avLst/>
          </a:prstGeom>
          <a:noFill/>
          <a:ln/>
        </p:spPr>
        <p:txBody>
          <a:bodyPr wrap="square" lIns="0" tIns="0" rIns="0" bIns="0" rtlCol="0" anchor="ctr"/>
          <a:lstStyle/>
          <a:p>
            <a:pPr indent="0" marL="0">
              <a:buNone/>
            </a:pPr>
            <a:r>
              <a:rPr lang="en-US" sz="1050" dirty="0">
                <a:solidFill>
                  <a:srgbClr val="5F6772"/>
                </a:solidFill>
              </a:rPr>
              <a:t>Models fitted on growing samples of January 2019 – June 2023 trips, scored on 50,000 July–September 2023 trips.</a:t>
            </a:r>
            <a:endParaRPr lang="en-US" sz="1050" dirty="0"/>
          </a:p>
        </p:txBody>
      </p:sp>
      <p:sp>
        <p:nvSpPr>
          <p:cNvPr id="25" name="Slide Number Placeholder 0"/>
          <p:cNvSpPr>
            <a:spLocks noGrp="1"/>
          </p:cNvSpPr>
          <p:nvPr>
            <p:ph type="sldNum" sz="quarter" idx="4294967295"/>
          </p:nvPr>
        </p:nvSpPr>
        <p:spPr>
          <a:xfrm>
            <a:off x="8275320" y="4754880"/>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77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nav-Agenda"/>
          <p:cNvSpPr txBox="1"/>
          <p:nvPr/>
        </p:nvSpPr>
        <p:spPr>
          <a:xfrm>
            <a:off x="457200" y="118872"/>
            <a:ext cx="713232" cy="256032"/>
          </a:xfrm>
          <a:prstGeom prst="rect">
            <a:avLst/>
          </a:prstGeom>
          <a:noFill/>
          <a:ln/>
        </p:spPr>
        <p:txBody>
          <a:bodyPr wrap="square" lIns="0" tIns="0" rIns="0" bIns="0" rtlCol="0" anchor="ctr"/>
          <a:lstStyle/>
          <a:p>
            <a:pPr algn="ctr" indent="0" marL="0">
              <a:buNone/>
            </a:pPr>
            <a:r>
              <a:rPr lang="en-US" sz="1050" dirty="0">
                <a:solidFill>
                  <a:srgbClr val="5F6772"/>
                </a:solidFill>
              </a:rPr>
              <a:t>Agenda</a:t>
            </a:r>
            <a:endParaRPr lang="en-US" sz="1050" dirty="0"/>
          </a:p>
        </p:txBody>
      </p:sp>
      <p:sp>
        <p:nvSpPr>
          <p:cNvPr id="3" name="nav-link-Agenda">
            <a:hlinkClick r:id="rId1" tooltip="Go to Agenda" action="ppaction://hlinksldjump"/>
          </p:cNvPr>
          <p:cNvSpPr/>
          <p:nvPr/>
        </p:nvSpPr>
        <p:spPr>
          <a:xfrm>
            <a:off x="457200" y="118872"/>
            <a:ext cx="713232" cy="256032"/>
          </a:xfrm>
          <a:prstGeom prst="rect">
            <a:avLst/>
          </a:prstGeom>
          <a:solidFill>
            <a:srgbClr val="FFFFFF">
              <a:alpha val="0"/>
            </a:srgbClr>
          </a:solidFill>
          <a:ln/>
        </p:spPr>
      </p:sp>
      <p:sp>
        <p:nvSpPr>
          <p:cNvPr id="4" name="nav-Question"/>
          <p:cNvSpPr txBox="1"/>
          <p:nvPr/>
        </p:nvSpPr>
        <p:spPr>
          <a:xfrm>
            <a:off x="1225296" y="118872"/>
            <a:ext cx="822960" cy="256032"/>
          </a:xfrm>
          <a:prstGeom prst="rect">
            <a:avLst/>
          </a:prstGeom>
          <a:noFill/>
          <a:ln/>
        </p:spPr>
        <p:txBody>
          <a:bodyPr wrap="square" lIns="0" tIns="0" rIns="0" bIns="0" rtlCol="0" anchor="ctr"/>
          <a:lstStyle/>
          <a:p>
            <a:pPr algn="ctr" indent="0" marL="0">
              <a:buNone/>
            </a:pPr>
            <a:r>
              <a:rPr lang="en-US" sz="1050" dirty="0">
                <a:solidFill>
                  <a:srgbClr val="5F6772"/>
                </a:solidFill>
              </a:rPr>
              <a:t>Question</a:t>
            </a:r>
            <a:endParaRPr lang="en-US" sz="1050" dirty="0"/>
          </a:p>
        </p:txBody>
      </p:sp>
      <p:sp>
        <p:nvSpPr>
          <p:cNvPr id="5" name="nav-link-Question">
            <a:hlinkClick r:id="rId2" tooltip="Go to Question" action="ppaction://hlinksldjump"/>
          </p:cNvPr>
          <p:cNvSpPr/>
          <p:nvPr/>
        </p:nvSpPr>
        <p:spPr>
          <a:xfrm>
            <a:off x="1225296" y="118872"/>
            <a:ext cx="822960" cy="256032"/>
          </a:xfrm>
          <a:prstGeom prst="rect">
            <a:avLst/>
          </a:prstGeom>
          <a:solidFill>
            <a:srgbClr val="FFFFFF">
              <a:alpha val="0"/>
            </a:srgbClr>
          </a:solidFill>
          <a:ln/>
        </p:spPr>
      </p:sp>
      <p:sp>
        <p:nvSpPr>
          <p:cNvPr id="6" name="nav-Data"/>
          <p:cNvSpPr txBox="1"/>
          <p:nvPr/>
        </p:nvSpPr>
        <p:spPr>
          <a:xfrm>
            <a:off x="2103120" y="118872"/>
            <a:ext cx="566928" cy="256032"/>
          </a:xfrm>
          <a:prstGeom prst="rect">
            <a:avLst/>
          </a:prstGeom>
          <a:noFill/>
          <a:ln/>
        </p:spPr>
        <p:txBody>
          <a:bodyPr wrap="square" lIns="0" tIns="0" rIns="0" bIns="0" rtlCol="0" anchor="ctr"/>
          <a:lstStyle/>
          <a:p>
            <a:pPr algn="ctr" indent="0" marL="0">
              <a:buNone/>
            </a:pPr>
            <a:r>
              <a:rPr lang="en-US" sz="1050" dirty="0">
                <a:solidFill>
                  <a:srgbClr val="5F6772"/>
                </a:solidFill>
              </a:rPr>
              <a:t>Data</a:t>
            </a:r>
            <a:endParaRPr lang="en-US" sz="1050" dirty="0"/>
          </a:p>
        </p:txBody>
      </p:sp>
      <p:sp>
        <p:nvSpPr>
          <p:cNvPr id="7" name="nav-link-Data">
            <a:hlinkClick r:id="rId3" tooltip="Go to Data" action="ppaction://hlinksldjump"/>
          </p:cNvPr>
          <p:cNvSpPr/>
          <p:nvPr/>
        </p:nvSpPr>
        <p:spPr>
          <a:xfrm>
            <a:off x="2103120" y="118872"/>
            <a:ext cx="566928" cy="256032"/>
          </a:xfrm>
          <a:prstGeom prst="rect">
            <a:avLst/>
          </a:prstGeom>
          <a:solidFill>
            <a:srgbClr val="FFFFFF">
              <a:alpha val="0"/>
            </a:srgbClr>
          </a:solidFill>
          <a:ln/>
        </p:spPr>
      </p:sp>
      <p:sp>
        <p:nvSpPr>
          <p:cNvPr id="8" name="nav-Method"/>
          <p:cNvSpPr txBox="1"/>
          <p:nvPr/>
        </p:nvSpPr>
        <p:spPr>
          <a:xfrm>
            <a:off x="2724912" y="118872"/>
            <a:ext cx="713232" cy="256032"/>
          </a:xfrm>
          <a:prstGeom prst="rect">
            <a:avLst/>
          </a:prstGeom>
          <a:noFill/>
          <a:ln/>
        </p:spPr>
        <p:txBody>
          <a:bodyPr wrap="square" lIns="0" tIns="0" rIns="0" bIns="0" rtlCol="0" anchor="ctr"/>
          <a:lstStyle/>
          <a:p>
            <a:pPr algn="ctr" indent="0" marL="0">
              <a:buNone/>
            </a:pPr>
            <a:r>
              <a:rPr lang="en-US" sz="1050" dirty="0">
                <a:solidFill>
                  <a:srgbClr val="5F6772"/>
                </a:solidFill>
              </a:rPr>
              <a:t>Method</a:t>
            </a:r>
            <a:endParaRPr lang="en-US" sz="1050" dirty="0"/>
          </a:p>
        </p:txBody>
      </p:sp>
      <p:sp>
        <p:nvSpPr>
          <p:cNvPr id="9" name="nav-link-Method">
            <a:hlinkClick r:id="rId4" tooltip="Go to Method" action="ppaction://hlinksldjump"/>
          </p:cNvPr>
          <p:cNvSpPr/>
          <p:nvPr/>
        </p:nvSpPr>
        <p:spPr>
          <a:xfrm>
            <a:off x="2724912" y="118872"/>
            <a:ext cx="713232" cy="256032"/>
          </a:xfrm>
          <a:prstGeom prst="rect">
            <a:avLst/>
          </a:prstGeom>
          <a:solidFill>
            <a:srgbClr val="FFFFFF">
              <a:alpha val="0"/>
            </a:srgbClr>
          </a:solidFill>
          <a:ln/>
        </p:spPr>
      </p:sp>
      <p:sp>
        <p:nvSpPr>
          <p:cNvPr id="10" name="nav-Results"/>
          <p:cNvSpPr txBox="1"/>
          <p:nvPr/>
        </p:nvSpPr>
        <p:spPr>
          <a:xfrm>
            <a:off x="3493008" y="118872"/>
            <a:ext cx="731520" cy="256032"/>
          </a:xfrm>
          <a:prstGeom prst="rect">
            <a:avLst/>
          </a:prstGeom>
          <a:noFill/>
          <a:ln/>
        </p:spPr>
        <p:txBody>
          <a:bodyPr wrap="square" lIns="0" tIns="0" rIns="0" bIns="0" rtlCol="0" anchor="ctr"/>
          <a:lstStyle/>
          <a:p>
            <a:pPr algn="ctr" indent="0" marL="0">
              <a:buNone/>
            </a:pPr>
            <a:r>
              <a:rPr lang="en-US" sz="1050" dirty="0">
                <a:solidFill>
                  <a:srgbClr val="5F6772"/>
                </a:solidFill>
              </a:rPr>
              <a:t>Results</a:t>
            </a:r>
            <a:endParaRPr lang="en-US" sz="1050" dirty="0"/>
          </a:p>
        </p:txBody>
      </p:sp>
      <p:sp>
        <p:nvSpPr>
          <p:cNvPr id="11" name="nav-link-Results">
            <a:hlinkClick r:id="rId5" tooltip="Go to Results" action="ppaction://hlinksldjump"/>
          </p:cNvPr>
          <p:cNvSpPr/>
          <p:nvPr/>
        </p:nvSpPr>
        <p:spPr>
          <a:xfrm>
            <a:off x="3493008" y="118872"/>
            <a:ext cx="731520" cy="256032"/>
          </a:xfrm>
          <a:prstGeom prst="rect">
            <a:avLst/>
          </a:prstGeom>
          <a:solidFill>
            <a:srgbClr val="FFFFFF">
              <a:alpha val="0"/>
            </a:srgbClr>
          </a:solidFill>
          <a:ln/>
        </p:spPr>
      </p:sp>
      <p:sp>
        <p:nvSpPr>
          <p:cNvPr id="12" name="nav-pill-Wrap-up"/>
          <p:cNvSpPr/>
          <p:nvPr/>
        </p:nvSpPr>
        <p:spPr>
          <a:xfrm>
            <a:off x="4279392" y="118872"/>
            <a:ext cx="786384" cy="256032"/>
          </a:xfrm>
          <a:prstGeom prst="roundRect">
            <a:avLst>
              <a:gd name="adj" fmla="val 50000"/>
            </a:avLst>
          </a:prstGeom>
          <a:solidFill>
            <a:srgbClr val="F2B705"/>
          </a:solidFill>
          <a:ln w="6350">
            <a:solidFill>
              <a:srgbClr val="F2B705"/>
            </a:solidFill>
            <a:prstDash val="solid"/>
          </a:ln>
        </p:spPr>
      </p:sp>
      <p:sp>
        <p:nvSpPr>
          <p:cNvPr id="13" name="nav-Wrap-up"/>
          <p:cNvSpPr txBox="1"/>
          <p:nvPr/>
        </p:nvSpPr>
        <p:spPr>
          <a:xfrm>
            <a:off x="4279392" y="118872"/>
            <a:ext cx="786384" cy="256032"/>
          </a:xfrm>
          <a:prstGeom prst="rect">
            <a:avLst/>
          </a:prstGeom>
          <a:noFill/>
          <a:ln/>
        </p:spPr>
        <p:txBody>
          <a:bodyPr wrap="square" lIns="0" tIns="0" rIns="0" bIns="0" rtlCol="0" anchor="ctr"/>
          <a:lstStyle/>
          <a:p>
            <a:pPr algn="ctr" indent="0" marL="0">
              <a:buNone/>
            </a:pPr>
            <a:r>
              <a:rPr lang="en-US" sz="1050" b="1" dirty="0">
                <a:solidFill>
                  <a:schemeClr val="tx1"/>
                </a:solidFill>
              </a:rPr>
              <a:t>Wrap-up</a:t>
            </a:r>
            <a:endParaRPr lang="en-US" sz="1050" dirty="0"/>
          </a:p>
        </p:txBody>
      </p:sp>
      <p:sp>
        <p:nvSpPr>
          <p:cNvPr id="14" name="nav-link-Wrap-up">
            <a:hlinkClick r:id="rId6" tooltip="Go to Wrap-up" action="ppaction://hlinksldjump"/>
          </p:cNvPr>
          <p:cNvSpPr/>
          <p:nvPr/>
        </p:nvSpPr>
        <p:spPr>
          <a:xfrm>
            <a:off x="4279392" y="118872"/>
            <a:ext cx="786384" cy="256032"/>
          </a:xfrm>
          <a:prstGeom prst="rect">
            <a:avLst/>
          </a:prstGeom>
          <a:solidFill>
            <a:srgbClr val="FFFFFF">
              <a:alpha val="0"/>
            </a:srgbClr>
          </a:solidFill>
          <a:ln/>
        </p:spPr>
      </p:sp>
      <p:sp>
        <p:nvSpPr>
          <p:cNvPr id="15" name="nav-Appendix"/>
          <p:cNvSpPr txBox="1"/>
          <p:nvPr/>
        </p:nvSpPr>
        <p:spPr>
          <a:xfrm>
            <a:off x="5120640" y="118872"/>
            <a:ext cx="859536" cy="256032"/>
          </a:xfrm>
          <a:prstGeom prst="rect">
            <a:avLst/>
          </a:prstGeom>
          <a:noFill/>
          <a:ln/>
        </p:spPr>
        <p:txBody>
          <a:bodyPr wrap="square" lIns="0" tIns="0" rIns="0" bIns="0" rtlCol="0" anchor="ctr"/>
          <a:lstStyle/>
          <a:p>
            <a:pPr algn="ctr" indent="0" marL="0">
              <a:buNone/>
            </a:pPr>
            <a:r>
              <a:rPr lang="en-US" sz="1050" dirty="0">
                <a:solidFill>
                  <a:srgbClr val="5F6772"/>
                </a:solidFill>
              </a:rPr>
              <a:t>Appendix</a:t>
            </a:r>
            <a:endParaRPr lang="en-US" sz="1050" dirty="0"/>
          </a:p>
        </p:txBody>
      </p:sp>
      <p:sp>
        <p:nvSpPr>
          <p:cNvPr id="16" name="nav-link-Appendix">
            <a:hlinkClick r:id="rId7" tooltip="Go to Appendix" action="ppaction://hlinksldjump"/>
          </p:cNvPr>
          <p:cNvSpPr/>
          <p:nvPr/>
        </p:nvSpPr>
        <p:spPr>
          <a:xfrm>
            <a:off x="5120640" y="118872"/>
            <a:ext cx="859536" cy="256032"/>
          </a:xfrm>
          <a:prstGeom prst="rect">
            <a:avLst/>
          </a:prstGeom>
          <a:solidFill>
            <a:srgbClr val="FFFFFF">
              <a:alpha val="0"/>
            </a:srgbClr>
          </a:solidFill>
          <a:ln/>
        </p:spPr>
      </p:sp>
      <p:sp>
        <p:nvSpPr>
          <p:cNvPr id="17" name="Text 0"/>
          <p:cNvSpPr/>
          <p:nvPr>
            <p:ph idx="100" type="title" hasCustomPrompt="1"/>
          </p:nvPr>
        </p:nvSpPr>
        <p:spPr>
          <a:xfrm>
            <a:off x="457200" y="475488"/>
            <a:ext cx="8229600" cy="777240"/>
          </a:xfrm>
          <a:prstGeom prst="rect">
            <a:avLst/>
          </a:prstGeom>
          <a:noFill/>
          <a:ln/>
        </p:spPr>
        <p:txBody>
          <a:bodyPr wrap="square" lIns="0" tIns="0" rIns="0" bIns="0" rtlCol="0" anchor="t"/>
          <a:lstStyle/>
          <a:p>
            <a:pPr algn="l" indent="0" marL="0">
              <a:buNone/>
            </a:pPr>
            <a:r>
              <a:rPr lang="en-US" sz="2200" b="1" dirty="0">
                <a:solidFill>
                  <a:schemeClr val="tx1"/>
                </a:solidFill>
              </a:rPr>
              <a:t>Errors concentrate where the data cannot help: negotiated fares, slow late-2023 traffic and after-the-trip distance</a:t>
            </a:r>
            <a:endParaRPr lang="en-US" sz="2200" dirty="0"/>
          </a:p>
        </p:txBody>
      </p:sp>
      <p:sp>
        <p:nvSpPr>
          <p:cNvPr id="18" name="lim-card-1"/>
          <p:cNvSpPr/>
          <p:nvPr/>
        </p:nvSpPr>
        <p:spPr>
          <a:xfrm>
            <a:off x="457200" y="1481328"/>
            <a:ext cx="4023360" cy="1353312"/>
          </a:xfrm>
          <a:prstGeom prst="roundRect">
            <a:avLst>
              <a:gd name="adj" fmla="val 5405"/>
            </a:avLst>
          </a:prstGeom>
          <a:solidFill>
            <a:srgbClr val="F1F3F5"/>
          </a:solidFill>
          <a:ln/>
        </p:spPr>
      </p:sp>
      <p:sp>
        <p:nvSpPr>
          <p:cNvPr id="19" name="lim-head-1"/>
          <p:cNvSpPr txBox="1"/>
          <p:nvPr/>
        </p:nvSpPr>
        <p:spPr>
          <a:xfrm>
            <a:off x="658368" y="1609344"/>
            <a:ext cx="3657600" cy="329184"/>
          </a:xfrm>
          <a:prstGeom prst="rect">
            <a:avLst/>
          </a:prstGeom>
          <a:noFill/>
          <a:ln/>
        </p:spPr>
        <p:txBody>
          <a:bodyPr wrap="square" lIns="0" tIns="0" rIns="0" bIns="0" rtlCol="0" anchor="ctr"/>
          <a:lstStyle/>
          <a:p>
            <a:pPr indent="0" marL="0">
              <a:buNone/>
            </a:pPr>
            <a:r>
              <a:rPr lang="en-US" sz="1500" b="1" dirty="0">
                <a:solidFill>
                  <a:schemeClr val="tx1"/>
                </a:solidFill>
              </a:rPr>
              <a:t>Negotiated fares</a:t>
            </a:r>
            <a:endParaRPr lang="en-US" sz="1500" dirty="0"/>
          </a:p>
        </p:txBody>
      </p:sp>
      <p:sp>
        <p:nvSpPr>
          <p:cNvPr id="20" name="lim-pill-1"/>
          <p:cNvSpPr txBox="1"/>
          <p:nvPr/>
        </p:nvSpPr>
        <p:spPr>
          <a:xfrm>
            <a:off x="658368" y="2029968"/>
            <a:ext cx="1005840" cy="347472"/>
          </a:xfrm>
          <a:prstGeom prst="roundRect">
            <a:avLst>
              <a:gd name="adj" fmla="val 31579"/>
            </a:avLst>
          </a:prstGeom>
          <a:solidFill>
            <a:srgbClr val="F2B705"/>
          </a:solidFill>
          <a:ln/>
        </p:spPr>
        <p:txBody>
          <a:bodyPr wrap="square" lIns="0" tIns="0" rIns="0" bIns="0" rtlCol="0" anchor="ctr"/>
          <a:lstStyle/>
          <a:p>
            <a:pPr algn="ctr" indent="0" marL="0">
              <a:buNone/>
            </a:pPr>
            <a:r>
              <a:rPr lang="en-US" sz="1300" b="1" dirty="0">
                <a:solidFill>
                  <a:schemeClr val="tx1"/>
                </a:solidFill>
              </a:rPr>
              <a:t>$22–35</a:t>
            </a:r>
            <a:endParaRPr lang="en-US" sz="1300" dirty="0"/>
          </a:p>
        </p:txBody>
      </p:sp>
      <p:sp>
        <p:nvSpPr>
          <p:cNvPr id="21" name="lim-text-1"/>
          <p:cNvSpPr txBox="1"/>
          <p:nvPr/>
        </p:nvSpPr>
        <p:spPr>
          <a:xfrm>
            <a:off x="1755648" y="1956816"/>
            <a:ext cx="2560320" cy="841248"/>
          </a:xfrm>
          <a:prstGeom prst="rect">
            <a:avLst/>
          </a:prstGeom>
          <a:noFill/>
          <a:ln/>
        </p:spPr>
        <p:txBody>
          <a:bodyPr wrap="square" lIns="0" tIns="0" rIns="0" bIns="0" rtlCol="0" anchor="t"/>
          <a:lstStyle/>
          <a:p>
            <a:pPr indent="0" marL="0">
              <a:buNone/>
            </a:pPr>
            <a:r>
              <a:rPr lang="en-US" sz="1200" dirty="0">
                <a:solidFill>
                  <a:schemeClr val="tx1"/>
                </a:solidFill>
              </a:rPr>
              <a:t>average miss on 129 test trips (average fare $72.68) whose price was agreed with the driver</a:t>
            </a:r>
            <a:endParaRPr lang="en-US" sz="1200" dirty="0"/>
          </a:p>
        </p:txBody>
      </p:sp>
      <p:sp>
        <p:nvSpPr>
          <p:cNvPr id="22" name="lim-card-2"/>
          <p:cNvSpPr/>
          <p:nvPr/>
        </p:nvSpPr>
        <p:spPr>
          <a:xfrm>
            <a:off x="4663440" y="1481328"/>
            <a:ext cx="4023360" cy="1353312"/>
          </a:xfrm>
          <a:prstGeom prst="roundRect">
            <a:avLst>
              <a:gd name="adj" fmla="val 5405"/>
            </a:avLst>
          </a:prstGeom>
          <a:solidFill>
            <a:srgbClr val="F1F3F5"/>
          </a:solidFill>
          <a:ln/>
        </p:spPr>
      </p:sp>
      <p:sp>
        <p:nvSpPr>
          <p:cNvPr id="23" name="lim-head-2"/>
          <p:cNvSpPr txBox="1"/>
          <p:nvPr/>
        </p:nvSpPr>
        <p:spPr>
          <a:xfrm>
            <a:off x="4864608" y="1609344"/>
            <a:ext cx="3657600" cy="329184"/>
          </a:xfrm>
          <a:prstGeom prst="rect">
            <a:avLst/>
          </a:prstGeom>
          <a:noFill/>
          <a:ln/>
        </p:spPr>
        <p:txBody>
          <a:bodyPr wrap="square" lIns="0" tIns="0" rIns="0" bIns="0" rtlCol="0" anchor="ctr"/>
          <a:lstStyle/>
          <a:p>
            <a:pPr indent="0" marL="0">
              <a:buNone/>
            </a:pPr>
            <a:r>
              <a:rPr lang="en-US" sz="1500" b="1" dirty="0">
                <a:solidFill>
                  <a:schemeClr val="tx1"/>
                </a:solidFill>
              </a:rPr>
              <a:t>Hardest months last</a:t>
            </a:r>
            <a:endParaRPr lang="en-US" sz="1500" dirty="0"/>
          </a:p>
        </p:txBody>
      </p:sp>
      <p:sp>
        <p:nvSpPr>
          <p:cNvPr id="24" name="lim-pill-2"/>
          <p:cNvSpPr txBox="1"/>
          <p:nvPr/>
        </p:nvSpPr>
        <p:spPr>
          <a:xfrm>
            <a:off x="4864608" y="2029968"/>
            <a:ext cx="1005840" cy="347472"/>
          </a:xfrm>
          <a:prstGeom prst="roundRect">
            <a:avLst>
              <a:gd name="adj" fmla="val 31579"/>
            </a:avLst>
          </a:prstGeom>
          <a:solidFill>
            <a:srgbClr val="F2B705"/>
          </a:solidFill>
          <a:ln/>
        </p:spPr>
        <p:txBody>
          <a:bodyPr wrap="square" lIns="0" tIns="0" rIns="0" bIns="0" rtlCol="0" anchor="ctr"/>
          <a:lstStyle/>
          <a:p>
            <a:pPr algn="ctr" indent="0" marL="0">
              <a:buNone/>
            </a:pPr>
            <a:r>
              <a:rPr lang="en-US" sz="1300" b="1" dirty="0">
                <a:solidFill>
                  <a:schemeClr val="tx1"/>
                </a:solidFill>
              </a:rPr>
              <a:t>8.7 mph</a:t>
            </a:r>
            <a:endParaRPr lang="en-US" sz="1300" dirty="0"/>
          </a:p>
        </p:txBody>
      </p:sp>
      <p:sp>
        <p:nvSpPr>
          <p:cNvPr id="25" name="lim-text-2"/>
          <p:cNvSpPr txBox="1"/>
          <p:nvPr/>
        </p:nvSpPr>
        <p:spPr>
          <a:xfrm>
            <a:off x="5961888" y="1956816"/>
            <a:ext cx="2560320" cy="841248"/>
          </a:xfrm>
          <a:prstGeom prst="rect">
            <a:avLst/>
          </a:prstGeom>
          <a:noFill/>
          <a:ln/>
        </p:spPr>
        <p:txBody>
          <a:bodyPr wrap="square" lIns="0" tIns="0" rIns="0" bIns="0" rtlCol="0" anchor="t"/>
          <a:lstStyle/>
          <a:p>
            <a:pPr indent="0" marL="0">
              <a:buNone/>
            </a:pPr>
            <a:r>
              <a:rPr lang="en-US" sz="1200" dirty="0">
                <a:solidFill>
                  <a:schemeClr val="tx1"/>
                </a:solidFill>
              </a:rPr>
              <a:t>the test quarter has the slowest traffic and widest fare spread of the five years</a:t>
            </a:r>
            <a:endParaRPr lang="en-US" sz="1200" dirty="0"/>
          </a:p>
        </p:txBody>
      </p:sp>
      <p:sp>
        <p:nvSpPr>
          <p:cNvPr id="26" name="lim-card-3"/>
          <p:cNvSpPr/>
          <p:nvPr/>
        </p:nvSpPr>
        <p:spPr>
          <a:xfrm>
            <a:off x="457200" y="3017520"/>
            <a:ext cx="4023360" cy="1353312"/>
          </a:xfrm>
          <a:prstGeom prst="roundRect">
            <a:avLst>
              <a:gd name="adj" fmla="val 5405"/>
            </a:avLst>
          </a:prstGeom>
          <a:solidFill>
            <a:srgbClr val="F1F3F5"/>
          </a:solidFill>
          <a:ln/>
        </p:spPr>
      </p:sp>
      <p:sp>
        <p:nvSpPr>
          <p:cNvPr id="27" name="lim-head-3"/>
          <p:cNvSpPr txBox="1"/>
          <p:nvPr/>
        </p:nvSpPr>
        <p:spPr>
          <a:xfrm>
            <a:off x="658368" y="3145536"/>
            <a:ext cx="3657600" cy="329184"/>
          </a:xfrm>
          <a:prstGeom prst="rect">
            <a:avLst/>
          </a:prstGeom>
          <a:noFill/>
          <a:ln/>
        </p:spPr>
        <p:txBody>
          <a:bodyPr wrap="square" lIns="0" tIns="0" rIns="0" bIns="0" rtlCol="0" anchor="ctr"/>
          <a:lstStyle/>
          <a:p>
            <a:pPr indent="0" marL="0">
              <a:buNone/>
            </a:pPr>
            <a:r>
              <a:rPr lang="en-US" sz="1500" b="1" dirty="0">
                <a:solidFill>
                  <a:schemeClr val="tx1"/>
                </a:solidFill>
              </a:rPr>
              <a:t>Distance is measured after the trip</a:t>
            </a:r>
            <a:endParaRPr lang="en-US" sz="1500" dirty="0"/>
          </a:p>
        </p:txBody>
      </p:sp>
      <p:sp>
        <p:nvSpPr>
          <p:cNvPr id="28" name="lim-pill-3"/>
          <p:cNvSpPr txBox="1"/>
          <p:nvPr/>
        </p:nvSpPr>
        <p:spPr>
          <a:xfrm>
            <a:off x="658368" y="3566160"/>
            <a:ext cx="1005840" cy="347472"/>
          </a:xfrm>
          <a:prstGeom prst="roundRect">
            <a:avLst>
              <a:gd name="adj" fmla="val 31579"/>
            </a:avLst>
          </a:prstGeom>
          <a:solidFill>
            <a:srgbClr val="F2B705"/>
          </a:solidFill>
          <a:ln/>
        </p:spPr>
        <p:txBody>
          <a:bodyPr wrap="square" lIns="0" tIns="0" rIns="0" bIns="0" rtlCol="0" anchor="ctr"/>
          <a:lstStyle/>
          <a:p>
            <a:pPr algn="ctr" indent="0" marL="0">
              <a:buNone/>
            </a:pPr>
            <a:r>
              <a:rPr lang="en-US" sz="1300" b="1" dirty="0">
                <a:solidFill>
                  <a:schemeClr val="tx1"/>
                </a:solidFill>
              </a:rPr>
              <a:t>optimistic</a:t>
            </a:r>
            <a:endParaRPr lang="en-US" sz="1300" dirty="0"/>
          </a:p>
        </p:txBody>
      </p:sp>
      <p:sp>
        <p:nvSpPr>
          <p:cNvPr id="29" name="lim-text-3"/>
          <p:cNvSpPr txBox="1"/>
          <p:nvPr/>
        </p:nvSpPr>
        <p:spPr>
          <a:xfrm>
            <a:off x="1755648" y="3493008"/>
            <a:ext cx="2560320" cy="841248"/>
          </a:xfrm>
          <a:prstGeom prst="rect">
            <a:avLst/>
          </a:prstGeom>
          <a:noFill/>
          <a:ln/>
        </p:spPr>
        <p:txBody>
          <a:bodyPr wrap="square" lIns="0" tIns="0" rIns="0" bIns="0" rtlCol="0" anchor="t"/>
          <a:lstStyle/>
          <a:p>
            <a:pPr indent="0" marL="0">
              <a:buNone/>
            </a:pPr>
            <a:r>
              <a:rPr lang="en-US" sz="1200" dirty="0">
                <a:solidFill>
                  <a:schemeClr val="tx1"/>
                </a:solidFill>
              </a:rPr>
              <a:t>the meter records distance at the end; with route-planner distance, real errors would be higher</a:t>
            </a:r>
            <a:endParaRPr lang="en-US" sz="1200" dirty="0"/>
          </a:p>
        </p:txBody>
      </p:sp>
      <p:sp>
        <p:nvSpPr>
          <p:cNvPr id="30" name="lim-card-4"/>
          <p:cNvSpPr/>
          <p:nvPr/>
        </p:nvSpPr>
        <p:spPr>
          <a:xfrm>
            <a:off x="4663440" y="3017520"/>
            <a:ext cx="4023360" cy="1353312"/>
          </a:xfrm>
          <a:prstGeom prst="roundRect">
            <a:avLst>
              <a:gd name="adj" fmla="val 5405"/>
            </a:avLst>
          </a:prstGeom>
          <a:solidFill>
            <a:srgbClr val="F1F3F5"/>
          </a:solidFill>
          <a:ln/>
        </p:spPr>
      </p:sp>
      <p:sp>
        <p:nvSpPr>
          <p:cNvPr id="31" name="lim-head-4"/>
          <p:cNvSpPr txBox="1"/>
          <p:nvPr/>
        </p:nvSpPr>
        <p:spPr>
          <a:xfrm>
            <a:off x="4864608" y="3145536"/>
            <a:ext cx="3657600" cy="329184"/>
          </a:xfrm>
          <a:prstGeom prst="rect">
            <a:avLst/>
          </a:prstGeom>
          <a:noFill/>
          <a:ln/>
        </p:spPr>
        <p:txBody>
          <a:bodyPr wrap="square" lIns="0" tIns="0" rIns="0" bIns="0" rtlCol="0" anchor="ctr"/>
          <a:lstStyle/>
          <a:p>
            <a:pPr indent="0" marL="0">
              <a:buNone/>
            </a:pPr>
            <a:r>
              <a:rPr lang="en-US" sz="1500" b="1" dirty="0">
                <a:solidFill>
                  <a:schemeClr val="tx1"/>
                </a:solidFill>
              </a:rPr>
              <a:t>Gaps in the data</a:t>
            </a:r>
            <a:endParaRPr lang="en-US" sz="1500" dirty="0"/>
          </a:p>
        </p:txBody>
      </p:sp>
      <p:sp>
        <p:nvSpPr>
          <p:cNvPr id="32" name="lim-pill-4"/>
          <p:cNvSpPr txBox="1"/>
          <p:nvPr/>
        </p:nvSpPr>
        <p:spPr>
          <a:xfrm>
            <a:off x="4864608" y="3566160"/>
            <a:ext cx="1005840" cy="347472"/>
          </a:xfrm>
          <a:prstGeom prst="roundRect">
            <a:avLst>
              <a:gd name="adj" fmla="val 31579"/>
            </a:avLst>
          </a:prstGeom>
          <a:solidFill>
            <a:srgbClr val="F2B705"/>
          </a:solidFill>
          <a:ln/>
        </p:spPr>
        <p:txBody>
          <a:bodyPr wrap="square" lIns="0" tIns="0" rIns="0" bIns="0" rtlCol="0" anchor="ctr"/>
          <a:lstStyle/>
          <a:p>
            <a:pPr algn="ctr" indent="0" marL="0">
              <a:buNone/>
            </a:pPr>
            <a:r>
              <a:rPr lang="en-US" sz="1300" b="1" dirty="0">
                <a:solidFill>
                  <a:schemeClr val="tx1"/>
                </a:solidFill>
              </a:rPr>
              <a:t>Apr 2020</a:t>
            </a:r>
            <a:endParaRPr lang="en-US" sz="1300" dirty="0"/>
          </a:p>
        </p:txBody>
      </p:sp>
      <p:sp>
        <p:nvSpPr>
          <p:cNvPr id="33" name="lim-text-4"/>
          <p:cNvSpPr txBox="1"/>
          <p:nvPr/>
        </p:nvSpPr>
        <p:spPr>
          <a:xfrm>
            <a:off x="5961888" y="3493008"/>
            <a:ext cx="2560320" cy="841248"/>
          </a:xfrm>
          <a:prstGeom prst="rect">
            <a:avLst/>
          </a:prstGeom>
          <a:noFill/>
          <a:ln/>
        </p:spPr>
        <p:txBody>
          <a:bodyPr wrap="square" lIns="0" tIns="0" rIns="0" bIns="0" rtlCol="0" anchor="t"/>
          <a:lstStyle/>
          <a:p>
            <a:pPr indent="0" marL="0">
              <a:buNone/>
            </a:pPr>
            <a:r>
              <a:rPr lang="en-US" sz="1200" dirty="0">
                <a:solidFill>
                  <a:schemeClr val="tx1"/>
                </a:solidFill>
              </a:rPr>
              <a:t>file missing; a few thin days in Sep 2022 and 2023; 2–5% of trips lack a meter record</a:t>
            </a:r>
            <a:endParaRPr lang="en-US" sz="1200" dirty="0"/>
          </a:p>
        </p:txBody>
      </p:sp>
      <p:sp>
        <p:nvSpPr>
          <p:cNvPr id="34" name="citation"/>
          <p:cNvSpPr txBox="1"/>
          <p:nvPr/>
        </p:nvSpPr>
        <p:spPr>
          <a:xfrm>
            <a:off x="457200" y="4754880"/>
            <a:ext cx="7680960" cy="256032"/>
          </a:xfrm>
          <a:prstGeom prst="rect">
            <a:avLst/>
          </a:prstGeom>
          <a:noFill/>
          <a:ln/>
        </p:spPr>
        <p:txBody>
          <a:bodyPr wrap="square" lIns="0" tIns="0" rIns="0" bIns="0" rtlCol="0" anchor="ctr"/>
          <a:lstStyle/>
          <a:p>
            <a:pPr indent="0" marL="0">
              <a:buNone/>
            </a:pPr>
            <a:r>
              <a:rPr lang="en-US" sz="1050" dirty="0">
                <a:solidFill>
                  <a:srgbClr val="5F6772"/>
                </a:solidFill>
              </a:rPr>
              <a:t>Error figures on the 93,033 October–December 2023 test trips; speed and fare spread from slide 15.</a:t>
            </a:r>
            <a:endParaRPr lang="en-US" sz="1050" dirty="0"/>
          </a:p>
        </p:txBody>
      </p:sp>
      <p:sp>
        <p:nvSpPr>
          <p:cNvPr id="25" name="Slide Number Placeholder 0"/>
          <p:cNvSpPr>
            <a:spLocks noGrp="1"/>
          </p:cNvSpPr>
          <p:nvPr>
            <p:ph type="sldNum" sz="quarter" idx="4294967295"/>
          </p:nvPr>
        </p:nvSpPr>
        <p:spPr>
          <a:xfrm>
            <a:off x="8275320" y="4754880"/>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77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nav-Agenda"/>
          <p:cNvSpPr txBox="1"/>
          <p:nvPr/>
        </p:nvSpPr>
        <p:spPr>
          <a:xfrm>
            <a:off x="457200" y="118872"/>
            <a:ext cx="713232" cy="256032"/>
          </a:xfrm>
          <a:prstGeom prst="rect">
            <a:avLst/>
          </a:prstGeom>
          <a:noFill/>
          <a:ln/>
        </p:spPr>
        <p:txBody>
          <a:bodyPr wrap="square" lIns="0" tIns="0" rIns="0" bIns="0" rtlCol="0" anchor="ctr"/>
          <a:lstStyle/>
          <a:p>
            <a:pPr algn="ctr" indent="0" marL="0">
              <a:buNone/>
            </a:pPr>
            <a:r>
              <a:rPr lang="en-US" sz="1050" dirty="0">
                <a:solidFill>
                  <a:srgbClr val="C4C9D0"/>
                </a:solidFill>
              </a:rPr>
              <a:t>Agenda</a:t>
            </a:r>
            <a:endParaRPr lang="en-US" sz="1050" dirty="0"/>
          </a:p>
        </p:txBody>
      </p:sp>
      <p:sp>
        <p:nvSpPr>
          <p:cNvPr id="3" name="nav-link-Agenda">
            <a:hlinkClick r:id="rId1" tooltip="Go to Agenda" action="ppaction://hlinksldjump"/>
          </p:cNvPr>
          <p:cNvSpPr/>
          <p:nvPr/>
        </p:nvSpPr>
        <p:spPr>
          <a:xfrm>
            <a:off x="457200" y="118872"/>
            <a:ext cx="713232" cy="256032"/>
          </a:xfrm>
          <a:prstGeom prst="rect">
            <a:avLst/>
          </a:prstGeom>
          <a:solidFill>
            <a:srgbClr val="FFFFFF">
              <a:alpha val="0"/>
            </a:srgbClr>
          </a:solidFill>
          <a:ln/>
        </p:spPr>
      </p:sp>
      <p:sp>
        <p:nvSpPr>
          <p:cNvPr id="4" name="nav-Question"/>
          <p:cNvSpPr txBox="1"/>
          <p:nvPr/>
        </p:nvSpPr>
        <p:spPr>
          <a:xfrm>
            <a:off x="1225296" y="118872"/>
            <a:ext cx="822960" cy="256032"/>
          </a:xfrm>
          <a:prstGeom prst="rect">
            <a:avLst/>
          </a:prstGeom>
          <a:noFill/>
          <a:ln/>
        </p:spPr>
        <p:txBody>
          <a:bodyPr wrap="square" lIns="0" tIns="0" rIns="0" bIns="0" rtlCol="0" anchor="ctr"/>
          <a:lstStyle/>
          <a:p>
            <a:pPr algn="ctr" indent="0" marL="0">
              <a:buNone/>
            </a:pPr>
            <a:r>
              <a:rPr lang="en-US" sz="1050" dirty="0">
                <a:solidFill>
                  <a:srgbClr val="C4C9D0"/>
                </a:solidFill>
              </a:rPr>
              <a:t>Question</a:t>
            </a:r>
            <a:endParaRPr lang="en-US" sz="1050" dirty="0"/>
          </a:p>
        </p:txBody>
      </p:sp>
      <p:sp>
        <p:nvSpPr>
          <p:cNvPr id="5" name="nav-link-Question">
            <a:hlinkClick r:id="rId2" tooltip="Go to Question" action="ppaction://hlinksldjump"/>
          </p:cNvPr>
          <p:cNvSpPr/>
          <p:nvPr/>
        </p:nvSpPr>
        <p:spPr>
          <a:xfrm>
            <a:off x="1225296" y="118872"/>
            <a:ext cx="822960" cy="256032"/>
          </a:xfrm>
          <a:prstGeom prst="rect">
            <a:avLst/>
          </a:prstGeom>
          <a:solidFill>
            <a:srgbClr val="FFFFFF">
              <a:alpha val="0"/>
            </a:srgbClr>
          </a:solidFill>
          <a:ln/>
        </p:spPr>
      </p:sp>
      <p:sp>
        <p:nvSpPr>
          <p:cNvPr id="6" name="nav-Data"/>
          <p:cNvSpPr txBox="1"/>
          <p:nvPr/>
        </p:nvSpPr>
        <p:spPr>
          <a:xfrm>
            <a:off x="2103120" y="118872"/>
            <a:ext cx="566928" cy="256032"/>
          </a:xfrm>
          <a:prstGeom prst="rect">
            <a:avLst/>
          </a:prstGeom>
          <a:noFill/>
          <a:ln/>
        </p:spPr>
        <p:txBody>
          <a:bodyPr wrap="square" lIns="0" tIns="0" rIns="0" bIns="0" rtlCol="0" anchor="ctr"/>
          <a:lstStyle/>
          <a:p>
            <a:pPr algn="ctr" indent="0" marL="0">
              <a:buNone/>
            </a:pPr>
            <a:r>
              <a:rPr lang="en-US" sz="1050" dirty="0">
                <a:solidFill>
                  <a:srgbClr val="C4C9D0"/>
                </a:solidFill>
              </a:rPr>
              <a:t>Data</a:t>
            </a:r>
            <a:endParaRPr lang="en-US" sz="1050" dirty="0"/>
          </a:p>
        </p:txBody>
      </p:sp>
      <p:sp>
        <p:nvSpPr>
          <p:cNvPr id="7" name="nav-link-Data">
            <a:hlinkClick r:id="rId3" tooltip="Go to Data" action="ppaction://hlinksldjump"/>
          </p:cNvPr>
          <p:cNvSpPr/>
          <p:nvPr/>
        </p:nvSpPr>
        <p:spPr>
          <a:xfrm>
            <a:off x="2103120" y="118872"/>
            <a:ext cx="566928" cy="256032"/>
          </a:xfrm>
          <a:prstGeom prst="rect">
            <a:avLst/>
          </a:prstGeom>
          <a:solidFill>
            <a:srgbClr val="FFFFFF">
              <a:alpha val="0"/>
            </a:srgbClr>
          </a:solidFill>
          <a:ln/>
        </p:spPr>
      </p:sp>
      <p:sp>
        <p:nvSpPr>
          <p:cNvPr id="8" name="nav-Method"/>
          <p:cNvSpPr txBox="1"/>
          <p:nvPr/>
        </p:nvSpPr>
        <p:spPr>
          <a:xfrm>
            <a:off x="2724912" y="118872"/>
            <a:ext cx="713232" cy="256032"/>
          </a:xfrm>
          <a:prstGeom prst="rect">
            <a:avLst/>
          </a:prstGeom>
          <a:noFill/>
          <a:ln/>
        </p:spPr>
        <p:txBody>
          <a:bodyPr wrap="square" lIns="0" tIns="0" rIns="0" bIns="0" rtlCol="0" anchor="ctr"/>
          <a:lstStyle/>
          <a:p>
            <a:pPr algn="ctr" indent="0" marL="0">
              <a:buNone/>
            </a:pPr>
            <a:r>
              <a:rPr lang="en-US" sz="1050" dirty="0">
                <a:solidFill>
                  <a:srgbClr val="C4C9D0"/>
                </a:solidFill>
              </a:rPr>
              <a:t>Method</a:t>
            </a:r>
            <a:endParaRPr lang="en-US" sz="1050" dirty="0"/>
          </a:p>
        </p:txBody>
      </p:sp>
      <p:sp>
        <p:nvSpPr>
          <p:cNvPr id="9" name="nav-link-Method">
            <a:hlinkClick r:id="rId4" tooltip="Go to Method" action="ppaction://hlinksldjump"/>
          </p:cNvPr>
          <p:cNvSpPr/>
          <p:nvPr/>
        </p:nvSpPr>
        <p:spPr>
          <a:xfrm>
            <a:off x="2724912" y="118872"/>
            <a:ext cx="713232" cy="256032"/>
          </a:xfrm>
          <a:prstGeom prst="rect">
            <a:avLst/>
          </a:prstGeom>
          <a:solidFill>
            <a:srgbClr val="FFFFFF">
              <a:alpha val="0"/>
            </a:srgbClr>
          </a:solidFill>
          <a:ln/>
        </p:spPr>
      </p:sp>
      <p:sp>
        <p:nvSpPr>
          <p:cNvPr id="10" name="nav-Results"/>
          <p:cNvSpPr txBox="1"/>
          <p:nvPr/>
        </p:nvSpPr>
        <p:spPr>
          <a:xfrm>
            <a:off x="3493008" y="118872"/>
            <a:ext cx="731520" cy="256032"/>
          </a:xfrm>
          <a:prstGeom prst="rect">
            <a:avLst/>
          </a:prstGeom>
          <a:noFill/>
          <a:ln/>
        </p:spPr>
        <p:txBody>
          <a:bodyPr wrap="square" lIns="0" tIns="0" rIns="0" bIns="0" rtlCol="0" anchor="ctr"/>
          <a:lstStyle/>
          <a:p>
            <a:pPr algn="ctr" indent="0" marL="0">
              <a:buNone/>
            </a:pPr>
            <a:r>
              <a:rPr lang="en-US" sz="1050" dirty="0">
                <a:solidFill>
                  <a:srgbClr val="C4C9D0"/>
                </a:solidFill>
              </a:rPr>
              <a:t>Results</a:t>
            </a:r>
            <a:endParaRPr lang="en-US" sz="1050" dirty="0"/>
          </a:p>
        </p:txBody>
      </p:sp>
      <p:sp>
        <p:nvSpPr>
          <p:cNvPr id="11" name="nav-link-Results">
            <a:hlinkClick r:id="rId5" tooltip="Go to Results" action="ppaction://hlinksldjump"/>
          </p:cNvPr>
          <p:cNvSpPr/>
          <p:nvPr/>
        </p:nvSpPr>
        <p:spPr>
          <a:xfrm>
            <a:off x="3493008" y="118872"/>
            <a:ext cx="731520" cy="256032"/>
          </a:xfrm>
          <a:prstGeom prst="rect">
            <a:avLst/>
          </a:prstGeom>
          <a:solidFill>
            <a:srgbClr val="FFFFFF">
              <a:alpha val="0"/>
            </a:srgbClr>
          </a:solidFill>
          <a:ln/>
        </p:spPr>
      </p:sp>
      <p:sp>
        <p:nvSpPr>
          <p:cNvPr id="12" name="nav-pill-Wrap-up"/>
          <p:cNvSpPr/>
          <p:nvPr/>
        </p:nvSpPr>
        <p:spPr>
          <a:xfrm>
            <a:off x="4279392" y="118872"/>
            <a:ext cx="786384" cy="256032"/>
          </a:xfrm>
          <a:prstGeom prst="roundRect">
            <a:avLst>
              <a:gd name="adj" fmla="val 50000"/>
            </a:avLst>
          </a:prstGeom>
          <a:solidFill>
            <a:srgbClr val="F2B705"/>
          </a:solidFill>
          <a:ln w="6350">
            <a:solidFill>
              <a:srgbClr val="F2B705"/>
            </a:solidFill>
            <a:prstDash val="solid"/>
          </a:ln>
        </p:spPr>
      </p:sp>
      <p:sp>
        <p:nvSpPr>
          <p:cNvPr id="13" name="nav-Wrap-up"/>
          <p:cNvSpPr txBox="1"/>
          <p:nvPr/>
        </p:nvSpPr>
        <p:spPr>
          <a:xfrm>
            <a:off x="4279392" y="118872"/>
            <a:ext cx="786384" cy="256032"/>
          </a:xfrm>
          <a:prstGeom prst="rect">
            <a:avLst/>
          </a:prstGeom>
          <a:noFill/>
          <a:ln/>
        </p:spPr>
        <p:txBody>
          <a:bodyPr wrap="square" lIns="0" tIns="0" rIns="0" bIns="0" rtlCol="0" anchor="ctr"/>
          <a:lstStyle/>
          <a:p>
            <a:pPr algn="ctr" indent="0" marL="0">
              <a:buNone/>
            </a:pPr>
            <a:r>
              <a:rPr lang="en-US" sz="1050" b="1" dirty="0">
                <a:solidFill>
                  <a:schemeClr val="tx1"/>
                </a:solidFill>
              </a:rPr>
              <a:t>Wrap-up</a:t>
            </a:r>
            <a:endParaRPr lang="en-US" sz="1050" dirty="0"/>
          </a:p>
        </p:txBody>
      </p:sp>
      <p:sp>
        <p:nvSpPr>
          <p:cNvPr id="14" name="nav-link-Wrap-up">
            <a:hlinkClick r:id="rId6" tooltip="Go to Wrap-up" action="ppaction://hlinksldjump"/>
          </p:cNvPr>
          <p:cNvSpPr/>
          <p:nvPr/>
        </p:nvSpPr>
        <p:spPr>
          <a:xfrm>
            <a:off x="4279392" y="118872"/>
            <a:ext cx="786384" cy="256032"/>
          </a:xfrm>
          <a:prstGeom prst="rect">
            <a:avLst/>
          </a:prstGeom>
          <a:solidFill>
            <a:srgbClr val="FFFFFF">
              <a:alpha val="0"/>
            </a:srgbClr>
          </a:solidFill>
          <a:ln/>
        </p:spPr>
      </p:sp>
      <p:sp>
        <p:nvSpPr>
          <p:cNvPr id="15" name="nav-Appendix"/>
          <p:cNvSpPr txBox="1"/>
          <p:nvPr/>
        </p:nvSpPr>
        <p:spPr>
          <a:xfrm>
            <a:off x="5120640" y="118872"/>
            <a:ext cx="859536" cy="256032"/>
          </a:xfrm>
          <a:prstGeom prst="rect">
            <a:avLst/>
          </a:prstGeom>
          <a:noFill/>
          <a:ln/>
        </p:spPr>
        <p:txBody>
          <a:bodyPr wrap="square" lIns="0" tIns="0" rIns="0" bIns="0" rtlCol="0" anchor="ctr"/>
          <a:lstStyle/>
          <a:p>
            <a:pPr algn="ctr" indent="0" marL="0">
              <a:buNone/>
            </a:pPr>
            <a:r>
              <a:rPr lang="en-US" sz="1050" dirty="0">
                <a:solidFill>
                  <a:srgbClr val="C4C9D0"/>
                </a:solidFill>
              </a:rPr>
              <a:t>Appendix</a:t>
            </a:r>
            <a:endParaRPr lang="en-US" sz="1050" dirty="0"/>
          </a:p>
        </p:txBody>
      </p:sp>
      <p:sp>
        <p:nvSpPr>
          <p:cNvPr id="16" name="nav-link-Appendix">
            <a:hlinkClick r:id="rId7" tooltip="Go to Appendix" action="ppaction://hlinksldjump"/>
          </p:cNvPr>
          <p:cNvSpPr/>
          <p:nvPr/>
        </p:nvSpPr>
        <p:spPr>
          <a:xfrm>
            <a:off x="5120640" y="118872"/>
            <a:ext cx="859536" cy="256032"/>
          </a:xfrm>
          <a:prstGeom prst="rect">
            <a:avLst/>
          </a:prstGeom>
          <a:solidFill>
            <a:srgbClr val="FFFFFF">
              <a:alpha val="0"/>
            </a:srgbClr>
          </a:solidFill>
          <a:ln/>
        </p:spPr>
      </p:sp>
      <p:sp>
        <p:nvSpPr>
          <p:cNvPr id="17" name="Text 0"/>
          <p:cNvSpPr/>
          <p:nvPr>
            <p:ph idx="100" type="title" hasCustomPrompt="1"/>
          </p:nvPr>
        </p:nvSpPr>
        <p:spPr>
          <a:xfrm>
            <a:off x="457200" y="502920"/>
            <a:ext cx="8229600" cy="457200"/>
          </a:xfrm>
          <a:prstGeom prst="rect">
            <a:avLst/>
          </a:prstGeom>
          <a:noFill/>
          <a:ln/>
        </p:spPr>
        <p:txBody>
          <a:bodyPr wrap="square" lIns="0" tIns="0" rIns="0" bIns="0" rtlCol="0" anchor="t"/>
          <a:lstStyle/>
          <a:p>
            <a:pPr algn="l" indent="0" marL="0">
              <a:buNone/>
            </a:pPr>
            <a:r>
              <a:rPr lang="en-US" sz="2200" b="1" dirty="0">
                <a:solidFill>
                  <a:schemeClr val="accent1"/>
                </a:solidFill>
              </a:rPr>
              <a:t>Conclusions</a:t>
            </a:r>
            <a:endParaRPr lang="en-US" sz="2200" dirty="0"/>
          </a:p>
        </p:txBody>
      </p:sp>
      <p:sp>
        <p:nvSpPr>
          <p:cNvPr id="18" name="concl-num-1"/>
          <p:cNvSpPr txBox="1"/>
          <p:nvPr/>
        </p:nvSpPr>
        <p:spPr>
          <a:xfrm>
            <a:off x="457200" y="1143000"/>
            <a:ext cx="457200" cy="457200"/>
          </a:xfrm>
          <a:prstGeom prst="ellipse">
            <a:avLst/>
          </a:prstGeom>
          <a:solidFill>
            <a:srgbClr val="F2B705"/>
          </a:solid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19" name="concl-text-1"/>
          <p:cNvSpPr txBox="1"/>
          <p:nvPr/>
        </p:nvSpPr>
        <p:spPr>
          <a:xfrm>
            <a:off x="1097280" y="1069848"/>
            <a:ext cx="7589520" cy="786384"/>
          </a:xfrm>
          <a:prstGeom prst="rect">
            <a:avLst/>
          </a:prstGeom>
          <a:noFill/>
          <a:ln/>
        </p:spPr>
        <p:txBody>
          <a:bodyPr wrap="square" lIns="0" tIns="0" rIns="0" bIns="0" rtlCol="0" anchor="t"/>
          <a:lstStyle/>
          <a:p>
            <a:pPr indent="0" marL="0">
              <a:buNone/>
            </a:pPr>
            <a:r>
              <a:rPr lang="en-US" sz="1800" b="1" dirty="0">
                <a:solidFill>
                  <a:schemeClr val="bg1"/>
                </a:solidFill>
              </a:rPr>
              <a:t>Pickup-time information predicts late-2023 fares to within $2.20 per trip </a:t>
            </a:r>
            <a:pPr indent="0" marL="0">
              <a:buNone/>
            </a:pPr>
            <a:r>
              <a:rPr lang="en-US" sz="1800" dirty="0">
                <a:solidFill>
                  <a:schemeClr val="bg1"/>
                </a:solidFill>
              </a:rPr>
              <a:t>(random forest, R² 0.945), 11% of the average fare.</a:t>
            </a:r>
            <a:endParaRPr lang="en-US" sz="1800" dirty="0"/>
          </a:p>
        </p:txBody>
      </p:sp>
      <p:sp>
        <p:nvSpPr>
          <p:cNvPr id="20" name="concl-num-2"/>
          <p:cNvSpPr txBox="1"/>
          <p:nvPr/>
        </p:nvSpPr>
        <p:spPr>
          <a:xfrm>
            <a:off x="457200" y="2075688"/>
            <a:ext cx="457200" cy="457200"/>
          </a:xfrm>
          <a:prstGeom prst="ellipse">
            <a:avLst/>
          </a:prstGeom>
          <a:solidFill>
            <a:srgbClr val="F2B705"/>
          </a:solid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21" name="concl-text-2"/>
          <p:cNvSpPr txBox="1"/>
          <p:nvPr/>
        </p:nvSpPr>
        <p:spPr>
          <a:xfrm>
            <a:off x="1097280" y="2002536"/>
            <a:ext cx="7589520" cy="786384"/>
          </a:xfrm>
          <a:prstGeom prst="rect">
            <a:avLst/>
          </a:prstGeom>
          <a:noFill/>
          <a:ln/>
        </p:spPr>
        <p:txBody>
          <a:bodyPr wrap="square" lIns="0" tIns="0" rIns="0" bIns="0" rtlCol="0" anchor="t"/>
          <a:lstStyle/>
          <a:p>
            <a:pPr indent="0" marL="0">
              <a:buNone/>
            </a:pPr>
            <a:r>
              <a:rPr lang="en-US" sz="1800" b="1" dirty="0">
                <a:solidFill>
                  <a:schemeClr val="bg1"/>
                </a:solidFill>
              </a:rPr>
              <a:t>Non-linear models beat linear ones by about 20%, </a:t>
            </a:r>
            <a:pPr indent="0" marL="0">
              <a:buNone/>
            </a:pPr>
            <a:r>
              <a:rPr lang="en-US" sz="1800" dirty="0">
                <a:solidFill>
                  <a:schemeClr val="bg1"/>
                </a:solidFill>
              </a:rPr>
              <a:t>mainly by learning flat-fare rules such as JFK $70.</a:t>
            </a:r>
            <a:endParaRPr lang="en-US" sz="1800" dirty="0"/>
          </a:p>
        </p:txBody>
      </p:sp>
      <p:sp>
        <p:nvSpPr>
          <p:cNvPr id="22" name="concl-num-3"/>
          <p:cNvSpPr txBox="1"/>
          <p:nvPr/>
        </p:nvSpPr>
        <p:spPr>
          <a:xfrm>
            <a:off x="457200" y="3008376"/>
            <a:ext cx="457200" cy="457200"/>
          </a:xfrm>
          <a:prstGeom prst="ellipse">
            <a:avLst/>
          </a:prstGeom>
          <a:solidFill>
            <a:srgbClr val="F2B705"/>
          </a:solid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23" name="concl-text-3"/>
          <p:cNvSpPr txBox="1"/>
          <p:nvPr/>
        </p:nvSpPr>
        <p:spPr>
          <a:xfrm>
            <a:off x="1097280" y="2935224"/>
            <a:ext cx="7589520" cy="786384"/>
          </a:xfrm>
          <a:prstGeom prst="rect">
            <a:avLst/>
          </a:prstGeom>
          <a:noFill/>
          <a:ln/>
        </p:spPr>
        <p:txBody>
          <a:bodyPr wrap="square" lIns="0" tIns="0" rIns="0" bIns="0" rtlCol="0" anchor="t"/>
          <a:lstStyle/>
          <a:p>
            <a:pPr indent="0" marL="0">
              <a:buNone/>
            </a:pPr>
            <a:r>
              <a:rPr lang="en-US" sz="1800" b="1" dirty="0">
                <a:solidFill>
                  <a:schemeClr val="bg1"/>
                </a:solidFill>
              </a:rPr>
              <a:t>Five years only help on one price list: </a:t>
            </a:r>
            <a:pPr indent="0" marL="0">
              <a:buNone/>
            </a:pPr>
            <a:r>
              <a:rPr lang="en-US" sz="1800" dirty="0">
                <a:solidFill>
                  <a:schemeClr val="bg1"/>
                </a:solidFill>
              </a:rPr>
              <a:t>converting old fares to 2023 prices beat every other training set-up.</a:t>
            </a:r>
            <a:endParaRPr lang="en-US" sz="1800" dirty="0"/>
          </a:p>
        </p:txBody>
      </p:sp>
      <p:sp>
        <p:nvSpPr>
          <p:cNvPr id="24" name="concl-next"/>
          <p:cNvSpPr txBox="1"/>
          <p:nvPr/>
        </p:nvSpPr>
        <p:spPr>
          <a:xfrm>
            <a:off x="457200" y="4023360"/>
            <a:ext cx="8229600" cy="320040"/>
          </a:xfrm>
          <a:prstGeom prst="rect">
            <a:avLst/>
          </a:prstGeom>
          <a:noFill/>
          <a:ln/>
        </p:spPr>
        <p:txBody>
          <a:bodyPr wrap="square" lIns="0" tIns="0" rIns="0" bIns="0" rtlCol="0" anchor="ctr"/>
          <a:lstStyle/>
          <a:p>
            <a:pPr indent="0" marL="0">
              <a:buNone/>
            </a:pPr>
            <a:r>
              <a:rPr lang="en-US" sz="1400" b="1" dirty="0">
                <a:solidFill>
                  <a:srgbClr val="F2B705"/>
                </a:solidFill>
              </a:rPr>
              <a:t>Next: </a:t>
            </a:r>
            <a:pPr indent="0" marL="0">
              <a:buNone/>
            </a:pPr>
            <a:r>
              <a:rPr lang="en-US" sz="1400" dirty="0">
                <a:solidFill>
                  <a:srgbClr val="D9DDE2"/>
                </a:solidFill>
              </a:rPr>
              <a:t>add 2024–2025 (congestion pricing), a public-holiday feature and route-planner distance.</a:t>
            </a:r>
            <a:endParaRPr lang="en-US" sz="1400" dirty="0"/>
          </a:p>
        </p:txBody>
      </p:sp>
      <p:sp>
        <p:nvSpPr>
          <p:cNvPr id="25" name="concl-contact"/>
          <p:cNvSpPr txBox="1"/>
          <p:nvPr/>
        </p:nvSpPr>
        <p:spPr>
          <a:xfrm>
            <a:off x="457200" y="4434840"/>
            <a:ext cx="7589520" cy="274320"/>
          </a:xfrm>
          <a:prstGeom prst="rect">
            <a:avLst/>
          </a:prstGeom>
          <a:noFill/>
          <a:ln/>
        </p:spPr>
        <p:txBody>
          <a:bodyPr wrap="square" lIns="0" tIns="0" rIns="0" bIns="0" rtlCol="0" anchor="ctr"/>
          <a:lstStyle/>
          <a:p>
            <a:pPr indent="0" marL="0">
              <a:buNone/>
            </a:pPr>
            <a:r>
              <a:rPr lang="en-US" sz="1200" dirty="0">
                <a:solidFill>
                  <a:srgbClr val="C4C9D0"/>
                </a:solidFill>
              </a:rPr>
              <a:t>[Your names] · [email] · Questions and feedback welcome</a:t>
            </a:r>
            <a:endParaRPr lang="en-US" sz="1200" dirty="0"/>
          </a:p>
        </p:txBody>
      </p:sp>
      <p:sp>
        <p:nvSpPr>
          <p:cNvPr id="25" name="Slide Number Placeholder 0"/>
          <p:cNvSpPr>
            <a:spLocks noGrp="1"/>
          </p:cNvSpPr>
          <p:nvPr>
            <p:ph type="sldNum" sz="quarter" idx="4294967295"/>
          </p:nvPr>
        </p:nvSpPr>
        <p:spPr>
          <a:xfrm>
            <a:off x="8275320" y="4754880"/>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C4C9D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nav-Agenda"/>
          <p:cNvSpPr txBox="1"/>
          <p:nvPr/>
        </p:nvSpPr>
        <p:spPr>
          <a:xfrm>
            <a:off x="457200" y="118872"/>
            <a:ext cx="713232" cy="256032"/>
          </a:xfrm>
          <a:prstGeom prst="rect">
            <a:avLst/>
          </a:prstGeom>
          <a:noFill/>
          <a:ln/>
        </p:spPr>
        <p:txBody>
          <a:bodyPr wrap="square" lIns="0" tIns="0" rIns="0" bIns="0" rtlCol="0" anchor="ctr"/>
          <a:lstStyle/>
          <a:p>
            <a:pPr algn="ctr" indent="0" marL="0">
              <a:buNone/>
            </a:pPr>
            <a:r>
              <a:rPr lang="en-US" sz="1050" dirty="0">
                <a:solidFill>
                  <a:srgbClr val="5F6772"/>
                </a:solidFill>
              </a:rPr>
              <a:t>Agenda</a:t>
            </a:r>
            <a:endParaRPr lang="en-US" sz="1050" dirty="0"/>
          </a:p>
        </p:txBody>
      </p:sp>
      <p:sp>
        <p:nvSpPr>
          <p:cNvPr id="3" name="nav-link-Agenda">
            <a:hlinkClick r:id="rId1" tooltip="Go to Agenda" action="ppaction://hlinksldjump"/>
          </p:cNvPr>
          <p:cNvSpPr/>
          <p:nvPr/>
        </p:nvSpPr>
        <p:spPr>
          <a:xfrm>
            <a:off x="457200" y="118872"/>
            <a:ext cx="713232" cy="256032"/>
          </a:xfrm>
          <a:prstGeom prst="rect">
            <a:avLst/>
          </a:prstGeom>
          <a:solidFill>
            <a:srgbClr val="FFFFFF">
              <a:alpha val="0"/>
            </a:srgbClr>
          </a:solidFill>
          <a:ln/>
        </p:spPr>
      </p:sp>
      <p:sp>
        <p:nvSpPr>
          <p:cNvPr id="4" name="nav-Question"/>
          <p:cNvSpPr txBox="1"/>
          <p:nvPr/>
        </p:nvSpPr>
        <p:spPr>
          <a:xfrm>
            <a:off x="1225296" y="118872"/>
            <a:ext cx="822960" cy="256032"/>
          </a:xfrm>
          <a:prstGeom prst="rect">
            <a:avLst/>
          </a:prstGeom>
          <a:noFill/>
          <a:ln/>
        </p:spPr>
        <p:txBody>
          <a:bodyPr wrap="square" lIns="0" tIns="0" rIns="0" bIns="0" rtlCol="0" anchor="ctr"/>
          <a:lstStyle/>
          <a:p>
            <a:pPr algn="ctr" indent="0" marL="0">
              <a:buNone/>
            </a:pPr>
            <a:r>
              <a:rPr lang="en-US" sz="1050" dirty="0">
                <a:solidFill>
                  <a:srgbClr val="5F6772"/>
                </a:solidFill>
              </a:rPr>
              <a:t>Question</a:t>
            </a:r>
            <a:endParaRPr lang="en-US" sz="1050" dirty="0"/>
          </a:p>
        </p:txBody>
      </p:sp>
      <p:sp>
        <p:nvSpPr>
          <p:cNvPr id="5" name="nav-link-Question">
            <a:hlinkClick r:id="rId2" tooltip="Go to Question" action="ppaction://hlinksldjump"/>
          </p:cNvPr>
          <p:cNvSpPr/>
          <p:nvPr/>
        </p:nvSpPr>
        <p:spPr>
          <a:xfrm>
            <a:off x="1225296" y="118872"/>
            <a:ext cx="822960" cy="256032"/>
          </a:xfrm>
          <a:prstGeom prst="rect">
            <a:avLst/>
          </a:prstGeom>
          <a:solidFill>
            <a:srgbClr val="FFFFFF">
              <a:alpha val="0"/>
            </a:srgbClr>
          </a:solidFill>
          <a:ln/>
        </p:spPr>
      </p:sp>
      <p:sp>
        <p:nvSpPr>
          <p:cNvPr id="6" name="nav-Data"/>
          <p:cNvSpPr txBox="1"/>
          <p:nvPr/>
        </p:nvSpPr>
        <p:spPr>
          <a:xfrm>
            <a:off x="2103120" y="118872"/>
            <a:ext cx="566928" cy="256032"/>
          </a:xfrm>
          <a:prstGeom prst="rect">
            <a:avLst/>
          </a:prstGeom>
          <a:noFill/>
          <a:ln/>
        </p:spPr>
        <p:txBody>
          <a:bodyPr wrap="square" lIns="0" tIns="0" rIns="0" bIns="0" rtlCol="0" anchor="ctr"/>
          <a:lstStyle/>
          <a:p>
            <a:pPr algn="ctr" indent="0" marL="0">
              <a:buNone/>
            </a:pPr>
            <a:r>
              <a:rPr lang="en-US" sz="1050" dirty="0">
                <a:solidFill>
                  <a:srgbClr val="5F6772"/>
                </a:solidFill>
              </a:rPr>
              <a:t>Data</a:t>
            </a:r>
            <a:endParaRPr lang="en-US" sz="1050" dirty="0"/>
          </a:p>
        </p:txBody>
      </p:sp>
      <p:sp>
        <p:nvSpPr>
          <p:cNvPr id="7" name="nav-link-Data">
            <a:hlinkClick r:id="rId3" tooltip="Go to Data" action="ppaction://hlinksldjump"/>
          </p:cNvPr>
          <p:cNvSpPr/>
          <p:nvPr/>
        </p:nvSpPr>
        <p:spPr>
          <a:xfrm>
            <a:off x="2103120" y="118872"/>
            <a:ext cx="566928" cy="256032"/>
          </a:xfrm>
          <a:prstGeom prst="rect">
            <a:avLst/>
          </a:prstGeom>
          <a:solidFill>
            <a:srgbClr val="FFFFFF">
              <a:alpha val="0"/>
            </a:srgbClr>
          </a:solidFill>
          <a:ln/>
        </p:spPr>
      </p:sp>
      <p:sp>
        <p:nvSpPr>
          <p:cNvPr id="8" name="nav-Method"/>
          <p:cNvSpPr txBox="1"/>
          <p:nvPr/>
        </p:nvSpPr>
        <p:spPr>
          <a:xfrm>
            <a:off x="2724912" y="118872"/>
            <a:ext cx="713232" cy="256032"/>
          </a:xfrm>
          <a:prstGeom prst="rect">
            <a:avLst/>
          </a:prstGeom>
          <a:noFill/>
          <a:ln/>
        </p:spPr>
        <p:txBody>
          <a:bodyPr wrap="square" lIns="0" tIns="0" rIns="0" bIns="0" rtlCol="0" anchor="ctr"/>
          <a:lstStyle/>
          <a:p>
            <a:pPr algn="ctr" indent="0" marL="0">
              <a:buNone/>
            </a:pPr>
            <a:r>
              <a:rPr lang="en-US" sz="1050" dirty="0">
                <a:solidFill>
                  <a:srgbClr val="5F6772"/>
                </a:solidFill>
              </a:rPr>
              <a:t>Method</a:t>
            </a:r>
            <a:endParaRPr lang="en-US" sz="1050" dirty="0"/>
          </a:p>
        </p:txBody>
      </p:sp>
      <p:sp>
        <p:nvSpPr>
          <p:cNvPr id="9" name="nav-link-Method">
            <a:hlinkClick r:id="rId4" tooltip="Go to Method" action="ppaction://hlinksldjump"/>
          </p:cNvPr>
          <p:cNvSpPr/>
          <p:nvPr/>
        </p:nvSpPr>
        <p:spPr>
          <a:xfrm>
            <a:off x="2724912" y="118872"/>
            <a:ext cx="713232" cy="256032"/>
          </a:xfrm>
          <a:prstGeom prst="rect">
            <a:avLst/>
          </a:prstGeom>
          <a:solidFill>
            <a:srgbClr val="FFFFFF">
              <a:alpha val="0"/>
            </a:srgbClr>
          </a:solidFill>
          <a:ln/>
        </p:spPr>
      </p:sp>
      <p:sp>
        <p:nvSpPr>
          <p:cNvPr id="10" name="nav-Results"/>
          <p:cNvSpPr txBox="1"/>
          <p:nvPr/>
        </p:nvSpPr>
        <p:spPr>
          <a:xfrm>
            <a:off x="3493008" y="118872"/>
            <a:ext cx="731520" cy="256032"/>
          </a:xfrm>
          <a:prstGeom prst="rect">
            <a:avLst/>
          </a:prstGeom>
          <a:noFill/>
          <a:ln/>
        </p:spPr>
        <p:txBody>
          <a:bodyPr wrap="square" lIns="0" tIns="0" rIns="0" bIns="0" rtlCol="0" anchor="ctr"/>
          <a:lstStyle/>
          <a:p>
            <a:pPr algn="ctr" indent="0" marL="0">
              <a:buNone/>
            </a:pPr>
            <a:r>
              <a:rPr lang="en-US" sz="1050" dirty="0">
                <a:solidFill>
                  <a:srgbClr val="5F6772"/>
                </a:solidFill>
              </a:rPr>
              <a:t>Results</a:t>
            </a:r>
            <a:endParaRPr lang="en-US" sz="1050" dirty="0"/>
          </a:p>
        </p:txBody>
      </p:sp>
      <p:sp>
        <p:nvSpPr>
          <p:cNvPr id="11" name="nav-link-Results">
            <a:hlinkClick r:id="rId5" tooltip="Go to Results" action="ppaction://hlinksldjump"/>
          </p:cNvPr>
          <p:cNvSpPr/>
          <p:nvPr/>
        </p:nvSpPr>
        <p:spPr>
          <a:xfrm>
            <a:off x="3493008" y="118872"/>
            <a:ext cx="731520" cy="256032"/>
          </a:xfrm>
          <a:prstGeom prst="rect">
            <a:avLst/>
          </a:prstGeom>
          <a:solidFill>
            <a:srgbClr val="FFFFFF">
              <a:alpha val="0"/>
            </a:srgbClr>
          </a:solidFill>
          <a:ln/>
        </p:spPr>
      </p:sp>
      <p:sp>
        <p:nvSpPr>
          <p:cNvPr id="12" name="nav-pill-Wrap-up"/>
          <p:cNvSpPr/>
          <p:nvPr/>
        </p:nvSpPr>
        <p:spPr>
          <a:xfrm>
            <a:off x="4279392" y="118872"/>
            <a:ext cx="786384" cy="256032"/>
          </a:xfrm>
          <a:prstGeom prst="roundRect">
            <a:avLst>
              <a:gd name="adj" fmla="val 50000"/>
            </a:avLst>
          </a:prstGeom>
          <a:solidFill>
            <a:srgbClr val="F2B705"/>
          </a:solidFill>
          <a:ln w="6350">
            <a:solidFill>
              <a:srgbClr val="F2B705"/>
            </a:solidFill>
            <a:prstDash val="solid"/>
          </a:ln>
        </p:spPr>
      </p:sp>
      <p:sp>
        <p:nvSpPr>
          <p:cNvPr id="13" name="nav-Wrap-up"/>
          <p:cNvSpPr txBox="1"/>
          <p:nvPr/>
        </p:nvSpPr>
        <p:spPr>
          <a:xfrm>
            <a:off x="4279392" y="118872"/>
            <a:ext cx="786384" cy="256032"/>
          </a:xfrm>
          <a:prstGeom prst="rect">
            <a:avLst/>
          </a:prstGeom>
          <a:noFill/>
          <a:ln/>
        </p:spPr>
        <p:txBody>
          <a:bodyPr wrap="square" lIns="0" tIns="0" rIns="0" bIns="0" rtlCol="0" anchor="ctr"/>
          <a:lstStyle/>
          <a:p>
            <a:pPr algn="ctr" indent="0" marL="0">
              <a:buNone/>
            </a:pPr>
            <a:r>
              <a:rPr lang="en-US" sz="1050" b="1" dirty="0">
                <a:solidFill>
                  <a:schemeClr val="tx1"/>
                </a:solidFill>
              </a:rPr>
              <a:t>Wrap-up</a:t>
            </a:r>
            <a:endParaRPr lang="en-US" sz="1050" dirty="0"/>
          </a:p>
        </p:txBody>
      </p:sp>
      <p:sp>
        <p:nvSpPr>
          <p:cNvPr id="14" name="nav-link-Wrap-up">
            <a:hlinkClick r:id="rId6" tooltip="Go to Wrap-up" action="ppaction://hlinksldjump"/>
          </p:cNvPr>
          <p:cNvSpPr/>
          <p:nvPr/>
        </p:nvSpPr>
        <p:spPr>
          <a:xfrm>
            <a:off x="4279392" y="118872"/>
            <a:ext cx="786384" cy="256032"/>
          </a:xfrm>
          <a:prstGeom prst="rect">
            <a:avLst/>
          </a:prstGeom>
          <a:solidFill>
            <a:srgbClr val="FFFFFF">
              <a:alpha val="0"/>
            </a:srgbClr>
          </a:solidFill>
          <a:ln/>
        </p:spPr>
      </p:sp>
      <p:sp>
        <p:nvSpPr>
          <p:cNvPr id="15" name="nav-Appendix"/>
          <p:cNvSpPr txBox="1"/>
          <p:nvPr/>
        </p:nvSpPr>
        <p:spPr>
          <a:xfrm>
            <a:off x="5120640" y="118872"/>
            <a:ext cx="859536" cy="256032"/>
          </a:xfrm>
          <a:prstGeom prst="rect">
            <a:avLst/>
          </a:prstGeom>
          <a:noFill/>
          <a:ln/>
        </p:spPr>
        <p:txBody>
          <a:bodyPr wrap="square" lIns="0" tIns="0" rIns="0" bIns="0" rtlCol="0" anchor="ctr"/>
          <a:lstStyle/>
          <a:p>
            <a:pPr algn="ctr" indent="0" marL="0">
              <a:buNone/>
            </a:pPr>
            <a:r>
              <a:rPr lang="en-US" sz="1050" dirty="0">
                <a:solidFill>
                  <a:srgbClr val="5F6772"/>
                </a:solidFill>
              </a:rPr>
              <a:t>Appendix</a:t>
            </a:r>
            <a:endParaRPr lang="en-US" sz="1050" dirty="0"/>
          </a:p>
        </p:txBody>
      </p:sp>
      <p:sp>
        <p:nvSpPr>
          <p:cNvPr id="16" name="nav-link-Appendix">
            <a:hlinkClick r:id="rId7" tooltip="Go to Appendix" action="ppaction://hlinksldjump"/>
          </p:cNvPr>
          <p:cNvSpPr/>
          <p:nvPr/>
        </p:nvSpPr>
        <p:spPr>
          <a:xfrm>
            <a:off x="5120640" y="118872"/>
            <a:ext cx="859536" cy="256032"/>
          </a:xfrm>
          <a:prstGeom prst="rect">
            <a:avLst/>
          </a:prstGeom>
          <a:solidFill>
            <a:srgbClr val="FFFFFF">
              <a:alpha val="0"/>
            </a:srgbClr>
          </a:solidFill>
          <a:ln/>
        </p:spPr>
      </p:sp>
      <p:sp>
        <p:nvSpPr>
          <p:cNvPr id="17" name="Text 0"/>
          <p:cNvSpPr/>
          <p:nvPr>
            <p:ph idx="100" type="title" hasCustomPrompt="1"/>
          </p:nvPr>
        </p:nvSpPr>
        <p:spPr>
          <a:xfrm>
            <a:off x="457200" y="475488"/>
            <a:ext cx="8229600" cy="777240"/>
          </a:xfrm>
          <a:prstGeom prst="rect">
            <a:avLst/>
          </a:prstGeom>
          <a:noFill/>
          <a:ln/>
        </p:spPr>
        <p:txBody>
          <a:bodyPr wrap="square" lIns="0" tIns="0" rIns="0" bIns="0" rtlCol="0" anchor="t"/>
          <a:lstStyle/>
          <a:p>
            <a:pPr algn="l" indent="0" marL="0">
              <a:buNone/>
            </a:pPr>
            <a:r>
              <a:rPr lang="en-US" sz="2200" b="1" dirty="0">
                <a:solidFill>
                  <a:schemeClr val="tx1"/>
                </a:solidFill>
              </a:rPr>
              <a:t>References</a:t>
            </a:r>
            <a:endParaRPr lang="en-US" sz="2200" dirty="0"/>
          </a:p>
        </p:txBody>
      </p:sp>
      <p:sp>
        <p:nvSpPr>
          <p:cNvPr id="18" name="references"/>
          <p:cNvSpPr txBox="1"/>
          <p:nvPr/>
        </p:nvSpPr>
        <p:spPr>
          <a:xfrm>
            <a:off x="457200" y="1051560"/>
            <a:ext cx="8229600" cy="3566160"/>
          </a:xfrm>
          <a:prstGeom prst="rect">
            <a:avLst/>
          </a:prstGeom>
          <a:noFill/>
          <a:ln/>
        </p:spPr>
        <p:txBody>
          <a:bodyPr wrap="square" lIns="0" tIns="0" rIns="0" bIns="0" rtlCol="0" anchor="t"/>
          <a:lstStyle/>
          <a:p>
            <a:pPr indent="0" marL="0">
              <a:spcAft>
                <a:spcPts val="600"/>
              </a:spcAft>
              <a:buNone/>
            </a:pPr>
            <a:r>
              <a:rPr lang="en-US" sz="1100" dirty="0">
                <a:solidFill>
                  <a:schemeClr val="tx1"/>
                </a:solidFill>
              </a:rPr>
              <a:t>Breiman, L. (2001). Random forests. Machine Learning, 45(1), 5–32.</a:t>
            </a:r>
            <a:endParaRPr lang="en-US" sz="1100" dirty="0"/>
          </a:p>
          <a:p>
            <a:pPr indent="0" marL="0">
              <a:spcAft>
                <a:spcPts val="600"/>
              </a:spcAft>
              <a:buNone/>
            </a:pPr>
            <a:r>
              <a:rPr lang="en-US" sz="1100" dirty="0">
                <a:solidFill>
                  <a:schemeClr val="tx1"/>
                </a:solidFill>
              </a:rPr>
              <a:t>Drucker, H., Burges, C. J. C., Kaufman, L., Smola, A., &amp; Vapnik, V. (1997). Support vector regression machines. Advances in Neural Information Processing Systems 9, 155–161.</a:t>
            </a:r>
            <a:endParaRPr lang="en-US" sz="1100" dirty="0"/>
          </a:p>
          <a:p>
            <a:pPr indent="0" marL="0">
              <a:spcAft>
                <a:spcPts val="600"/>
              </a:spcAft>
              <a:buNone/>
            </a:pPr>
            <a:r>
              <a:rPr lang="en-US" sz="1100" dirty="0">
                <a:solidFill>
                  <a:schemeClr val="tx1"/>
                </a:solidFill>
              </a:rPr>
              <a:t>Hoerl, A. E., &amp; Kennard, R. W. (1970). Ridge regression: Biased estimation for nonorthogonal problems. Technometrics, 12(1), 55–67.</a:t>
            </a:r>
            <a:endParaRPr lang="en-US" sz="1100" dirty="0"/>
          </a:p>
          <a:p>
            <a:pPr indent="0" marL="0">
              <a:spcAft>
                <a:spcPts val="600"/>
              </a:spcAft>
              <a:buNone/>
            </a:pPr>
            <a:r>
              <a:rPr lang="en-US" sz="1100" dirty="0">
                <a:solidFill>
                  <a:schemeClr val="tx1"/>
                </a:solidFill>
              </a:rPr>
              <a:t>NYC Taxi &amp; Limousine Commission. (2019–2023). TLC trip record data: Yellow taxi trip records, January 2019 – December 2023 [Data set]. https://www.nyc.gov/site/tlc/about/tlc-trip-record-data.page</a:t>
            </a:r>
            <a:endParaRPr lang="en-US" sz="1100" dirty="0"/>
          </a:p>
          <a:p>
            <a:pPr indent="0" marL="0">
              <a:spcAft>
                <a:spcPts val="600"/>
              </a:spcAft>
              <a:buNone/>
            </a:pPr>
            <a:r>
              <a:rPr lang="en-US" sz="1100" dirty="0">
                <a:solidFill>
                  <a:schemeClr val="tx1"/>
                </a:solidFill>
              </a:rPr>
              <a:t>NYC Taxi &amp; Limousine Commission. (2022). Taximeter rate of fare and various surcharges [Adopted rule, effective 19 December 2022]. https://rules.cityofnewyork.us/rule/taximeter-rate-of-fare-and-various-surcharges/</a:t>
            </a:r>
            <a:endParaRPr lang="en-US" sz="1100" dirty="0"/>
          </a:p>
          <a:p>
            <a:pPr indent="0" marL="0">
              <a:spcAft>
                <a:spcPts val="600"/>
              </a:spcAft>
              <a:buNone/>
            </a:pPr>
            <a:r>
              <a:rPr lang="en-US" sz="1100" dirty="0">
                <a:solidFill>
                  <a:schemeClr val="tx1"/>
                </a:solidFill>
              </a:rPr>
              <a:t>Pedregosa, F., et al. (2011). Scikit-learn: Machine learning in Python. Journal of Machine Learning Research, 12, 2825–2830.</a:t>
            </a:r>
            <a:endParaRPr lang="en-US" sz="1100" dirty="0"/>
          </a:p>
          <a:p>
            <a:pPr indent="0" marL="0">
              <a:spcAft>
                <a:spcPts val="600"/>
              </a:spcAft>
              <a:buNone/>
            </a:pPr>
            <a:r>
              <a:rPr lang="en-US" sz="1100" dirty="0">
                <a:solidFill>
                  <a:schemeClr val="tx1"/>
                </a:solidFill>
              </a:rPr>
              <a:t>Raasveldt, M., &amp; Mühleisen, H. (2019). DuckDB: An embeddable analytical database. Proceedings of SIGMOD 2019, 1981–1984.</a:t>
            </a:r>
            <a:endParaRPr lang="en-US" sz="1100" dirty="0"/>
          </a:p>
          <a:p>
            <a:pPr indent="0" marL="0">
              <a:spcAft>
                <a:spcPts val="600"/>
              </a:spcAft>
              <a:buNone/>
            </a:pPr>
            <a:r>
              <a:rPr lang="en-US" sz="1100" dirty="0">
                <a:solidFill>
                  <a:schemeClr val="tx1"/>
                </a:solidFill>
              </a:rPr>
              <a:t>Tibshirani, R. (1996). Regression shrinkage and selection via the lasso. Journal of the Royal Statistical Society: Series B, 58(1), 267–288.</a:t>
            </a:r>
            <a:endParaRPr lang="en-US" sz="1100" dirty="0"/>
          </a:p>
        </p:txBody>
      </p:sp>
      <p:sp>
        <p:nvSpPr>
          <p:cNvPr id="25" name="Slide Number Placeholder 0"/>
          <p:cNvSpPr>
            <a:spLocks noGrp="1"/>
          </p:cNvSpPr>
          <p:nvPr>
            <p:ph type="sldNum" sz="quarter" idx="4294967295"/>
          </p:nvPr>
        </p:nvSpPr>
        <p:spPr>
          <a:xfrm>
            <a:off x="8275320" y="4754880"/>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77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nav-Agenda"/>
          <p:cNvSpPr txBox="1"/>
          <p:nvPr/>
        </p:nvSpPr>
        <p:spPr>
          <a:xfrm>
            <a:off x="457200" y="118872"/>
            <a:ext cx="713232" cy="256032"/>
          </a:xfrm>
          <a:prstGeom prst="rect">
            <a:avLst/>
          </a:prstGeom>
          <a:noFill/>
          <a:ln/>
        </p:spPr>
        <p:txBody>
          <a:bodyPr wrap="square" lIns="0" tIns="0" rIns="0" bIns="0" rtlCol="0" anchor="ctr"/>
          <a:lstStyle/>
          <a:p>
            <a:pPr algn="ctr" indent="0" marL="0">
              <a:buNone/>
            </a:pPr>
            <a:r>
              <a:rPr lang="en-US" sz="1050" dirty="0">
                <a:solidFill>
                  <a:srgbClr val="5F6772"/>
                </a:solidFill>
              </a:rPr>
              <a:t>Agenda</a:t>
            </a:r>
            <a:endParaRPr lang="en-US" sz="1050" dirty="0"/>
          </a:p>
        </p:txBody>
      </p:sp>
      <p:sp>
        <p:nvSpPr>
          <p:cNvPr id="3" name="nav-link-Agenda">
            <a:hlinkClick r:id="rId1" tooltip="Go to Agenda" action="ppaction://hlinksldjump"/>
          </p:cNvPr>
          <p:cNvSpPr/>
          <p:nvPr/>
        </p:nvSpPr>
        <p:spPr>
          <a:xfrm>
            <a:off x="457200" y="118872"/>
            <a:ext cx="713232" cy="256032"/>
          </a:xfrm>
          <a:prstGeom prst="rect">
            <a:avLst/>
          </a:prstGeom>
          <a:solidFill>
            <a:srgbClr val="FFFFFF">
              <a:alpha val="0"/>
            </a:srgbClr>
          </a:solidFill>
          <a:ln/>
        </p:spPr>
      </p:sp>
      <p:sp>
        <p:nvSpPr>
          <p:cNvPr id="4" name="nav-Question"/>
          <p:cNvSpPr txBox="1"/>
          <p:nvPr/>
        </p:nvSpPr>
        <p:spPr>
          <a:xfrm>
            <a:off x="1225296" y="118872"/>
            <a:ext cx="822960" cy="256032"/>
          </a:xfrm>
          <a:prstGeom prst="rect">
            <a:avLst/>
          </a:prstGeom>
          <a:noFill/>
          <a:ln/>
        </p:spPr>
        <p:txBody>
          <a:bodyPr wrap="square" lIns="0" tIns="0" rIns="0" bIns="0" rtlCol="0" anchor="ctr"/>
          <a:lstStyle/>
          <a:p>
            <a:pPr algn="ctr" indent="0" marL="0">
              <a:buNone/>
            </a:pPr>
            <a:r>
              <a:rPr lang="en-US" sz="1050" dirty="0">
                <a:solidFill>
                  <a:srgbClr val="5F6772"/>
                </a:solidFill>
              </a:rPr>
              <a:t>Question</a:t>
            </a:r>
            <a:endParaRPr lang="en-US" sz="1050" dirty="0"/>
          </a:p>
        </p:txBody>
      </p:sp>
      <p:sp>
        <p:nvSpPr>
          <p:cNvPr id="5" name="nav-link-Question">
            <a:hlinkClick r:id="rId2" tooltip="Go to Question" action="ppaction://hlinksldjump"/>
          </p:cNvPr>
          <p:cNvSpPr/>
          <p:nvPr/>
        </p:nvSpPr>
        <p:spPr>
          <a:xfrm>
            <a:off x="1225296" y="118872"/>
            <a:ext cx="822960" cy="256032"/>
          </a:xfrm>
          <a:prstGeom prst="rect">
            <a:avLst/>
          </a:prstGeom>
          <a:solidFill>
            <a:srgbClr val="FFFFFF">
              <a:alpha val="0"/>
            </a:srgbClr>
          </a:solidFill>
          <a:ln/>
        </p:spPr>
      </p:sp>
      <p:sp>
        <p:nvSpPr>
          <p:cNvPr id="6" name="nav-Data"/>
          <p:cNvSpPr txBox="1"/>
          <p:nvPr/>
        </p:nvSpPr>
        <p:spPr>
          <a:xfrm>
            <a:off x="2103120" y="118872"/>
            <a:ext cx="566928" cy="256032"/>
          </a:xfrm>
          <a:prstGeom prst="rect">
            <a:avLst/>
          </a:prstGeom>
          <a:noFill/>
          <a:ln/>
        </p:spPr>
        <p:txBody>
          <a:bodyPr wrap="square" lIns="0" tIns="0" rIns="0" bIns="0" rtlCol="0" anchor="ctr"/>
          <a:lstStyle/>
          <a:p>
            <a:pPr algn="ctr" indent="0" marL="0">
              <a:buNone/>
            </a:pPr>
            <a:r>
              <a:rPr lang="en-US" sz="1050" dirty="0">
                <a:solidFill>
                  <a:srgbClr val="5F6772"/>
                </a:solidFill>
              </a:rPr>
              <a:t>Data</a:t>
            </a:r>
            <a:endParaRPr lang="en-US" sz="1050" dirty="0"/>
          </a:p>
        </p:txBody>
      </p:sp>
      <p:sp>
        <p:nvSpPr>
          <p:cNvPr id="7" name="nav-link-Data">
            <a:hlinkClick r:id="rId3" tooltip="Go to Data" action="ppaction://hlinksldjump"/>
          </p:cNvPr>
          <p:cNvSpPr/>
          <p:nvPr/>
        </p:nvSpPr>
        <p:spPr>
          <a:xfrm>
            <a:off x="2103120" y="118872"/>
            <a:ext cx="566928" cy="256032"/>
          </a:xfrm>
          <a:prstGeom prst="rect">
            <a:avLst/>
          </a:prstGeom>
          <a:solidFill>
            <a:srgbClr val="FFFFFF">
              <a:alpha val="0"/>
            </a:srgbClr>
          </a:solidFill>
          <a:ln/>
        </p:spPr>
      </p:sp>
      <p:sp>
        <p:nvSpPr>
          <p:cNvPr id="8" name="nav-Method"/>
          <p:cNvSpPr txBox="1"/>
          <p:nvPr/>
        </p:nvSpPr>
        <p:spPr>
          <a:xfrm>
            <a:off x="2724912" y="118872"/>
            <a:ext cx="713232" cy="256032"/>
          </a:xfrm>
          <a:prstGeom prst="rect">
            <a:avLst/>
          </a:prstGeom>
          <a:noFill/>
          <a:ln/>
        </p:spPr>
        <p:txBody>
          <a:bodyPr wrap="square" lIns="0" tIns="0" rIns="0" bIns="0" rtlCol="0" anchor="ctr"/>
          <a:lstStyle/>
          <a:p>
            <a:pPr algn="ctr" indent="0" marL="0">
              <a:buNone/>
            </a:pPr>
            <a:r>
              <a:rPr lang="en-US" sz="1050" dirty="0">
                <a:solidFill>
                  <a:srgbClr val="5F6772"/>
                </a:solidFill>
              </a:rPr>
              <a:t>Method</a:t>
            </a:r>
            <a:endParaRPr lang="en-US" sz="1050" dirty="0"/>
          </a:p>
        </p:txBody>
      </p:sp>
      <p:sp>
        <p:nvSpPr>
          <p:cNvPr id="9" name="nav-link-Method">
            <a:hlinkClick r:id="rId4" tooltip="Go to Method" action="ppaction://hlinksldjump"/>
          </p:cNvPr>
          <p:cNvSpPr/>
          <p:nvPr/>
        </p:nvSpPr>
        <p:spPr>
          <a:xfrm>
            <a:off x="2724912" y="118872"/>
            <a:ext cx="713232" cy="256032"/>
          </a:xfrm>
          <a:prstGeom prst="rect">
            <a:avLst/>
          </a:prstGeom>
          <a:solidFill>
            <a:srgbClr val="FFFFFF">
              <a:alpha val="0"/>
            </a:srgbClr>
          </a:solidFill>
          <a:ln/>
        </p:spPr>
      </p:sp>
      <p:sp>
        <p:nvSpPr>
          <p:cNvPr id="10" name="nav-Results"/>
          <p:cNvSpPr txBox="1"/>
          <p:nvPr/>
        </p:nvSpPr>
        <p:spPr>
          <a:xfrm>
            <a:off x="3493008" y="118872"/>
            <a:ext cx="731520" cy="256032"/>
          </a:xfrm>
          <a:prstGeom prst="rect">
            <a:avLst/>
          </a:prstGeom>
          <a:noFill/>
          <a:ln/>
        </p:spPr>
        <p:txBody>
          <a:bodyPr wrap="square" lIns="0" tIns="0" rIns="0" bIns="0" rtlCol="0" anchor="ctr"/>
          <a:lstStyle/>
          <a:p>
            <a:pPr algn="ctr" indent="0" marL="0">
              <a:buNone/>
            </a:pPr>
            <a:r>
              <a:rPr lang="en-US" sz="1050" dirty="0">
                <a:solidFill>
                  <a:srgbClr val="5F6772"/>
                </a:solidFill>
              </a:rPr>
              <a:t>Results</a:t>
            </a:r>
            <a:endParaRPr lang="en-US" sz="1050" dirty="0"/>
          </a:p>
        </p:txBody>
      </p:sp>
      <p:sp>
        <p:nvSpPr>
          <p:cNvPr id="11" name="nav-link-Results">
            <a:hlinkClick r:id="rId5" tooltip="Go to Results" action="ppaction://hlinksldjump"/>
          </p:cNvPr>
          <p:cNvSpPr/>
          <p:nvPr/>
        </p:nvSpPr>
        <p:spPr>
          <a:xfrm>
            <a:off x="3493008" y="118872"/>
            <a:ext cx="731520" cy="256032"/>
          </a:xfrm>
          <a:prstGeom prst="rect">
            <a:avLst/>
          </a:prstGeom>
          <a:solidFill>
            <a:srgbClr val="FFFFFF">
              <a:alpha val="0"/>
            </a:srgbClr>
          </a:solidFill>
          <a:ln/>
        </p:spPr>
      </p:sp>
      <p:sp>
        <p:nvSpPr>
          <p:cNvPr id="12" name="nav-Wrap-up"/>
          <p:cNvSpPr txBox="1"/>
          <p:nvPr/>
        </p:nvSpPr>
        <p:spPr>
          <a:xfrm>
            <a:off x="4279392" y="118872"/>
            <a:ext cx="786384" cy="256032"/>
          </a:xfrm>
          <a:prstGeom prst="rect">
            <a:avLst/>
          </a:prstGeom>
          <a:noFill/>
          <a:ln/>
        </p:spPr>
        <p:txBody>
          <a:bodyPr wrap="square" lIns="0" tIns="0" rIns="0" bIns="0" rtlCol="0" anchor="ctr"/>
          <a:lstStyle/>
          <a:p>
            <a:pPr algn="ctr" indent="0" marL="0">
              <a:buNone/>
            </a:pPr>
            <a:r>
              <a:rPr lang="en-US" sz="1050" dirty="0">
                <a:solidFill>
                  <a:srgbClr val="5F6772"/>
                </a:solidFill>
              </a:rPr>
              <a:t>Wrap-up</a:t>
            </a:r>
            <a:endParaRPr lang="en-US" sz="1050" dirty="0"/>
          </a:p>
        </p:txBody>
      </p:sp>
      <p:sp>
        <p:nvSpPr>
          <p:cNvPr id="13" name="nav-link-Wrap-up">
            <a:hlinkClick r:id="rId6" tooltip="Go to Wrap-up" action="ppaction://hlinksldjump"/>
          </p:cNvPr>
          <p:cNvSpPr/>
          <p:nvPr/>
        </p:nvSpPr>
        <p:spPr>
          <a:xfrm>
            <a:off x="4279392" y="118872"/>
            <a:ext cx="786384" cy="256032"/>
          </a:xfrm>
          <a:prstGeom prst="rect">
            <a:avLst/>
          </a:prstGeom>
          <a:solidFill>
            <a:srgbClr val="FFFFFF">
              <a:alpha val="0"/>
            </a:srgbClr>
          </a:solidFill>
          <a:ln/>
        </p:spPr>
      </p:sp>
      <p:sp>
        <p:nvSpPr>
          <p:cNvPr id="14" name="nav-pill-Appendix"/>
          <p:cNvSpPr/>
          <p:nvPr/>
        </p:nvSpPr>
        <p:spPr>
          <a:xfrm>
            <a:off x="5120640" y="118872"/>
            <a:ext cx="859536" cy="256032"/>
          </a:xfrm>
          <a:prstGeom prst="roundRect">
            <a:avLst>
              <a:gd name="adj" fmla="val 50000"/>
            </a:avLst>
          </a:prstGeom>
          <a:solidFill>
            <a:srgbClr val="F2B705"/>
          </a:solidFill>
          <a:ln w="6350">
            <a:solidFill>
              <a:srgbClr val="F2B705"/>
            </a:solidFill>
            <a:prstDash val="solid"/>
          </a:ln>
        </p:spPr>
      </p:sp>
      <p:sp>
        <p:nvSpPr>
          <p:cNvPr id="15" name="nav-Appendix"/>
          <p:cNvSpPr txBox="1"/>
          <p:nvPr/>
        </p:nvSpPr>
        <p:spPr>
          <a:xfrm>
            <a:off x="5120640" y="118872"/>
            <a:ext cx="859536" cy="256032"/>
          </a:xfrm>
          <a:prstGeom prst="rect">
            <a:avLst/>
          </a:prstGeom>
          <a:noFill/>
          <a:ln/>
        </p:spPr>
        <p:txBody>
          <a:bodyPr wrap="square" lIns="0" tIns="0" rIns="0" bIns="0" rtlCol="0" anchor="ctr"/>
          <a:lstStyle/>
          <a:p>
            <a:pPr algn="ctr" indent="0" marL="0">
              <a:buNone/>
            </a:pPr>
            <a:r>
              <a:rPr lang="en-US" sz="1050" b="1" dirty="0">
                <a:solidFill>
                  <a:schemeClr val="tx1"/>
                </a:solidFill>
              </a:rPr>
              <a:t>Appendix</a:t>
            </a:r>
            <a:endParaRPr lang="en-US" sz="1050" dirty="0"/>
          </a:p>
        </p:txBody>
      </p:sp>
      <p:sp>
        <p:nvSpPr>
          <p:cNvPr id="16" name="nav-link-Appendix">
            <a:hlinkClick r:id="rId7" tooltip="Go to Appendix" action="ppaction://hlinksldjump"/>
          </p:cNvPr>
          <p:cNvSpPr/>
          <p:nvPr/>
        </p:nvSpPr>
        <p:spPr>
          <a:xfrm>
            <a:off x="5120640" y="118872"/>
            <a:ext cx="859536" cy="256032"/>
          </a:xfrm>
          <a:prstGeom prst="rect">
            <a:avLst/>
          </a:prstGeom>
          <a:solidFill>
            <a:srgbClr val="FFFFFF">
              <a:alpha val="0"/>
            </a:srgbClr>
          </a:solidFill>
          <a:ln/>
        </p:spPr>
      </p:sp>
      <p:sp>
        <p:nvSpPr>
          <p:cNvPr id="17" name="appendix-label"/>
          <p:cNvSpPr txBox="1"/>
          <p:nvPr/>
        </p:nvSpPr>
        <p:spPr>
          <a:xfrm>
            <a:off x="457200" y="429768"/>
            <a:ext cx="8229600" cy="228600"/>
          </a:xfrm>
          <a:prstGeom prst="rect">
            <a:avLst/>
          </a:prstGeom>
          <a:noFill/>
          <a:ln/>
        </p:spPr>
        <p:txBody>
          <a:bodyPr wrap="square" lIns="0" tIns="0" rIns="0" bIns="0" rtlCol="0" anchor="ctr"/>
          <a:lstStyle/>
          <a:p>
            <a:pPr indent="0" marL="0">
              <a:buNone/>
            </a:pPr>
            <a:r>
              <a:rPr lang="en-US" sz="1100" i="1" dirty="0">
                <a:solidFill>
                  <a:srgbClr val="5F6772"/>
                </a:solidFill>
              </a:rPr>
              <a:t>Appendix A · Neural network</a:t>
            </a:r>
            <a:endParaRPr lang="en-US" sz="1100" dirty="0"/>
          </a:p>
        </p:txBody>
      </p:sp>
      <p:sp>
        <p:nvSpPr>
          <p:cNvPr id="18" name="Text 0"/>
          <p:cNvSpPr/>
          <p:nvPr>
            <p:ph idx="100" type="title" hasCustomPrompt="1"/>
          </p:nvPr>
        </p:nvSpPr>
        <p:spPr>
          <a:xfrm>
            <a:off x="457200" y="676656"/>
            <a:ext cx="8229600" cy="640080"/>
          </a:xfrm>
          <a:prstGeom prst="rect">
            <a:avLst/>
          </a:prstGeom>
          <a:noFill/>
          <a:ln/>
        </p:spPr>
        <p:txBody>
          <a:bodyPr wrap="square" lIns="0" tIns="0" rIns="0" bIns="0" rtlCol="0" anchor="t"/>
          <a:lstStyle/>
          <a:p>
            <a:pPr algn="l" indent="0" marL="0">
              <a:buNone/>
            </a:pPr>
            <a:r>
              <a:rPr lang="en-US" sz="1900" b="1" dirty="0">
                <a:solidFill>
                  <a:schemeClr val="tx1"/>
                </a:solidFill>
              </a:rPr>
              <a:t>The two-layer network (64-32) had the lowest validation error; the largest network over-fitted the tuning trips</a:t>
            </a:r>
            <a:endParaRPr lang="en-US" sz="1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4937760" cy="914400"/>
        </p:xfrm>
        <a:graphic>
          <a:graphicData uri="http://schemas.openxmlformats.org/drawingml/2006/table">
            <a:tbl>
              <a:tblPr/>
              <a:tblGrid>
                <a:gridCol w="1645920"/>
                <a:gridCol w="1463040"/>
                <a:gridCol w="1828800"/>
              </a:tblGrid>
              <a:tr h="384048">
                <a:tc>
                  <a:txBody>
                    <a:bodyPr/>
                    <a:lstStyle/>
                    <a:p>
                      <a:pPr indent="0" marL="0">
                        <a:buNone/>
                      </a:pPr>
                      <a:r>
                        <a:rPr lang="en-US" sz="1200" b="1" dirty="0">
                          <a:solidFill>
                            <a:srgbClr val="FFFFFF"/>
                          </a:solidFill>
                        </a:rPr>
                        <a:t>Hidden layers</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232A33"/>
                    </a:solidFill>
                  </a:tcPr>
                </a:tc>
                <a:tc>
                  <a:txBody>
                    <a:bodyPr/>
                    <a:lstStyle/>
                    <a:p>
                      <a:pPr indent="0" marL="0">
                        <a:buNone/>
                      </a:pPr>
                      <a:r>
                        <a:rPr lang="en-US" sz="1200" b="1" dirty="0">
                          <a:solidFill>
                            <a:srgbClr val="FFFFFF"/>
                          </a:solidFill>
                        </a:rPr>
                        <a:t>Penalty α</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232A33"/>
                    </a:solidFill>
                  </a:tcPr>
                </a:tc>
                <a:tc>
                  <a:txBody>
                    <a:bodyPr/>
                    <a:lstStyle/>
                    <a:p>
                      <a:pPr indent="0" marL="0">
                        <a:buNone/>
                      </a:pPr>
                      <a:r>
                        <a:rPr lang="en-US" sz="1200" b="1" dirty="0">
                          <a:solidFill>
                            <a:srgbClr val="FFFFFF"/>
                          </a:solidFill>
                        </a:rPr>
                        <a:t>Validation MAE</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232A33"/>
                    </a:solidFill>
                  </a:tcPr>
                </a:tc>
              </a:tr>
              <a:tr h="384048">
                <a:tc>
                  <a:txBody>
                    <a:bodyPr/>
                    <a:lstStyle/>
                    <a:p>
                      <a:pPr indent="0" marL="0">
                        <a:buNone/>
                      </a:pPr>
                      <a:r>
                        <a:rPr lang="en-US" sz="1200" b="1" dirty="0">
                          <a:solidFill>
                            <a:srgbClr val="1E242C"/>
                          </a:solidFill>
                        </a:rPr>
                        <a:t>64-32</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CEBB3"/>
                    </a:solidFill>
                  </a:tcPr>
                </a:tc>
                <a:tc>
                  <a:txBody>
                    <a:bodyPr/>
                    <a:lstStyle/>
                    <a:p>
                      <a:pPr indent="0" marL="0">
                        <a:buNone/>
                      </a:pPr>
                      <a:r>
                        <a:rPr lang="en-US" sz="1200" b="1" dirty="0">
                          <a:solidFill>
                            <a:srgbClr val="1E242C"/>
                          </a:solidFill>
                        </a:rPr>
                        <a:t>0.0001</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CEBB3"/>
                    </a:solidFill>
                  </a:tcPr>
                </a:tc>
                <a:tc>
                  <a:txBody>
                    <a:bodyPr/>
                    <a:lstStyle/>
                    <a:p>
                      <a:pPr indent="0" marL="0">
                        <a:buNone/>
                      </a:pPr>
                      <a:r>
                        <a:rPr lang="en-US" sz="1200" b="1" dirty="0">
                          <a:solidFill>
                            <a:srgbClr val="1E242C"/>
                          </a:solidFill>
                        </a:rPr>
                        <a:t>$2.150  (chosen)</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CEBB3"/>
                    </a:solidFill>
                  </a:tcPr>
                </a:tc>
              </a:tr>
              <a:tr h="384048">
                <a:tc>
                  <a:txBody>
                    <a:bodyPr/>
                    <a:lstStyle/>
                    <a:p>
                      <a:pPr indent="0" marL="0">
                        <a:buNone/>
                      </a:pPr>
                      <a:r>
                        <a:rPr lang="en-US" sz="1200" dirty="0">
                          <a:solidFill>
                            <a:srgbClr val="1E242C"/>
                          </a:solidFill>
                        </a:rPr>
                        <a:t>64-32</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FFFFF"/>
                    </a:solidFill>
                  </a:tcPr>
                </a:tc>
                <a:tc>
                  <a:txBody>
                    <a:bodyPr/>
                    <a:lstStyle/>
                    <a:p>
                      <a:pPr indent="0" marL="0">
                        <a:buNone/>
                      </a:pPr>
                      <a:r>
                        <a:rPr lang="en-US" sz="1200" dirty="0">
                          <a:solidFill>
                            <a:srgbClr val="1E242C"/>
                          </a:solidFill>
                        </a:rPr>
                        <a:t>0.01</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FFFFF"/>
                    </a:solidFill>
                  </a:tcPr>
                </a:tc>
                <a:tc>
                  <a:txBody>
                    <a:bodyPr/>
                    <a:lstStyle/>
                    <a:p>
                      <a:pPr indent="0" marL="0">
                        <a:buNone/>
                      </a:pPr>
                      <a:r>
                        <a:rPr lang="en-US" sz="1200" dirty="0">
                          <a:solidFill>
                            <a:srgbClr val="1E242C"/>
                          </a:solidFill>
                        </a:rPr>
                        <a:t>$2.222</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E242C"/>
                          </a:solidFill>
                        </a:rPr>
                        <a:t>32</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1F3F5"/>
                    </a:solidFill>
                  </a:tcPr>
                </a:tc>
                <a:tc>
                  <a:txBody>
                    <a:bodyPr/>
                    <a:lstStyle/>
                    <a:p>
                      <a:pPr indent="0" marL="0">
                        <a:buNone/>
                      </a:pPr>
                      <a:r>
                        <a:rPr lang="en-US" sz="1200" dirty="0">
                          <a:solidFill>
                            <a:srgbClr val="1E242C"/>
                          </a:solidFill>
                        </a:rPr>
                        <a:t>0.01</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1F3F5"/>
                    </a:solidFill>
                  </a:tcPr>
                </a:tc>
                <a:tc>
                  <a:txBody>
                    <a:bodyPr/>
                    <a:lstStyle/>
                    <a:p>
                      <a:pPr indent="0" marL="0">
                        <a:buNone/>
                      </a:pPr>
                      <a:r>
                        <a:rPr lang="en-US" sz="1200" dirty="0">
                          <a:solidFill>
                            <a:srgbClr val="1E242C"/>
                          </a:solidFill>
                        </a:rPr>
                        <a:t>$2.224</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1F3F5"/>
                    </a:solidFill>
                  </a:tcPr>
                </a:tc>
              </a:tr>
              <a:tr h="384048">
                <a:tc>
                  <a:txBody>
                    <a:bodyPr/>
                    <a:lstStyle/>
                    <a:p>
                      <a:pPr indent="0" marL="0">
                        <a:buNone/>
                      </a:pPr>
                      <a:r>
                        <a:rPr lang="en-US" sz="1200" dirty="0">
                          <a:solidFill>
                            <a:srgbClr val="1E242C"/>
                          </a:solidFill>
                        </a:rPr>
                        <a:t>32</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FFFFF"/>
                    </a:solidFill>
                  </a:tcPr>
                </a:tc>
                <a:tc>
                  <a:txBody>
                    <a:bodyPr/>
                    <a:lstStyle/>
                    <a:p>
                      <a:pPr indent="0" marL="0">
                        <a:buNone/>
                      </a:pPr>
                      <a:r>
                        <a:rPr lang="en-US" sz="1200" dirty="0">
                          <a:solidFill>
                            <a:srgbClr val="1E242C"/>
                          </a:solidFill>
                        </a:rPr>
                        <a:t>0.0001</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FFFFF"/>
                    </a:solidFill>
                  </a:tcPr>
                </a:tc>
                <a:tc>
                  <a:txBody>
                    <a:bodyPr/>
                    <a:lstStyle/>
                    <a:p>
                      <a:pPr indent="0" marL="0">
                        <a:buNone/>
                      </a:pPr>
                      <a:r>
                        <a:rPr lang="en-US" sz="1200" dirty="0">
                          <a:solidFill>
                            <a:srgbClr val="1E242C"/>
                          </a:solidFill>
                        </a:rPr>
                        <a:t>$2.237</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E242C"/>
                          </a:solidFill>
                        </a:rPr>
                        <a:t>128-64-32</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1F3F5"/>
                    </a:solidFill>
                  </a:tcPr>
                </a:tc>
                <a:tc>
                  <a:txBody>
                    <a:bodyPr/>
                    <a:lstStyle/>
                    <a:p>
                      <a:pPr indent="0" marL="0">
                        <a:buNone/>
                      </a:pPr>
                      <a:r>
                        <a:rPr lang="en-US" sz="1200" dirty="0">
                          <a:solidFill>
                            <a:srgbClr val="1E242C"/>
                          </a:solidFill>
                        </a:rPr>
                        <a:t>0.01</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1F3F5"/>
                    </a:solidFill>
                  </a:tcPr>
                </a:tc>
                <a:tc>
                  <a:txBody>
                    <a:bodyPr/>
                    <a:lstStyle/>
                    <a:p>
                      <a:pPr indent="0" marL="0">
                        <a:buNone/>
                      </a:pPr>
                      <a:r>
                        <a:rPr lang="en-US" sz="1200" dirty="0">
                          <a:solidFill>
                            <a:srgbClr val="1E242C"/>
                          </a:solidFill>
                        </a:rPr>
                        <a:t>$2.281</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1F3F5"/>
                    </a:solidFill>
                  </a:tcPr>
                </a:tc>
              </a:tr>
              <a:tr h="384048">
                <a:tc>
                  <a:txBody>
                    <a:bodyPr/>
                    <a:lstStyle/>
                    <a:p>
                      <a:pPr indent="0" marL="0">
                        <a:buNone/>
                      </a:pPr>
                      <a:r>
                        <a:rPr lang="en-US" sz="1200" dirty="0">
                          <a:solidFill>
                            <a:srgbClr val="1E242C"/>
                          </a:solidFill>
                        </a:rPr>
                        <a:t>128-64-32</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FFFFF"/>
                    </a:solidFill>
                  </a:tcPr>
                </a:tc>
                <a:tc>
                  <a:txBody>
                    <a:bodyPr/>
                    <a:lstStyle/>
                    <a:p>
                      <a:pPr indent="0" marL="0">
                        <a:buNone/>
                      </a:pPr>
                      <a:r>
                        <a:rPr lang="en-US" sz="1200" dirty="0">
                          <a:solidFill>
                            <a:srgbClr val="1E242C"/>
                          </a:solidFill>
                        </a:rPr>
                        <a:t>0.0001</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FFFFF"/>
                    </a:solidFill>
                  </a:tcPr>
                </a:tc>
                <a:tc>
                  <a:txBody>
                    <a:bodyPr/>
                    <a:lstStyle/>
                    <a:p>
                      <a:pPr indent="0" marL="0">
                        <a:buNone/>
                      </a:pPr>
                      <a:r>
                        <a:rPr lang="en-US" sz="1200" dirty="0">
                          <a:solidFill>
                            <a:srgbClr val="1E242C"/>
                          </a:solidFill>
                        </a:rPr>
                        <a:t>$2.609</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FFFFF"/>
                    </a:solidFill>
                  </a:tcPr>
                </a:tc>
              </a:tr>
            </a:tbl>
          </a:graphicData>
        </a:graphic>
      </p:graphicFrame>
      <p:sp>
        <p:nvSpPr>
          <p:cNvPr id="20" name="appA-bullets"/>
          <p:cNvSpPr txBox="1"/>
          <p:nvPr/>
        </p:nvSpPr>
        <p:spPr>
          <a:xfrm>
            <a:off x="5669280" y="1508760"/>
            <a:ext cx="3017520" cy="3017520"/>
          </a:xfrm>
          <a:prstGeom prst="rect">
            <a:avLst/>
          </a:prstGeom>
          <a:noFill/>
          <a:ln/>
        </p:spPr>
        <p:txBody>
          <a:bodyPr wrap="square" lIns="0" tIns="0" rIns="0" bIns="0" rtlCol="0" anchor="t"/>
          <a:lstStyle/>
          <a:p>
            <a:pPr marL="177800" indent="-177800">
              <a:spcAft>
                <a:spcPts val="900"/>
              </a:spcAft>
              <a:buSzPct val="100000"/>
              <a:buChar char="•"/>
            </a:pPr>
            <a:r>
              <a:rPr lang="en-US" sz="1400" dirty="0">
                <a:solidFill>
                  <a:schemeClr val="tx1"/>
                </a:solidFill>
              </a:rPr>
              <a:t>Fit on 40,000 Jan 2019 – Jun 2023 trips, scored on 20,000 Jul–Sep 2023 trips</a:t>
            </a:r>
            <a:endParaRPr lang="en-US" sz="1400" dirty="0"/>
          </a:p>
          <a:p>
            <a:pPr marL="177800" indent="-177800">
              <a:spcAft>
                <a:spcPts val="900"/>
              </a:spcAft>
              <a:buSzPct val="100000"/>
              <a:buChar char="•"/>
            </a:pPr>
            <a:r>
              <a:rPr lang="en-US" sz="1400" dirty="0">
                <a:solidFill>
                  <a:schemeClr val="tx1"/>
                </a:solidFill>
              </a:rPr>
              <a:t>Final model stopped after 44 epochs (early stopping)</a:t>
            </a:r>
            <a:endParaRPr lang="en-US" sz="1400" dirty="0"/>
          </a:p>
          <a:p>
            <a:pPr marL="177800" indent="-177800">
              <a:spcAft>
                <a:spcPts val="900"/>
              </a:spcAft>
              <a:buSzPct val="100000"/>
              <a:buChar char="•"/>
            </a:pPr>
            <a:r>
              <a:rPr lang="en-US" sz="1400" dirty="0">
                <a:solidFill>
                  <a:schemeClr val="tx1"/>
                </a:solidFill>
              </a:rPr>
              <a:t>Training MAE $1.79 vs test $2.29</a:t>
            </a:r>
            <a:endParaRPr lang="en-US" sz="1400" dirty="0"/>
          </a:p>
          <a:p>
            <a:pPr marL="177800" indent="-177800">
              <a:spcAft>
                <a:spcPts val="900"/>
              </a:spcAft>
              <a:buSzPct val="100000"/>
              <a:buChar char="•"/>
            </a:pPr>
            <a:r>
              <a:rPr lang="en-US" sz="1400" dirty="0">
                <a:solidFill>
                  <a:schemeClr val="tx1"/>
                </a:solidFill>
              </a:rPr>
              <a:t>Predicts 93,000 trips in under 0.1 seconds</a:t>
            </a:r>
            <a:endParaRPr lang="en-US" sz="1400" dirty="0"/>
          </a:p>
        </p:txBody>
      </p:sp>
      <p:sp>
        <p:nvSpPr>
          <p:cNvPr id="21" name="citation"/>
          <p:cNvSpPr txBox="1"/>
          <p:nvPr/>
        </p:nvSpPr>
        <p:spPr>
          <a:xfrm>
            <a:off x="457200" y="4754880"/>
            <a:ext cx="7680960" cy="256032"/>
          </a:xfrm>
          <a:prstGeom prst="rect">
            <a:avLst/>
          </a:prstGeom>
          <a:noFill/>
          <a:ln/>
        </p:spPr>
        <p:txBody>
          <a:bodyPr wrap="square" lIns="0" tIns="0" rIns="0" bIns="0" rtlCol="0" anchor="ctr"/>
          <a:lstStyle/>
          <a:p>
            <a:pPr indent="0" marL="0">
              <a:buNone/>
            </a:pPr>
            <a:r>
              <a:rPr lang="en-US" sz="1050" dirty="0">
                <a:solidFill>
                  <a:srgbClr val="5F6772"/>
                </a:solidFill>
              </a:rPr>
              <a:t>MLPRegressor, scikit-learn (Pedregosa et al., 2011). ReLU, Adam optimiser, batch size 512.</a:t>
            </a:r>
            <a:endParaRPr lang="en-US" sz="1050" dirty="0"/>
          </a:p>
        </p:txBody>
      </p:sp>
      <p:sp>
        <p:nvSpPr>
          <p:cNvPr id="25" name="Slide Number Placeholder 0"/>
          <p:cNvSpPr>
            <a:spLocks noGrp="1"/>
          </p:cNvSpPr>
          <p:nvPr>
            <p:ph type="sldNum" sz="quarter" idx="4294967295"/>
          </p:nvPr>
        </p:nvSpPr>
        <p:spPr>
          <a:xfrm>
            <a:off x="8275320" y="4754880"/>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77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nav-Agenda"/>
          <p:cNvSpPr txBox="1"/>
          <p:nvPr/>
        </p:nvSpPr>
        <p:spPr>
          <a:xfrm>
            <a:off x="457200" y="118872"/>
            <a:ext cx="713232" cy="256032"/>
          </a:xfrm>
          <a:prstGeom prst="rect">
            <a:avLst/>
          </a:prstGeom>
          <a:noFill/>
          <a:ln/>
        </p:spPr>
        <p:txBody>
          <a:bodyPr wrap="square" lIns="0" tIns="0" rIns="0" bIns="0" rtlCol="0" anchor="ctr"/>
          <a:lstStyle/>
          <a:p>
            <a:pPr algn="ctr" indent="0" marL="0">
              <a:buNone/>
            </a:pPr>
            <a:r>
              <a:rPr lang="en-US" sz="1050" dirty="0">
                <a:solidFill>
                  <a:srgbClr val="5F6772"/>
                </a:solidFill>
              </a:rPr>
              <a:t>Agenda</a:t>
            </a:r>
            <a:endParaRPr lang="en-US" sz="1050" dirty="0"/>
          </a:p>
        </p:txBody>
      </p:sp>
      <p:sp>
        <p:nvSpPr>
          <p:cNvPr id="3" name="nav-link-Agenda">
            <a:hlinkClick r:id="rId1" tooltip="Go to Agenda" action="ppaction://hlinksldjump"/>
          </p:cNvPr>
          <p:cNvSpPr/>
          <p:nvPr/>
        </p:nvSpPr>
        <p:spPr>
          <a:xfrm>
            <a:off x="457200" y="118872"/>
            <a:ext cx="713232" cy="256032"/>
          </a:xfrm>
          <a:prstGeom prst="rect">
            <a:avLst/>
          </a:prstGeom>
          <a:solidFill>
            <a:srgbClr val="FFFFFF">
              <a:alpha val="0"/>
            </a:srgbClr>
          </a:solidFill>
          <a:ln/>
        </p:spPr>
      </p:sp>
      <p:sp>
        <p:nvSpPr>
          <p:cNvPr id="4" name="nav-Question"/>
          <p:cNvSpPr txBox="1"/>
          <p:nvPr/>
        </p:nvSpPr>
        <p:spPr>
          <a:xfrm>
            <a:off x="1225296" y="118872"/>
            <a:ext cx="822960" cy="256032"/>
          </a:xfrm>
          <a:prstGeom prst="rect">
            <a:avLst/>
          </a:prstGeom>
          <a:noFill/>
          <a:ln/>
        </p:spPr>
        <p:txBody>
          <a:bodyPr wrap="square" lIns="0" tIns="0" rIns="0" bIns="0" rtlCol="0" anchor="ctr"/>
          <a:lstStyle/>
          <a:p>
            <a:pPr algn="ctr" indent="0" marL="0">
              <a:buNone/>
            </a:pPr>
            <a:r>
              <a:rPr lang="en-US" sz="1050" dirty="0">
                <a:solidFill>
                  <a:srgbClr val="5F6772"/>
                </a:solidFill>
              </a:rPr>
              <a:t>Question</a:t>
            </a:r>
            <a:endParaRPr lang="en-US" sz="1050" dirty="0"/>
          </a:p>
        </p:txBody>
      </p:sp>
      <p:sp>
        <p:nvSpPr>
          <p:cNvPr id="5" name="nav-link-Question">
            <a:hlinkClick r:id="rId2" tooltip="Go to Question" action="ppaction://hlinksldjump"/>
          </p:cNvPr>
          <p:cNvSpPr/>
          <p:nvPr/>
        </p:nvSpPr>
        <p:spPr>
          <a:xfrm>
            <a:off x="1225296" y="118872"/>
            <a:ext cx="822960" cy="256032"/>
          </a:xfrm>
          <a:prstGeom prst="rect">
            <a:avLst/>
          </a:prstGeom>
          <a:solidFill>
            <a:srgbClr val="FFFFFF">
              <a:alpha val="0"/>
            </a:srgbClr>
          </a:solidFill>
          <a:ln/>
        </p:spPr>
      </p:sp>
      <p:sp>
        <p:nvSpPr>
          <p:cNvPr id="6" name="nav-Data"/>
          <p:cNvSpPr txBox="1"/>
          <p:nvPr/>
        </p:nvSpPr>
        <p:spPr>
          <a:xfrm>
            <a:off x="2103120" y="118872"/>
            <a:ext cx="566928" cy="256032"/>
          </a:xfrm>
          <a:prstGeom prst="rect">
            <a:avLst/>
          </a:prstGeom>
          <a:noFill/>
          <a:ln/>
        </p:spPr>
        <p:txBody>
          <a:bodyPr wrap="square" lIns="0" tIns="0" rIns="0" bIns="0" rtlCol="0" anchor="ctr"/>
          <a:lstStyle/>
          <a:p>
            <a:pPr algn="ctr" indent="0" marL="0">
              <a:buNone/>
            </a:pPr>
            <a:r>
              <a:rPr lang="en-US" sz="1050" dirty="0">
                <a:solidFill>
                  <a:srgbClr val="5F6772"/>
                </a:solidFill>
              </a:rPr>
              <a:t>Data</a:t>
            </a:r>
            <a:endParaRPr lang="en-US" sz="1050" dirty="0"/>
          </a:p>
        </p:txBody>
      </p:sp>
      <p:sp>
        <p:nvSpPr>
          <p:cNvPr id="7" name="nav-link-Data">
            <a:hlinkClick r:id="rId3" tooltip="Go to Data" action="ppaction://hlinksldjump"/>
          </p:cNvPr>
          <p:cNvSpPr/>
          <p:nvPr/>
        </p:nvSpPr>
        <p:spPr>
          <a:xfrm>
            <a:off x="2103120" y="118872"/>
            <a:ext cx="566928" cy="256032"/>
          </a:xfrm>
          <a:prstGeom prst="rect">
            <a:avLst/>
          </a:prstGeom>
          <a:solidFill>
            <a:srgbClr val="FFFFFF">
              <a:alpha val="0"/>
            </a:srgbClr>
          </a:solidFill>
          <a:ln/>
        </p:spPr>
      </p:sp>
      <p:sp>
        <p:nvSpPr>
          <p:cNvPr id="8" name="nav-Method"/>
          <p:cNvSpPr txBox="1"/>
          <p:nvPr/>
        </p:nvSpPr>
        <p:spPr>
          <a:xfrm>
            <a:off x="2724912" y="118872"/>
            <a:ext cx="713232" cy="256032"/>
          </a:xfrm>
          <a:prstGeom prst="rect">
            <a:avLst/>
          </a:prstGeom>
          <a:noFill/>
          <a:ln/>
        </p:spPr>
        <p:txBody>
          <a:bodyPr wrap="square" lIns="0" tIns="0" rIns="0" bIns="0" rtlCol="0" anchor="ctr"/>
          <a:lstStyle/>
          <a:p>
            <a:pPr algn="ctr" indent="0" marL="0">
              <a:buNone/>
            </a:pPr>
            <a:r>
              <a:rPr lang="en-US" sz="1050" dirty="0">
                <a:solidFill>
                  <a:srgbClr val="5F6772"/>
                </a:solidFill>
              </a:rPr>
              <a:t>Method</a:t>
            </a:r>
            <a:endParaRPr lang="en-US" sz="1050" dirty="0"/>
          </a:p>
        </p:txBody>
      </p:sp>
      <p:sp>
        <p:nvSpPr>
          <p:cNvPr id="9" name="nav-link-Method">
            <a:hlinkClick r:id="rId4" tooltip="Go to Method" action="ppaction://hlinksldjump"/>
          </p:cNvPr>
          <p:cNvSpPr/>
          <p:nvPr/>
        </p:nvSpPr>
        <p:spPr>
          <a:xfrm>
            <a:off x="2724912" y="118872"/>
            <a:ext cx="713232" cy="256032"/>
          </a:xfrm>
          <a:prstGeom prst="rect">
            <a:avLst/>
          </a:prstGeom>
          <a:solidFill>
            <a:srgbClr val="FFFFFF">
              <a:alpha val="0"/>
            </a:srgbClr>
          </a:solidFill>
          <a:ln/>
        </p:spPr>
      </p:sp>
      <p:sp>
        <p:nvSpPr>
          <p:cNvPr id="10" name="nav-Results"/>
          <p:cNvSpPr txBox="1"/>
          <p:nvPr/>
        </p:nvSpPr>
        <p:spPr>
          <a:xfrm>
            <a:off x="3493008" y="118872"/>
            <a:ext cx="731520" cy="256032"/>
          </a:xfrm>
          <a:prstGeom prst="rect">
            <a:avLst/>
          </a:prstGeom>
          <a:noFill/>
          <a:ln/>
        </p:spPr>
        <p:txBody>
          <a:bodyPr wrap="square" lIns="0" tIns="0" rIns="0" bIns="0" rtlCol="0" anchor="ctr"/>
          <a:lstStyle/>
          <a:p>
            <a:pPr algn="ctr" indent="0" marL="0">
              <a:buNone/>
            </a:pPr>
            <a:r>
              <a:rPr lang="en-US" sz="1050" dirty="0">
                <a:solidFill>
                  <a:srgbClr val="5F6772"/>
                </a:solidFill>
              </a:rPr>
              <a:t>Results</a:t>
            </a:r>
            <a:endParaRPr lang="en-US" sz="1050" dirty="0"/>
          </a:p>
        </p:txBody>
      </p:sp>
      <p:sp>
        <p:nvSpPr>
          <p:cNvPr id="11" name="nav-link-Results">
            <a:hlinkClick r:id="rId5" tooltip="Go to Results" action="ppaction://hlinksldjump"/>
          </p:cNvPr>
          <p:cNvSpPr/>
          <p:nvPr/>
        </p:nvSpPr>
        <p:spPr>
          <a:xfrm>
            <a:off x="3493008" y="118872"/>
            <a:ext cx="731520" cy="256032"/>
          </a:xfrm>
          <a:prstGeom prst="rect">
            <a:avLst/>
          </a:prstGeom>
          <a:solidFill>
            <a:srgbClr val="FFFFFF">
              <a:alpha val="0"/>
            </a:srgbClr>
          </a:solidFill>
          <a:ln/>
        </p:spPr>
      </p:sp>
      <p:sp>
        <p:nvSpPr>
          <p:cNvPr id="12" name="nav-Wrap-up"/>
          <p:cNvSpPr txBox="1"/>
          <p:nvPr/>
        </p:nvSpPr>
        <p:spPr>
          <a:xfrm>
            <a:off x="4279392" y="118872"/>
            <a:ext cx="786384" cy="256032"/>
          </a:xfrm>
          <a:prstGeom prst="rect">
            <a:avLst/>
          </a:prstGeom>
          <a:noFill/>
          <a:ln/>
        </p:spPr>
        <p:txBody>
          <a:bodyPr wrap="square" lIns="0" tIns="0" rIns="0" bIns="0" rtlCol="0" anchor="ctr"/>
          <a:lstStyle/>
          <a:p>
            <a:pPr algn="ctr" indent="0" marL="0">
              <a:buNone/>
            </a:pPr>
            <a:r>
              <a:rPr lang="en-US" sz="1050" dirty="0">
                <a:solidFill>
                  <a:srgbClr val="5F6772"/>
                </a:solidFill>
              </a:rPr>
              <a:t>Wrap-up</a:t>
            </a:r>
            <a:endParaRPr lang="en-US" sz="1050" dirty="0"/>
          </a:p>
        </p:txBody>
      </p:sp>
      <p:sp>
        <p:nvSpPr>
          <p:cNvPr id="13" name="nav-link-Wrap-up">
            <a:hlinkClick r:id="rId6" tooltip="Go to Wrap-up" action="ppaction://hlinksldjump"/>
          </p:cNvPr>
          <p:cNvSpPr/>
          <p:nvPr/>
        </p:nvSpPr>
        <p:spPr>
          <a:xfrm>
            <a:off x="4279392" y="118872"/>
            <a:ext cx="786384" cy="256032"/>
          </a:xfrm>
          <a:prstGeom prst="rect">
            <a:avLst/>
          </a:prstGeom>
          <a:solidFill>
            <a:srgbClr val="FFFFFF">
              <a:alpha val="0"/>
            </a:srgbClr>
          </a:solidFill>
          <a:ln/>
        </p:spPr>
      </p:sp>
      <p:sp>
        <p:nvSpPr>
          <p:cNvPr id="14" name="nav-pill-Appendix"/>
          <p:cNvSpPr/>
          <p:nvPr/>
        </p:nvSpPr>
        <p:spPr>
          <a:xfrm>
            <a:off x="5120640" y="118872"/>
            <a:ext cx="859536" cy="256032"/>
          </a:xfrm>
          <a:prstGeom prst="roundRect">
            <a:avLst>
              <a:gd name="adj" fmla="val 50000"/>
            </a:avLst>
          </a:prstGeom>
          <a:solidFill>
            <a:srgbClr val="F2B705"/>
          </a:solidFill>
          <a:ln w="6350">
            <a:solidFill>
              <a:srgbClr val="F2B705"/>
            </a:solidFill>
            <a:prstDash val="solid"/>
          </a:ln>
        </p:spPr>
      </p:sp>
      <p:sp>
        <p:nvSpPr>
          <p:cNvPr id="15" name="nav-Appendix"/>
          <p:cNvSpPr txBox="1"/>
          <p:nvPr/>
        </p:nvSpPr>
        <p:spPr>
          <a:xfrm>
            <a:off x="5120640" y="118872"/>
            <a:ext cx="859536" cy="256032"/>
          </a:xfrm>
          <a:prstGeom prst="rect">
            <a:avLst/>
          </a:prstGeom>
          <a:noFill/>
          <a:ln/>
        </p:spPr>
        <p:txBody>
          <a:bodyPr wrap="square" lIns="0" tIns="0" rIns="0" bIns="0" rtlCol="0" anchor="ctr"/>
          <a:lstStyle/>
          <a:p>
            <a:pPr algn="ctr" indent="0" marL="0">
              <a:buNone/>
            </a:pPr>
            <a:r>
              <a:rPr lang="en-US" sz="1050" b="1" dirty="0">
                <a:solidFill>
                  <a:schemeClr val="tx1"/>
                </a:solidFill>
              </a:rPr>
              <a:t>Appendix</a:t>
            </a:r>
            <a:endParaRPr lang="en-US" sz="1050" dirty="0"/>
          </a:p>
        </p:txBody>
      </p:sp>
      <p:sp>
        <p:nvSpPr>
          <p:cNvPr id="16" name="nav-link-Appendix">
            <a:hlinkClick r:id="rId7" tooltip="Go to Appendix" action="ppaction://hlinksldjump"/>
          </p:cNvPr>
          <p:cNvSpPr/>
          <p:nvPr/>
        </p:nvSpPr>
        <p:spPr>
          <a:xfrm>
            <a:off x="5120640" y="118872"/>
            <a:ext cx="859536" cy="256032"/>
          </a:xfrm>
          <a:prstGeom prst="rect">
            <a:avLst/>
          </a:prstGeom>
          <a:solidFill>
            <a:srgbClr val="FFFFFF">
              <a:alpha val="0"/>
            </a:srgbClr>
          </a:solidFill>
          <a:ln/>
        </p:spPr>
      </p:sp>
      <p:sp>
        <p:nvSpPr>
          <p:cNvPr id="17" name="appendix-label"/>
          <p:cNvSpPr txBox="1"/>
          <p:nvPr/>
        </p:nvSpPr>
        <p:spPr>
          <a:xfrm>
            <a:off x="457200" y="429768"/>
            <a:ext cx="8229600" cy="228600"/>
          </a:xfrm>
          <a:prstGeom prst="rect">
            <a:avLst/>
          </a:prstGeom>
          <a:noFill/>
          <a:ln/>
        </p:spPr>
        <p:txBody>
          <a:bodyPr wrap="square" lIns="0" tIns="0" rIns="0" bIns="0" rtlCol="0" anchor="ctr"/>
          <a:lstStyle/>
          <a:p>
            <a:pPr indent="0" marL="0">
              <a:buNone/>
            </a:pPr>
            <a:r>
              <a:rPr lang="en-US" sz="1100" i="1" dirty="0">
                <a:solidFill>
                  <a:srgbClr val="5F6772"/>
                </a:solidFill>
              </a:rPr>
              <a:t>Appendix B · Support vector machine</a:t>
            </a:r>
            <a:endParaRPr lang="en-US" sz="1100" dirty="0"/>
          </a:p>
        </p:txBody>
      </p:sp>
      <p:sp>
        <p:nvSpPr>
          <p:cNvPr id="18" name="Text 0"/>
          <p:cNvSpPr/>
          <p:nvPr>
            <p:ph idx="100" type="title" hasCustomPrompt="1"/>
          </p:nvPr>
        </p:nvSpPr>
        <p:spPr>
          <a:xfrm>
            <a:off x="457200" y="676656"/>
            <a:ext cx="8229600" cy="640080"/>
          </a:xfrm>
          <a:prstGeom prst="rect">
            <a:avLst/>
          </a:prstGeom>
          <a:noFill/>
          <a:ln/>
        </p:spPr>
        <p:txBody>
          <a:bodyPr wrap="square" lIns="0" tIns="0" rIns="0" bIns="0" rtlCol="0" anchor="t"/>
          <a:lstStyle/>
          <a:p>
            <a:pPr algn="l" indent="0" marL="0">
              <a:buNone/>
            </a:pPr>
            <a:r>
              <a:rPr lang="en-US" sz="1900" b="1" dirty="0">
                <a:solidFill>
                  <a:schemeClr val="tx1"/>
                </a:solidFill>
              </a:rPr>
              <a:t>Kernel SVR fit time grows about 4× per doubling of rows, so it is limited to 20,000 training trips</a:t>
            </a:r>
            <a:endParaRPr lang="en-US" sz="1900" dirty="0"/>
          </a:p>
        </p:txBody>
      </p:sp>
      <p:graphicFrame>
        <p:nvGraphicFramePr>
          <p:cNvPr id="19" name="chart-svr-time" descr=""/>
          <p:cNvGraphicFramePr/>
          <p:nvPr/>
        </p:nvGraphicFramePr>
        <p:xfrm>
          <a:off x="365760" y="1417320"/>
          <a:ext cx="4937760" cy="3200400"/>
        </p:xfrm>
        <a:graphic xmlns:a="http://schemas.openxmlformats.org/drawingml/2006/main">
          <a:graphicData uri="http://schemas.openxmlformats.org/drawingml/2006/chart">
            <c:chart xmlns:c="http://schemas.openxmlformats.org/drawingml/2006/chart" r:id="rId8"/>
          </a:graphicData>
        </a:graphic>
      </p:graphicFrame>
      <p:sp>
        <p:nvSpPr>
          <p:cNvPr id="20" name="appB-bullets"/>
          <p:cNvSpPr txBox="1"/>
          <p:nvPr/>
        </p:nvSpPr>
        <p:spPr>
          <a:xfrm>
            <a:off x="5577840" y="1508760"/>
            <a:ext cx="3108960" cy="3017520"/>
          </a:xfrm>
          <a:prstGeom prst="rect">
            <a:avLst/>
          </a:prstGeom>
          <a:noFill/>
          <a:ln/>
        </p:spPr>
        <p:txBody>
          <a:bodyPr wrap="square" lIns="0" tIns="0" rIns="0" bIns="0" rtlCol="0" anchor="t"/>
          <a:lstStyle/>
          <a:p>
            <a:pPr marL="177800" indent="-177800">
              <a:spcAft>
                <a:spcPts val="900"/>
              </a:spcAft>
              <a:buSzPct val="100000"/>
              <a:buChar char="•"/>
            </a:pPr>
            <a:r>
              <a:rPr lang="en-US" sz="1400" dirty="0">
                <a:solidFill>
                  <a:schemeClr val="tx1"/>
                </a:solidFill>
              </a:rPr>
              <a:t>Best: C = 100, γ = 0.005 (validation MAE $2.23)</a:t>
            </a:r>
            <a:endParaRPr lang="en-US" sz="1400" dirty="0"/>
          </a:p>
          <a:p>
            <a:pPr marL="177800" indent="-177800">
              <a:spcAft>
                <a:spcPts val="900"/>
              </a:spcAft>
              <a:buSzPct val="100000"/>
              <a:buChar char="•"/>
            </a:pPr>
            <a:r>
              <a:rPr lang="en-US" sz="1400" dirty="0">
                <a:solidFill>
                  <a:schemeClr val="tx1"/>
                </a:solidFill>
              </a:rPr>
              <a:t>13,005 of 20,000 rows became support vectors (65%)</a:t>
            </a:r>
            <a:endParaRPr lang="en-US" sz="1400" dirty="0"/>
          </a:p>
          <a:p>
            <a:pPr marL="177800" indent="-177800">
              <a:spcAft>
                <a:spcPts val="900"/>
              </a:spcAft>
              <a:buSzPct val="100000"/>
              <a:buChar char="•"/>
            </a:pPr>
            <a:r>
              <a:rPr lang="en-US" sz="1400" dirty="0">
                <a:solidFill>
                  <a:schemeClr val="tx1"/>
                </a:solidFill>
              </a:rPr>
              <a:t>Predicting 93,000 trips takes about 50 seconds</a:t>
            </a:r>
            <a:endParaRPr lang="en-US" sz="1400" dirty="0"/>
          </a:p>
          <a:p>
            <a:pPr marL="177800" indent="-177800">
              <a:spcAft>
                <a:spcPts val="900"/>
              </a:spcAft>
              <a:buSzPct val="100000"/>
              <a:buChar char="•"/>
            </a:pPr>
            <a:r>
              <a:rPr lang="en-US" sz="1400" dirty="0">
                <a:solidFill>
                  <a:schemeClr val="tx1"/>
                </a:solidFill>
              </a:rPr>
              <a:t>Linear SVR scales to 200k rows but scores $2.83</a:t>
            </a:r>
            <a:endParaRPr lang="en-US" sz="1400" dirty="0"/>
          </a:p>
        </p:txBody>
      </p:sp>
      <p:sp>
        <p:nvSpPr>
          <p:cNvPr id="21" name="citation"/>
          <p:cNvSpPr txBox="1"/>
          <p:nvPr/>
        </p:nvSpPr>
        <p:spPr>
          <a:xfrm>
            <a:off x="457200" y="4754880"/>
            <a:ext cx="7680960" cy="256032"/>
          </a:xfrm>
          <a:prstGeom prst="rect">
            <a:avLst/>
          </a:prstGeom>
          <a:noFill/>
          <a:ln/>
        </p:spPr>
        <p:txBody>
          <a:bodyPr wrap="square" lIns="0" tIns="0" rIns="0" bIns="0" rtlCol="0" anchor="ctr"/>
          <a:lstStyle/>
          <a:p>
            <a:pPr indent="0" marL="0">
              <a:buNone/>
            </a:pPr>
            <a:r>
              <a:rPr lang="en-US" sz="1050" dirty="0">
                <a:solidFill>
                  <a:srgbClr val="5F6772"/>
                </a:solidFill>
              </a:rPr>
              <a:t>SVR with RBF kernel, standardised target, ε = 0.05 (Drucker et al., 1997). Fit times vary by computer.</a:t>
            </a:r>
            <a:endParaRPr lang="en-US" sz="1050" dirty="0"/>
          </a:p>
        </p:txBody>
      </p:sp>
      <p:sp>
        <p:nvSpPr>
          <p:cNvPr id="25" name="Slide Number Placeholder 0"/>
          <p:cNvSpPr>
            <a:spLocks noGrp="1"/>
          </p:cNvSpPr>
          <p:nvPr>
            <p:ph type="sldNum" sz="quarter" idx="4294967295"/>
          </p:nvPr>
        </p:nvSpPr>
        <p:spPr>
          <a:xfrm>
            <a:off x="8275320" y="4754880"/>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77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nav-Agenda"/>
          <p:cNvSpPr txBox="1"/>
          <p:nvPr/>
        </p:nvSpPr>
        <p:spPr>
          <a:xfrm>
            <a:off x="457200" y="118872"/>
            <a:ext cx="713232" cy="256032"/>
          </a:xfrm>
          <a:prstGeom prst="rect">
            <a:avLst/>
          </a:prstGeom>
          <a:noFill/>
          <a:ln/>
        </p:spPr>
        <p:txBody>
          <a:bodyPr wrap="square" lIns="0" tIns="0" rIns="0" bIns="0" rtlCol="0" anchor="ctr"/>
          <a:lstStyle/>
          <a:p>
            <a:pPr algn="ctr" indent="0" marL="0">
              <a:buNone/>
            </a:pPr>
            <a:r>
              <a:rPr lang="en-US" sz="1050" dirty="0">
                <a:solidFill>
                  <a:srgbClr val="5F6772"/>
                </a:solidFill>
              </a:rPr>
              <a:t>Agenda</a:t>
            </a:r>
            <a:endParaRPr lang="en-US" sz="1050" dirty="0"/>
          </a:p>
        </p:txBody>
      </p:sp>
      <p:sp>
        <p:nvSpPr>
          <p:cNvPr id="3" name="nav-link-Agenda">
            <a:hlinkClick r:id="rId1" tooltip="Go to Agenda" action="ppaction://hlinksldjump"/>
          </p:cNvPr>
          <p:cNvSpPr/>
          <p:nvPr/>
        </p:nvSpPr>
        <p:spPr>
          <a:xfrm>
            <a:off x="457200" y="118872"/>
            <a:ext cx="713232" cy="256032"/>
          </a:xfrm>
          <a:prstGeom prst="rect">
            <a:avLst/>
          </a:prstGeom>
          <a:solidFill>
            <a:srgbClr val="FFFFFF">
              <a:alpha val="0"/>
            </a:srgbClr>
          </a:solidFill>
          <a:ln/>
        </p:spPr>
      </p:sp>
      <p:sp>
        <p:nvSpPr>
          <p:cNvPr id="4" name="nav-Question"/>
          <p:cNvSpPr txBox="1"/>
          <p:nvPr/>
        </p:nvSpPr>
        <p:spPr>
          <a:xfrm>
            <a:off x="1225296" y="118872"/>
            <a:ext cx="822960" cy="256032"/>
          </a:xfrm>
          <a:prstGeom prst="rect">
            <a:avLst/>
          </a:prstGeom>
          <a:noFill/>
          <a:ln/>
        </p:spPr>
        <p:txBody>
          <a:bodyPr wrap="square" lIns="0" tIns="0" rIns="0" bIns="0" rtlCol="0" anchor="ctr"/>
          <a:lstStyle/>
          <a:p>
            <a:pPr algn="ctr" indent="0" marL="0">
              <a:buNone/>
            </a:pPr>
            <a:r>
              <a:rPr lang="en-US" sz="1050" dirty="0">
                <a:solidFill>
                  <a:srgbClr val="5F6772"/>
                </a:solidFill>
              </a:rPr>
              <a:t>Question</a:t>
            </a:r>
            <a:endParaRPr lang="en-US" sz="1050" dirty="0"/>
          </a:p>
        </p:txBody>
      </p:sp>
      <p:sp>
        <p:nvSpPr>
          <p:cNvPr id="5" name="nav-link-Question">
            <a:hlinkClick r:id="rId2" tooltip="Go to Question" action="ppaction://hlinksldjump"/>
          </p:cNvPr>
          <p:cNvSpPr/>
          <p:nvPr/>
        </p:nvSpPr>
        <p:spPr>
          <a:xfrm>
            <a:off x="1225296" y="118872"/>
            <a:ext cx="822960" cy="256032"/>
          </a:xfrm>
          <a:prstGeom prst="rect">
            <a:avLst/>
          </a:prstGeom>
          <a:solidFill>
            <a:srgbClr val="FFFFFF">
              <a:alpha val="0"/>
            </a:srgbClr>
          </a:solidFill>
          <a:ln/>
        </p:spPr>
      </p:sp>
      <p:sp>
        <p:nvSpPr>
          <p:cNvPr id="6" name="nav-Data"/>
          <p:cNvSpPr txBox="1"/>
          <p:nvPr/>
        </p:nvSpPr>
        <p:spPr>
          <a:xfrm>
            <a:off x="2103120" y="118872"/>
            <a:ext cx="566928" cy="256032"/>
          </a:xfrm>
          <a:prstGeom prst="rect">
            <a:avLst/>
          </a:prstGeom>
          <a:noFill/>
          <a:ln/>
        </p:spPr>
        <p:txBody>
          <a:bodyPr wrap="square" lIns="0" tIns="0" rIns="0" bIns="0" rtlCol="0" anchor="ctr"/>
          <a:lstStyle/>
          <a:p>
            <a:pPr algn="ctr" indent="0" marL="0">
              <a:buNone/>
            </a:pPr>
            <a:r>
              <a:rPr lang="en-US" sz="1050" dirty="0">
                <a:solidFill>
                  <a:srgbClr val="5F6772"/>
                </a:solidFill>
              </a:rPr>
              <a:t>Data</a:t>
            </a:r>
            <a:endParaRPr lang="en-US" sz="1050" dirty="0"/>
          </a:p>
        </p:txBody>
      </p:sp>
      <p:sp>
        <p:nvSpPr>
          <p:cNvPr id="7" name="nav-link-Data">
            <a:hlinkClick r:id="rId3" tooltip="Go to Data" action="ppaction://hlinksldjump"/>
          </p:cNvPr>
          <p:cNvSpPr/>
          <p:nvPr/>
        </p:nvSpPr>
        <p:spPr>
          <a:xfrm>
            <a:off x="2103120" y="118872"/>
            <a:ext cx="566928" cy="256032"/>
          </a:xfrm>
          <a:prstGeom prst="rect">
            <a:avLst/>
          </a:prstGeom>
          <a:solidFill>
            <a:srgbClr val="FFFFFF">
              <a:alpha val="0"/>
            </a:srgbClr>
          </a:solidFill>
          <a:ln/>
        </p:spPr>
      </p:sp>
      <p:sp>
        <p:nvSpPr>
          <p:cNvPr id="8" name="nav-Method"/>
          <p:cNvSpPr txBox="1"/>
          <p:nvPr/>
        </p:nvSpPr>
        <p:spPr>
          <a:xfrm>
            <a:off x="2724912" y="118872"/>
            <a:ext cx="713232" cy="256032"/>
          </a:xfrm>
          <a:prstGeom prst="rect">
            <a:avLst/>
          </a:prstGeom>
          <a:noFill/>
          <a:ln/>
        </p:spPr>
        <p:txBody>
          <a:bodyPr wrap="square" lIns="0" tIns="0" rIns="0" bIns="0" rtlCol="0" anchor="ctr"/>
          <a:lstStyle/>
          <a:p>
            <a:pPr algn="ctr" indent="0" marL="0">
              <a:buNone/>
            </a:pPr>
            <a:r>
              <a:rPr lang="en-US" sz="1050" dirty="0">
                <a:solidFill>
                  <a:srgbClr val="5F6772"/>
                </a:solidFill>
              </a:rPr>
              <a:t>Method</a:t>
            </a:r>
            <a:endParaRPr lang="en-US" sz="1050" dirty="0"/>
          </a:p>
        </p:txBody>
      </p:sp>
      <p:sp>
        <p:nvSpPr>
          <p:cNvPr id="9" name="nav-link-Method">
            <a:hlinkClick r:id="rId4" tooltip="Go to Method" action="ppaction://hlinksldjump"/>
          </p:cNvPr>
          <p:cNvSpPr/>
          <p:nvPr/>
        </p:nvSpPr>
        <p:spPr>
          <a:xfrm>
            <a:off x="2724912" y="118872"/>
            <a:ext cx="713232" cy="256032"/>
          </a:xfrm>
          <a:prstGeom prst="rect">
            <a:avLst/>
          </a:prstGeom>
          <a:solidFill>
            <a:srgbClr val="FFFFFF">
              <a:alpha val="0"/>
            </a:srgbClr>
          </a:solidFill>
          <a:ln/>
        </p:spPr>
      </p:sp>
      <p:sp>
        <p:nvSpPr>
          <p:cNvPr id="10" name="nav-Results"/>
          <p:cNvSpPr txBox="1"/>
          <p:nvPr/>
        </p:nvSpPr>
        <p:spPr>
          <a:xfrm>
            <a:off x="3493008" y="118872"/>
            <a:ext cx="731520" cy="256032"/>
          </a:xfrm>
          <a:prstGeom prst="rect">
            <a:avLst/>
          </a:prstGeom>
          <a:noFill/>
          <a:ln/>
        </p:spPr>
        <p:txBody>
          <a:bodyPr wrap="square" lIns="0" tIns="0" rIns="0" bIns="0" rtlCol="0" anchor="ctr"/>
          <a:lstStyle/>
          <a:p>
            <a:pPr algn="ctr" indent="0" marL="0">
              <a:buNone/>
            </a:pPr>
            <a:r>
              <a:rPr lang="en-US" sz="1050" dirty="0">
                <a:solidFill>
                  <a:srgbClr val="5F6772"/>
                </a:solidFill>
              </a:rPr>
              <a:t>Results</a:t>
            </a:r>
            <a:endParaRPr lang="en-US" sz="1050" dirty="0"/>
          </a:p>
        </p:txBody>
      </p:sp>
      <p:sp>
        <p:nvSpPr>
          <p:cNvPr id="11" name="nav-link-Results">
            <a:hlinkClick r:id="rId5" tooltip="Go to Results" action="ppaction://hlinksldjump"/>
          </p:cNvPr>
          <p:cNvSpPr/>
          <p:nvPr/>
        </p:nvSpPr>
        <p:spPr>
          <a:xfrm>
            <a:off x="3493008" y="118872"/>
            <a:ext cx="731520" cy="256032"/>
          </a:xfrm>
          <a:prstGeom prst="rect">
            <a:avLst/>
          </a:prstGeom>
          <a:solidFill>
            <a:srgbClr val="FFFFFF">
              <a:alpha val="0"/>
            </a:srgbClr>
          </a:solidFill>
          <a:ln/>
        </p:spPr>
      </p:sp>
      <p:sp>
        <p:nvSpPr>
          <p:cNvPr id="12" name="nav-Wrap-up"/>
          <p:cNvSpPr txBox="1"/>
          <p:nvPr/>
        </p:nvSpPr>
        <p:spPr>
          <a:xfrm>
            <a:off x="4279392" y="118872"/>
            <a:ext cx="786384" cy="256032"/>
          </a:xfrm>
          <a:prstGeom prst="rect">
            <a:avLst/>
          </a:prstGeom>
          <a:noFill/>
          <a:ln/>
        </p:spPr>
        <p:txBody>
          <a:bodyPr wrap="square" lIns="0" tIns="0" rIns="0" bIns="0" rtlCol="0" anchor="ctr"/>
          <a:lstStyle/>
          <a:p>
            <a:pPr algn="ctr" indent="0" marL="0">
              <a:buNone/>
            </a:pPr>
            <a:r>
              <a:rPr lang="en-US" sz="1050" dirty="0">
                <a:solidFill>
                  <a:srgbClr val="5F6772"/>
                </a:solidFill>
              </a:rPr>
              <a:t>Wrap-up</a:t>
            </a:r>
            <a:endParaRPr lang="en-US" sz="1050" dirty="0"/>
          </a:p>
        </p:txBody>
      </p:sp>
      <p:sp>
        <p:nvSpPr>
          <p:cNvPr id="13" name="nav-link-Wrap-up">
            <a:hlinkClick r:id="rId6" tooltip="Go to Wrap-up" action="ppaction://hlinksldjump"/>
          </p:cNvPr>
          <p:cNvSpPr/>
          <p:nvPr/>
        </p:nvSpPr>
        <p:spPr>
          <a:xfrm>
            <a:off x="4279392" y="118872"/>
            <a:ext cx="786384" cy="256032"/>
          </a:xfrm>
          <a:prstGeom prst="rect">
            <a:avLst/>
          </a:prstGeom>
          <a:solidFill>
            <a:srgbClr val="FFFFFF">
              <a:alpha val="0"/>
            </a:srgbClr>
          </a:solidFill>
          <a:ln/>
        </p:spPr>
      </p:sp>
      <p:sp>
        <p:nvSpPr>
          <p:cNvPr id="14" name="nav-pill-Appendix"/>
          <p:cNvSpPr/>
          <p:nvPr/>
        </p:nvSpPr>
        <p:spPr>
          <a:xfrm>
            <a:off x="5120640" y="118872"/>
            <a:ext cx="859536" cy="256032"/>
          </a:xfrm>
          <a:prstGeom prst="roundRect">
            <a:avLst>
              <a:gd name="adj" fmla="val 50000"/>
            </a:avLst>
          </a:prstGeom>
          <a:solidFill>
            <a:srgbClr val="F2B705"/>
          </a:solidFill>
          <a:ln w="6350">
            <a:solidFill>
              <a:srgbClr val="F2B705"/>
            </a:solidFill>
            <a:prstDash val="solid"/>
          </a:ln>
        </p:spPr>
      </p:sp>
      <p:sp>
        <p:nvSpPr>
          <p:cNvPr id="15" name="nav-Appendix"/>
          <p:cNvSpPr txBox="1"/>
          <p:nvPr/>
        </p:nvSpPr>
        <p:spPr>
          <a:xfrm>
            <a:off x="5120640" y="118872"/>
            <a:ext cx="859536" cy="256032"/>
          </a:xfrm>
          <a:prstGeom prst="rect">
            <a:avLst/>
          </a:prstGeom>
          <a:noFill/>
          <a:ln/>
        </p:spPr>
        <p:txBody>
          <a:bodyPr wrap="square" lIns="0" tIns="0" rIns="0" bIns="0" rtlCol="0" anchor="ctr"/>
          <a:lstStyle/>
          <a:p>
            <a:pPr algn="ctr" indent="0" marL="0">
              <a:buNone/>
            </a:pPr>
            <a:r>
              <a:rPr lang="en-US" sz="1050" b="1" dirty="0">
                <a:solidFill>
                  <a:schemeClr val="tx1"/>
                </a:solidFill>
              </a:rPr>
              <a:t>Appendix</a:t>
            </a:r>
            <a:endParaRPr lang="en-US" sz="1050" dirty="0"/>
          </a:p>
        </p:txBody>
      </p:sp>
      <p:sp>
        <p:nvSpPr>
          <p:cNvPr id="16" name="nav-link-Appendix">
            <a:hlinkClick r:id="rId7" tooltip="Go to Appendix" action="ppaction://hlinksldjump"/>
          </p:cNvPr>
          <p:cNvSpPr/>
          <p:nvPr/>
        </p:nvSpPr>
        <p:spPr>
          <a:xfrm>
            <a:off x="5120640" y="118872"/>
            <a:ext cx="859536" cy="256032"/>
          </a:xfrm>
          <a:prstGeom prst="rect">
            <a:avLst/>
          </a:prstGeom>
          <a:solidFill>
            <a:srgbClr val="FFFFFF">
              <a:alpha val="0"/>
            </a:srgbClr>
          </a:solidFill>
          <a:ln/>
        </p:spPr>
      </p:sp>
      <p:sp>
        <p:nvSpPr>
          <p:cNvPr id="17" name="appendix-label"/>
          <p:cNvSpPr txBox="1"/>
          <p:nvPr/>
        </p:nvSpPr>
        <p:spPr>
          <a:xfrm>
            <a:off x="457200" y="429768"/>
            <a:ext cx="8229600" cy="228600"/>
          </a:xfrm>
          <a:prstGeom prst="rect">
            <a:avLst/>
          </a:prstGeom>
          <a:noFill/>
          <a:ln/>
        </p:spPr>
        <p:txBody>
          <a:bodyPr wrap="square" lIns="0" tIns="0" rIns="0" bIns="0" rtlCol="0" anchor="ctr"/>
          <a:lstStyle/>
          <a:p>
            <a:pPr indent="0" marL="0">
              <a:buNone/>
            </a:pPr>
            <a:r>
              <a:rPr lang="en-US" sz="1100" i="1" dirty="0">
                <a:solidFill>
                  <a:srgbClr val="5F6772"/>
                </a:solidFill>
              </a:rPr>
              <a:t>Appendix C · Random forest</a:t>
            </a:r>
            <a:endParaRPr lang="en-US" sz="1100" dirty="0"/>
          </a:p>
        </p:txBody>
      </p:sp>
      <p:sp>
        <p:nvSpPr>
          <p:cNvPr id="18" name="Text 0"/>
          <p:cNvSpPr/>
          <p:nvPr>
            <p:ph idx="100" type="title" hasCustomPrompt="1"/>
          </p:nvPr>
        </p:nvSpPr>
        <p:spPr>
          <a:xfrm>
            <a:off x="457200" y="676656"/>
            <a:ext cx="8229600" cy="640080"/>
          </a:xfrm>
          <a:prstGeom prst="rect">
            <a:avLst/>
          </a:prstGeom>
          <a:noFill/>
          <a:ln/>
        </p:spPr>
        <p:txBody>
          <a:bodyPr wrap="square" lIns="0" tIns="0" rIns="0" bIns="0" rtlCol="0" anchor="t"/>
          <a:lstStyle/>
          <a:p>
            <a:pPr algn="l" indent="0" marL="0">
              <a:buNone/>
            </a:pPr>
            <a:r>
              <a:rPr lang="en-US" sz="1900" b="1" dirty="0">
                <a:solidFill>
                  <a:schemeClr val="tx1"/>
                </a:solidFill>
              </a:rPr>
              <a:t>The random forest relies on distance and rate code; passenger count adds nothing</a:t>
            </a:r>
            <a:endParaRPr lang="en-US" sz="1900" dirty="0"/>
          </a:p>
        </p:txBody>
      </p:sp>
      <p:graphicFrame>
        <p:nvGraphicFramePr>
          <p:cNvPr id="19" name="chart-rf-importance" descr=""/>
          <p:cNvGraphicFramePr/>
          <p:nvPr/>
        </p:nvGraphicFramePr>
        <p:xfrm>
          <a:off x="365760" y="1371600"/>
          <a:ext cx="5120640" cy="3291840"/>
        </p:xfrm>
        <a:graphic xmlns:a="http://schemas.openxmlformats.org/drawingml/2006/main">
          <a:graphicData uri="http://schemas.openxmlformats.org/drawingml/2006/chart">
            <c:chart xmlns:c="http://schemas.openxmlformats.org/drawingml/2006/chart" r:id="rId8"/>
          </a:graphicData>
        </a:graphic>
      </p:graphicFrame>
      <p:sp>
        <p:nvSpPr>
          <p:cNvPr id="20" name="appC-bullets"/>
          <p:cNvSpPr txBox="1"/>
          <p:nvPr/>
        </p:nvSpPr>
        <p:spPr>
          <a:xfrm>
            <a:off x="5760720" y="1508760"/>
            <a:ext cx="2926080" cy="3017520"/>
          </a:xfrm>
          <a:prstGeom prst="rect">
            <a:avLst/>
          </a:prstGeom>
          <a:noFill/>
          <a:ln/>
        </p:spPr>
        <p:txBody>
          <a:bodyPr wrap="square" lIns="0" tIns="0" rIns="0" bIns="0" rtlCol="0" anchor="t"/>
          <a:lstStyle/>
          <a:p>
            <a:pPr marL="177800" indent="-177800">
              <a:spcAft>
                <a:spcPts val="900"/>
              </a:spcAft>
              <a:buSzPct val="100000"/>
              <a:buChar char="•"/>
            </a:pPr>
            <a:r>
              <a:rPr lang="en-US" sz="1350" dirty="0">
                <a:solidFill>
                  <a:schemeClr val="tx1"/>
                </a:solidFill>
              </a:rPr>
              <a:t>Bars: how much test MAE rises when one feature is shuffled</a:t>
            </a:r>
            <a:endParaRPr lang="en-US" sz="1350" dirty="0"/>
          </a:p>
          <a:p>
            <a:pPr marL="177800" indent="-177800">
              <a:spcAft>
                <a:spcPts val="900"/>
              </a:spcAft>
              <a:buSzPct val="100000"/>
              <a:buChar char="•"/>
            </a:pPr>
            <a:r>
              <a:rPr lang="en-US" sz="1350" dirty="0">
                <a:solidFill>
                  <a:schemeClr val="tx1"/>
                </a:solidFill>
              </a:rPr>
              <a:t>Grid search chose min. 5 trips per leaf and all features per split</a:t>
            </a:r>
            <a:endParaRPr lang="en-US" sz="1350" dirty="0"/>
          </a:p>
          <a:p>
            <a:pPr marL="177800" indent="-177800">
              <a:spcAft>
                <a:spcPts val="900"/>
              </a:spcAft>
              <a:buSzPct val="100000"/>
              <a:buChar char="•"/>
            </a:pPr>
            <a:r>
              <a:rPr lang="en-US" sz="1350" dirty="0">
                <a:solidFill>
                  <a:schemeClr val="tx1"/>
                </a:solidFill>
              </a:rPr>
              <a:t>Training MAE $1.32 vs test $2.20: some over-fitting</a:t>
            </a:r>
            <a:endParaRPr lang="en-US" sz="1350" dirty="0"/>
          </a:p>
          <a:p>
            <a:pPr marL="177800" indent="-177800">
              <a:spcAft>
                <a:spcPts val="900"/>
              </a:spcAft>
              <a:buSzPct val="100000"/>
              <a:buChar char="•"/>
            </a:pPr>
            <a:r>
              <a:rPr lang="en-US" sz="1350" dirty="0">
                <a:solidFill>
                  <a:schemeClr val="tx1"/>
                </a:solidFill>
              </a:rPr>
              <a:t>Year, month and tariff flag score 0: they barely vary within the test quarter</a:t>
            </a:r>
            <a:endParaRPr lang="en-US" sz="1350" dirty="0"/>
          </a:p>
        </p:txBody>
      </p:sp>
      <p:sp>
        <p:nvSpPr>
          <p:cNvPr id="21" name="citation"/>
          <p:cNvSpPr txBox="1"/>
          <p:nvPr/>
        </p:nvSpPr>
        <p:spPr>
          <a:xfrm>
            <a:off x="457200" y="4754880"/>
            <a:ext cx="7680960" cy="256032"/>
          </a:xfrm>
          <a:prstGeom prst="rect">
            <a:avLst/>
          </a:prstGeom>
          <a:noFill/>
          <a:ln/>
        </p:spPr>
        <p:txBody>
          <a:bodyPr wrap="square" lIns="0" tIns="0" rIns="0" bIns="0" rtlCol="0" anchor="ctr"/>
          <a:lstStyle/>
          <a:p>
            <a:pPr indent="0" marL="0">
              <a:buNone/>
            </a:pPr>
            <a:r>
              <a:rPr lang="en-US" sz="1050" dirty="0">
                <a:solidFill>
                  <a:srgbClr val="5F6772"/>
                </a:solidFill>
              </a:rPr>
              <a:t>Permutation importance on 20,000 random test trips, 3 repeats. Random forests: Breiman (2001).</a:t>
            </a:r>
            <a:endParaRPr lang="en-US" sz="1050" dirty="0"/>
          </a:p>
        </p:txBody>
      </p:sp>
      <p:sp>
        <p:nvSpPr>
          <p:cNvPr id="25" name="Slide Number Placeholder 0"/>
          <p:cNvSpPr>
            <a:spLocks noGrp="1"/>
          </p:cNvSpPr>
          <p:nvPr>
            <p:ph type="sldNum" sz="quarter" idx="4294967295"/>
          </p:nvPr>
        </p:nvSpPr>
        <p:spPr>
          <a:xfrm>
            <a:off x="8275320" y="4754880"/>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77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nav-Agenda"/>
          <p:cNvSpPr txBox="1"/>
          <p:nvPr/>
        </p:nvSpPr>
        <p:spPr>
          <a:xfrm>
            <a:off x="457200" y="118872"/>
            <a:ext cx="713232" cy="256032"/>
          </a:xfrm>
          <a:prstGeom prst="rect">
            <a:avLst/>
          </a:prstGeom>
          <a:noFill/>
          <a:ln/>
        </p:spPr>
        <p:txBody>
          <a:bodyPr wrap="square" lIns="0" tIns="0" rIns="0" bIns="0" rtlCol="0" anchor="ctr"/>
          <a:lstStyle/>
          <a:p>
            <a:pPr algn="ctr" indent="0" marL="0">
              <a:buNone/>
            </a:pPr>
            <a:r>
              <a:rPr lang="en-US" sz="1050" dirty="0">
                <a:solidFill>
                  <a:srgbClr val="5F6772"/>
                </a:solidFill>
              </a:rPr>
              <a:t>Agenda</a:t>
            </a:r>
            <a:endParaRPr lang="en-US" sz="1050" dirty="0"/>
          </a:p>
        </p:txBody>
      </p:sp>
      <p:sp>
        <p:nvSpPr>
          <p:cNvPr id="3" name="nav-link-Agenda">
            <a:hlinkClick r:id="rId1" tooltip="Go to Agenda" action="ppaction://hlinksldjump"/>
          </p:cNvPr>
          <p:cNvSpPr/>
          <p:nvPr/>
        </p:nvSpPr>
        <p:spPr>
          <a:xfrm>
            <a:off x="457200" y="118872"/>
            <a:ext cx="713232" cy="256032"/>
          </a:xfrm>
          <a:prstGeom prst="rect">
            <a:avLst/>
          </a:prstGeom>
          <a:solidFill>
            <a:srgbClr val="FFFFFF">
              <a:alpha val="0"/>
            </a:srgbClr>
          </a:solidFill>
          <a:ln/>
        </p:spPr>
      </p:sp>
      <p:sp>
        <p:nvSpPr>
          <p:cNvPr id="4" name="nav-Question"/>
          <p:cNvSpPr txBox="1"/>
          <p:nvPr/>
        </p:nvSpPr>
        <p:spPr>
          <a:xfrm>
            <a:off x="1225296" y="118872"/>
            <a:ext cx="822960" cy="256032"/>
          </a:xfrm>
          <a:prstGeom prst="rect">
            <a:avLst/>
          </a:prstGeom>
          <a:noFill/>
          <a:ln/>
        </p:spPr>
        <p:txBody>
          <a:bodyPr wrap="square" lIns="0" tIns="0" rIns="0" bIns="0" rtlCol="0" anchor="ctr"/>
          <a:lstStyle/>
          <a:p>
            <a:pPr algn="ctr" indent="0" marL="0">
              <a:buNone/>
            </a:pPr>
            <a:r>
              <a:rPr lang="en-US" sz="1050" dirty="0">
                <a:solidFill>
                  <a:srgbClr val="5F6772"/>
                </a:solidFill>
              </a:rPr>
              <a:t>Question</a:t>
            </a:r>
            <a:endParaRPr lang="en-US" sz="1050" dirty="0"/>
          </a:p>
        </p:txBody>
      </p:sp>
      <p:sp>
        <p:nvSpPr>
          <p:cNvPr id="5" name="nav-link-Question">
            <a:hlinkClick r:id="rId2" tooltip="Go to Question" action="ppaction://hlinksldjump"/>
          </p:cNvPr>
          <p:cNvSpPr/>
          <p:nvPr/>
        </p:nvSpPr>
        <p:spPr>
          <a:xfrm>
            <a:off x="1225296" y="118872"/>
            <a:ext cx="822960" cy="256032"/>
          </a:xfrm>
          <a:prstGeom prst="rect">
            <a:avLst/>
          </a:prstGeom>
          <a:solidFill>
            <a:srgbClr val="FFFFFF">
              <a:alpha val="0"/>
            </a:srgbClr>
          </a:solidFill>
          <a:ln/>
        </p:spPr>
      </p:sp>
      <p:sp>
        <p:nvSpPr>
          <p:cNvPr id="6" name="nav-Data"/>
          <p:cNvSpPr txBox="1"/>
          <p:nvPr/>
        </p:nvSpPr>
        <p:spPr>
          <a:xfrm>
            <a:off x="2103120" y="118872"/>
            <a:ext cx="566928" cy="256032"/>
          </a:xfrm>
          <a:prstGeom prst="rect">
            <a:avLst/>
          </a:prstGeom>
          <a:noFill/>
          <a:ln/>
        </p:spPr>
        <p:txBody>
          <a:bodyPr wrap="square" lIns="0" tIns="0" rIns="0" bIns="0" rtlCol="0" anchor="ctr"/>
          <a:lstStyle/>
          <a:p>
            <a:pPr algn="ctr" indent="0" marL="0">
              <a:buNone/>
            </a:pPr>
            <a:r>
              <a:rPr lang="en-US" sz="1050" dirty="0">
                <a:solidFill>
                  <a:srgbClr val="5F6772"/>
                </a:solidFill>
              </a:rPr>
              <a:t>Data</a:t>
            </a:r>
            <a:endParaRPr lang="en-US" sz="1050" dirty="0"/>
          </a:p>
        </p:txBody>
      </p:sp>
      <p:sp>
        <p:nvSpPr>
          <p:cNvPr id="7" name="nav-link-Data">
            <a:hlinkClick r:id="rId3" tooltip="Go to Data" action="ppaction://hlinksldjump"/>
          </p:cNvPr>
          <p:cNvSpPr/>
          <p:nvPr/>
        </p:nvSpPr>
        <p:spPr>
          <a:xfrm>
            <a:off x="2103120" y="118872"/>
            <a:ext cx="566928" cy="256032"/>
          </a:xfrm>
          <a:prstGeom prst="rect">
            <a:avLst/>
          </a:prstGeom>
          <a:solidFill>
            <a:srgbClr val="FFFFFF">
              <a:alpha val="0"/>
            </a:srgbClr>
          </a:solidFill>
          <a:ln/>
        </p:spPr>
      </p:sp>
      <p:sp>
        <p:nvSpPr>
          <p:cNvPr id="8" name="nav-Method"/>
          <p:cNvSpPr txBox="1"/>
          <p:nvPr/>
        </p:nvSpPr>
        <p:spPr>
          <a:xfrm>
            <a:off x="2724912" y="118872"/>
            <a:ext cx="713232" cy="256032"/>
          </a:xfrm>
          <a:prstGeom prst="rect">
            <a:avLst/>
          </a:prstGeom>
          <a:noFill/>
          <a:ln/>
        </p:spPr>
        <p:txBody>
          <a:bodyPr wrap="square" lIns="0" tIns="0" rIns="0" bIns="0" rtlCol="0" anchor="ctr"/>
          <a:lstStyle/>
          <a:p>
            <a:pPr algn="ctr" indent="0" marL="0">
              <a:buNone/>
            </a:pPr>
            <a:r>
              <a:rPr lang="en-US" sz="1050" dirty="0">
                <a:solidFill>
                  <a:srgbClr val="5F6772"/>
                </a:solidFill>
              </a:rPr>
              <a:t>Method</a:t>
            </a:r>
            <a:endParaRPr lang="en-US" sz="1050" dirty="0"/>
          </a:p>
        </p:txBody>
      </p:sp>
      <p:sp>
        <p:nvSpPr>
          <p:cNvPr id="9" name="nav-link-Method">
            <a:hlinkClick r:id="rId4" tooltip="Go to Method" action="ppaction://hlinksldjump"/>
          </p:cNvPr>
          <p:cNvSpPr/>
          <p:nvPr/>
        </p:nvSpPr>
        <p:spPr>
          <a:xfrm>
            <a:off x="2724912" y="118872"/>
            <a:ext cx="713232" cy="256032"/>
          </a:xfrm>
          <a:prstGeom prst="rect">
            <a:avLst/>
          </a:prstGeom>
          <a:solidFill>
            <a:srgbClr val="FFFFFF">
              <a:alpha val="0"/>
            </a:srgbClr>
          </a:solidFill>
          <a:ln/>
        </p:spPr>
      </p:sp>
      <p:sp>
        <p:nvSpPr>
          <p:cNvPr id="10" name="nav-Results"/>
          <p:cNvSpPr txBox="1"/>
          <p:nvPr/>
        </p:nvSpPr>
        <p:spPr>
          <a:xfrm>
            <a:off x="3493008" y="118872"/>
            <a:ext cx="731520" cy="256032"/>
          </a:xfrm>
          <a:prstGeom prst="rect">
            <a:avLst/>
          </a:prstGeom>
          <a:noFill/>
          <a:ln/>
        </p:spPr>
        <p:txBody>
          <a:bodyPr wrap="square" lIns="0" tIns="0" rIns="0" bIns="0" rtlCol="0" anchor="ctr"/>
          <a:lstStyle/>
          <a:p>
            <a:pPr algn="ctr" indent="0" marL="0">
              <a:buNone/>
            </a:pPr>
            <a:r>
              <a:rPr lang="en-US" sz="1050" dirty="0">
                <a:solidFill>
                  <a:srgbClr val="5F6772"/>
                </a:solidFill>
              </a:rPr>
              <a:t>Results</a:t>
            </a:r>
            <a:endParaRPr lang="en-US" sz="1050" dirty="0"/>
          </a:p>
        </p:txBody>
      </p:sp>
      <p:sp>
        <p:nvSpPr>
          <p:cNvPr id="11" name="nav-link-Results">
            <a:hlinkClick r:id="rId5" tooltip="Go to Results" action="ppaction://hlinksldjump"/>
          </p:cNvPr>
          <p:cNvSpPr/>
          <p:nvPr/>
        </p:nvSpPr>
        <p:spPr>
          <a:xfrm>
            <a:off x="3493008" y="118872"/>
            <a:ext cx="731520" cy="256032"/>
          </a:xfrm>
          <a:prstGeom prst="rect">
            <a:avLst/>
          </a:prstGeom>
          <a:solidFill>
            <a:srgbClr val="FFFFFF">
              <a:alpha val="0"/>
            </a:srgbClr>
          </a:solidFill>
          <a:ln/>
        </p:spPr>
      </p:sp>
      <p:sp>
        <p:nvSpPr>
          <p:cNvPr id="12" name="nav-Wrap-up"/>
          <p:cNvSpPr txBox="1"/>
          <p:nvPr/>
        </p:nvSpPr>
        <p:spPr>
          <a:xfrm>
            <a:off x="4279392" y="118872"/>
            <a:ext cx="786384" cy="256032"/>
          </a:xfrm>
          <a:prstGeom prst="rect">
            <a:avLst/>
          </a:prstGeom>
          <a:noFill/>
          <a:ln/>
        </p:spPr>
        <p:txBody>
          <a:bodyPr wrap="square" lIns="0" tIns="0" rIns="0" bIns="0" rtlCol="0" anchor="ctr"/>
          <a:lstStyle/>
          <a:p>
            <a:pPr algn="ctr" indent="0" marL="0">
              <a:buNone/>
            </a:pPr>
            <a:r>
              <a:rPr lang="en-US" sz="1050" dirty="0">
                <a:solidFill>
                  <a:srgbClr val="5F6772"/>
                </a:solidFill>
              </a:rPr>
              <a:t>Wrap-up</a:t>
            </a:r>
            <a:endParaRPr lang="en-US" sz="1050" dirty="0"/>
          </a:p>
        </p:txBody>
      </p:sp>
      <p:sp>
        <p:nvSpPr>
          <p:cNvPr id="13" name="nav-link-Wrap-up">
            <a:hlinkClick r:id="rId6" tooltip="Go to Wrap-up" action="ppaction://hlinksldjump"/>
          </p:cNvPr>
          <p:cNvSpPr/>
          <p:nvPr/>
        </p:nvSpPr>
        <p:spPr>
          <a:xfrm>
            <a:off x="4279392" y="118872"/>
            <a:ext cx="786384" cy="256032"/>
          </a:xfrm>
          <a:prstGeom prst="rect">
            <a:avLst/>
          </a:prstGeom>
          <a:solidFill>
            <a:srgbClr val="FFFFFF">
              <a:alpha val="0"/>
            </a:srgbClr>
          </a:solidFill>
          <a:ln/>
        </p:spPr>
      </p:sp>
      <p:sp>
        <p:nvSpPr>
          <p:cNvPr id="14" name="nav-pill-Appendix"/>
          <p:cNvSpPr/>
          <p:nvPr/>
        </p:nvSpPr>
        <p:spPr>
          <a:xfrm>
            <a:off x="5120640" y="118872"/>
            <a:ext cx="859536" cy="256032"/>
          </a:xfrm>
          <a:prstGeom prst="roundRect">
            <a:avLst>
              <a:gd name="adj" fmla="val 50000"/>
            </a:avLst>
          </a:prstGeom>
          <a:solidFill>
            <a:srgbClr val="F2B705"/>
          </a:solidFill>
          <a:ln w="6350">
            <a:solidFill>
              <a:srgbClr val="F2B705"/>
            </a:solidFill>
            <a:prstDash val="solid"/>
          </a:ln>
        </p:spPr>
      </p:sp>
      <p:sp>
        <p:nvSpPr>
          <p:cNvPr id="15" name="nav-Appendix"/>
          <p:cNvSpPr txBox="1"/>
          <p:nvPr/>
        </p:nvSpPr>
        <p:spPr>
          <a:xfrm>
            <a:off x="5120640" y="118872"/>
            <a:ext cx="859536" cy="256032"/>
          </a:xfrm>
          <a:prstGeom prst="rect">
            <a:avLst/>
          </a:prstGeom>
          <a:noFill/>
          <a:ln/>
        </p:spPr>
        <p:txBody>
          <a:bodyPr wrap="square" lIns="0" tIns="0" rIns="0" bIns="0" rtlCol="0" anchor="ctr"/>
          <a:lstStyle/>
          <a:p>
            <a:pPr algn="ctr" indent="0" marL="0">
              <a:buNone/>
            </a:pPr>
            <a:r>
              <a:rPr lang="en-US" sz="1050" b="1" dirty="0">
                <a:solidFill>
                  <a:schemeClr val="tx1"/>
                </a:solidFill>
              </a:rPr>
              <a:t>Appendix</a:t>
            </a:r>
            <a:endParaRPr lang="en-US" sz="1050" dirty="0"/>
          </a:p>
        </p:txBody>
      </p:sp>
      <p:sp>
        <p:nvSpPr>
          <p:cNvPr id="16" name="nav-link-Appendix">
            <a:hlinkClick r:id="rId7" tooltip="Go to Appendix" action="ppaction://hlinksldjump"/>
          </p:cNvPr>
          <p:cNvSpPr/>
          <p:nvPr/>
        </p:nvSpPr>
        <p:spPr>
          <a:xfrm>
            <a:off x="5120640" y="118872"/>
            <a:ext cx="859536" cy="256032"/>
          </a:xfrm>
          <a:prstGeom prst="rect">
            <a:avLst/>
          </a:prstGeom>
          <a:solidFill>
            <a:srgbClr val="FFFFFF">
              <a:alpha val="0"/>
            </a:srgbClr>
          </a:solidFill>
          <a:ln/>
        </p:spPr>
      </p:sp>
      <p:sp>
        <p:nvSpPr>
          <p:cNvPr id="17" name="appendix-label"/>
          <p:cNvSpPr txBox="1"/>
          <p:nvPr/>
        </p:nvSpPr>
        <p:spPr>
          <a:xfrm>
            <a:off x="457200" y="429768"/>
            <a:ext cx="8229600" cy="228600"/>
          </a:xfrm>
          <a:prstGeom prst="rect">
            <a:avLst/>
          </a:prstGeom>
          <a:noFill/>
          <a:ln/>
        </p:spPr>
        <p:txBody>
          <a:bodyPr wrap="square" lIns="0" tIns="0" rIns="0" bIns="0" rtlCol="0" anchor="ctr"/>
          <a:lstStyle/>
          <a:p>
            <a:pPr indent="0" marL="0">
              <a:buNone/>
            </a:pPr>
            <a:r>
              <a:rPr lang="en-US" sz="1100" i="1" dirty="0">
                <a:solidFill>
                  <a:srgbClr val="5F6772"/>
                </a:solidFill>
              </a:rPr>
              <a:t>Appendix D · Ridge &amp; Lasso</a:t>
            </a:r>
            <a:endParaRPr lang="en-US" sz="1100" dirty="0"/>
          </a:p>
        </p:txBody>
      </p:sp>
      <p:sp>
        <p:nvSpPr>
          <p:cNvPr id="18" name="Text 0"/>
          <p:cNvSpPr/>
          <p:nvPr>
            <p:ph idx="100" type="title" hasCustomPrompt="1"/>
          </p:nvPr>
        </p:nvSpPr>
        <p:spPr>
          <a:xfrm>
            <a:off x="457200" y="676656"/>
            <a:ext cx="8229600" cy="640080"/>
          </a:xfrm>
          <a:prstGeom prst="rect">
            <a:avLst/>
          </a:prstGeom>
          <a:noFill/>
          <a:ln/>
        </p:spPr>
        <p:txBody>
          <a:bodyPr wrap="square" lIns="0" tIns="0" rIns="0" bIns="0" rtlCol="0" anchor="t"/>
          <a:lstStyle/>
          <a:p>
            <a:pPr algn="l" indent="0" marL="0">
              <a:buNone/>
            </a:pPr>
            <a:r>
              <a:rPr lang="en-US" sz="1900" b="1" dirty="0">
                <a:solidFill>
                  <a:schemeClr val="tx1"/>
                </a:solidFill>
              </a:rPr>
              <a:t>Ridge and Lasso equal linear regression: 21 coefficients and 200,000 rows leave nothing to over-fit</a:t>
            </a:r>
            <a:endParaRPr lang="en-US" sz="1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8229600" cy="914400"/>
        </p:xfrm>
        <a:graphic>
          <a:graphicData uri="http://schemas.openxmlformats.org/drawingml/2006/table">
            <a:tbl>
              <a:tblPr/>
              <a:tblGrid>
                <a:gridCol w="1554480"/>
                <a:gridCol w="960120"/>
                <a:gridCol w="1051560"/>
                <a:gridCol w="1051560"/>
                <a:gridCol w="685800"/>
                <a:gridCol w="2926080"/>
              </a:tblGrid>
              <a:tr h="384048">
                <a:tc>
                  <a:txBody>
                    <a:bodyPr/>
                    <a:lstStyle/>
                    <a:p>
                      <a:pPr indent="0" marL="0">
                        <a:buNone/>
                      </a:pPr>
                      <a:r>
                        <a:rPr lang="en-US" sz="1200" b="1" dirty="0">
                          <a:solidFill>
                            <a:srgbClr val="FFFFFF"/>
                          </a:solidFill>
                        </a:rPr>
                        <a:t>Model</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232A33"/>
                    </a:solidFill>
                  </a:tcPr>
                </a:tc>
                <a:tc>
                  <a:txBody>
                    <a:bodyPr/>
                    <a:lstStyle/>
                    <a:p>
                      <a:pPr indent="0" marL="0">
                        <a:buNone/>
                      </a:pPr>
                      <a:r>
                        <a:rPr lang="en-US" sz="1200" b="1" dirty="0">
                          <a:solidFill>
                            <a:srgbClr val="FFFFFF"/>
                          </a:solidFill>
                        </a:rPr>
                        <a:t>Penalty α</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232A33"/>
                    </a:solidFill>
                  </a:tcPr>
                </a:tc>
                <a:tc>
                  <a:txBody>
                    <a:bodyPr/>
                    <a:lstStyle/>
                    <a:p>
                      <a:pPr indent="0" marL="0">
                        <a:buNone/>
                      </a:pPr>
                      <a:r>
                        <a:rPr lang="en-US" sz="1200" b="1" dirty="0">
                          <a:solidFill>
                            <a:srgbClr val="FFFFFF"/>
                          </a:solidFill>
                        </a:rPr>
                        <a:t>Train MAE</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232A33"/>
                    </a:solidFill>
                  </a:tcPr>
                </a:tc>
                <a:tc>
                  <a:txBody>
                    <a:bodyPr/>
                    <a:lstStyle/>
                    <a:p>
                      <a:pPr indent="0" marL="0">
                        <a:buNone/>
                      </a:pPr>
                      <a:r>
                        <a:rPr lang="en-US" sz="1200" b="1" dirty="0">
                          <a:solidFill>
                            <a:srgbClr val="FFFFFF"/>
                          </a:solidFill>
                        </a:rPr>
                        <a:t>Test MAE</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232A33"/>
                    </a:solidFill>
                  </a:tcPr>
                </a:tc>
                <a:tc>
                  <a:txBody>
                    <a:bodyPr/>
                    <a:lstStyle/>
                    <a:p>
                      <a:pPr indent="0" marL="0">
                        <a:buNone/>
                      </a:pPr>
                      <a:r>
                        <a:rPr lang="en-US" sz="1200" b="1" dirty="0">
                          <a:solidFill>
                            <a:srgbClr val="FFFFFF"/>
                          </a:solidFill>
                        </a:rPr>
                        <a:t>R²</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232A33"/>
                    </a:solidFill>
                  </a:tcPr>
                </a:tc>
                <a:tc>
                  <a:txBody>
                    <a:bodyPr/>
                    <a:lstStyle/>
                    <a:p>
                      <a:pPr indent="0" marL="0">
                        <a:buNone/>
                      </a:pPr>
                      <a:r>
                        <a:rPr lang="en-US" sz="1200" b="1" dirty="0">
                          <a:solidFill>
                            <a:srgbClr val="FFFFFF"/>
                          </a:solidFill>
                        </a:rPr>
                        <a:t>Zeroed coefficients</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232A33"/>
                    </a:solidFill>
                  </a:tcPr>
                </a:tc>
              </a:tr>
              <a:tr h="384048">
                <a:tc>
                  <a:txBody>
                    <a:bodyPr/>
                    <a:lstStyle/>
                    <a:p>
                      <a:pPr indent="0" marL="0">
                        <a:buNone/>
                      </a:pPr>
                      <a:r>
                        <a:rPr lang="en-US" sz="1200" dirty="0">
                          <a:solidFill>
                            <a:srgbClr val="1E242C"/>
                          </a:solidFill>
                        </a:rPr>
                        <a:t>Linear regression</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1F3F5"/>
                    </a:solidFill>
                  </a:tcPr>
                </a:tc>
                <a:tc>
                  <a:txBody>
                    <a:bodyPr/>
                    <a:lstStyle/>
                    <a:p>
                      <a:pPr indent="0" marL="0">
                        <a:buNone/>
                      </a:pPr>
                      <a:r>
                        <a:rPr lang="en-US" sz="1200" dirty="0">
                          <a:solidFill>
                            <a:srgbClr val="1E242C"/>
                          </a:solidFill>
                        </a:rPr>
                        <a:t>none</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1F3F5"/>
                    </a:solidFill>
                  </a:tcPr>
                </a:tc>
                <a:tc>
                  <a:txBody>
                    <a:bodyPr/>
                    <a:lstStyle/>
                    <a:p>
                      <a:pPr indent="0" marL="0">
                        <a:buNone/>
                      </a:pPr>
                      <a:r>
                        <a:rPr lang="en-US" sz="1200" dirty="0">
                          <a:solidFill>
                            <a:srgbClr val="1E242C"/>
                          </a:solidFill>
                        </a:rPr>
                        <a:t>$2.36</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1F3F5"/>
                    </a:solidFill>
                  </a:tcPr>
                </a:tc>
                <a:tc>
                  <a:txBody>
                    <a:bodyPr/>
                    <a:lstStyle/>
                    <a:p>
                      <a:pPr indent="0" marL="0">
                        <a:buNone/>
                      </a:pPr>
                      <a:r>
                        <a:rPr lang="en-US" sz="1200" dirty="0">
                          <a:solidFill>
                            <a:srgbClr val="1E242C"/>
                          </a:solidFill>
                        </a:rPr>
                        <a:t>$2.85</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1F3F5"/>
                    </a:solidFill>
                  </a:tcPr>
                </a:tc>
                <a:tc>
                  <a:txBody>
                    <a:bodyPr/>
                    <a:lstStyle/>
                    <a:p>
                      <a:pPr indent="0" marL="0">
                        <a:buNone/>
                      </a:pPr>
                      <a:r>
                        <a:rPr lang="en-US" sz="1200" dirty="0">
                          <a:solidFill>
                            <a:srgbClr val="1E242C"/>
                          </a:solidFill>
                        </a:rPr>
                        <a:t>0.911</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1F3F5"/>
                    </a:solidFill>
                  </a:tcPr>
                </a:tc>
                <a:tc>
                  <a:txBody>
                    <a:bodyPr/>
                    <a:lstStyle/>
                    <a:p>
                      <a:pPr indent="0" marL="0">
                        <a:buNone/>
                      </a:pPr>
                      <a:r>
                        <a:rPr lang="en-US" sz="1200" dirty="0">
                          <a:solidFill>
                            <a:srgbClr val="1E242C"/>
                          </a:solidFill>
                        </a:rPr>
                        <a:t>0</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1F3F5"/>
                    </a:solidFill>
                  </a:tcPr>
                </a:tc>
              </a:tr>
              <a:tr h="384048">
                <a:tc>
                  <a:txBody>
                    <a:bodyPr/>
                    <a:lstStyle/>
                    <a:p>
                      <a:pPr indent="0" marL="0">
                        <a:buNone/>
                      </a:pPr>
                      <a:r>
                        <a:rPr lang="en-US" sz="1200" dirty="0">
                          <a:solidFill>
                            <a:srgbClr val="1E242C"/>
                          </a:solidFill>
                        </a:rPr>
                        <a:t>Ridge (L2)</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FFFFF"/>
                    </a:solidFill>
                  </a:tcPr>
                </a:tc>
                <a:tc>
                  <a:txBody>
                    <a:bodyPr/>
                    <a:lstStyle/>
                    <a:p>
                      <a:pPr indent="0" marL="0">
                        <a:buNone/>
                      </a:pPr>
                      <a:r>
                        <a:rPr lang="en-US" sz="1200" dirty="0">
                          <a:solidFill>
                            <a:srgbClr val="1E242C"/>
                          </a:solidFill>
                        </a:rPr>
                        <a:t>10</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FFFFF"/>
                    </a:solidFill>
                  </a:tcPr>
                </a:tc>
                <a:tc>
                  <a:txBody>
                    <a:bodyPr/>
                    <a:lstStyle/>
                    <a:p>
                      <a:pPr indent="0" marL="0">
                        <a:buNone/>
                      </a:pPr>
                      <a:r>
                        <a:rPr lang="en-US" sz="1200" dirty="0">
                          <a:solidFill>
                            <a:srgbClr val="1E242C"/>
                          </a:solidFill>
                        </a:rPr>
                        <a:t>$2.36</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FFFFF"/>
                    </a:solidFill>
                  </a:tcPr>
                </a:tc>
                <a:tc>
                  <a:txBody>
                    <a:bodyPr/>
                    <a:lstStyle/>
                    <a:p>
                      <a:pPr indent="0" marL="0">
                        <a:buNone/>
                      </a:pPr>
                      <a:r>
                        <a:rPr lang="en-US" sz="1200" dirty="0">
                          <a:solidFill>
                            <a:srgbClr val="1E242C"/>
                          </a:solidFill>
                        </a:rPr>
                        <a:t>$2.85</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FFFFF"/>
                    </a:solidFill>
                  </a:tcPr>
                </a:tc>
                <a:tc>
                  <a:txBody>
                    <a:bodyPr/>
                    <a:lstStyle/>
                    <a:p>
                      <a:pPr indent="0" marL="0">
                        <a:buNone/>
                      </a:pPr>
                      <a:r>
                        <a:rPr lang="en-US" sz="1200" dirty="0">
                          <a:solidFill>
                            <a:srgbClr val="1E242C"/>
                          </a:solidFill>
                        </a:rPr>
                        <a:t>0.911</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FFFFF"/>
                    </a:solidFill>
                  </a:tcPr>
                </a:tc>
                <a:tc>
                  <a:txBody>
                    <a:bodyPr/>
                    <a:lstStyle/>
                    <a:p>
                      <a:pPr indent="0" marL="0">
                        <a:buNone/>
                      </a:pPr>
                      <a:r>
                        <a:rPr lang="en-US" sz="1200" dirty="0">
                          <a:solidFill>
                            <a:srgbClr val="1E242C"/>
                          </a:solidFill>
                        </a:rPr>
                        <a:t>0</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E242C"/>
                          </a:solidFill>
                        </a:rPr>
                        <a:t>Lasso (L1)</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1F3F5"/>
                    </a:solidFill>
                  </a:tcPr>
                </a:tc>
                <a:tc>
                  <a:txBody>
                    <a:bodyPr/>
                    <a:lstStyle/>
                    <a:p>
                      <a:pPr indent="0" marL="0">
                        <a:buNone/>
                      </a:pPr>
                      <a:r>
                        <a:rPr lang="en-US" sz="1200" dirty="0">
                          <a:solidFill>
                            <a:srgbClr val="1E242C"/>
                          </a:solidFill>
                        </a:rPr>
                        <a:t>0.0078</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1F3F5"/>
                    </a:solidFill>
                  </a:tcPr>
                </a:tc>
                <a:tc>
                  <a:txBody>
                    <a:bodyPr/>
                    <a:lstStyle/>
                    <a:p>
                      <a:pPr indent="0" marL="0">
                        <a:buNone/>
                      </a:pPr>
                      <a:r>
                        <a:rPr lang="en-US" sz="1200" dirty="0">
                          <a:solidFill>
                            <a:srgbClr val="1E242C"/>
                          </a:solidFill>
                        </a:rPr>
                        <a:t>$2.37</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1F3F5"/>
                    </a:solidFill>
                  </a:tcPr>
                </a:tc>
                <a:tc>
                  <a:txBody>
                    <a:bodyPr/>
                    <a:lstStyle/>
                    <a:p>
                      <a:pPr indent="0" marL="0">
                        <a:buNone/>
                      </a:pPr>
                      <a:r>
                        <a:rPr lang="en-US" sz="1200" dirty="0">
                          <a:solidFill>
                            <a:srgbClr val="1E242C"/>
                          </a:solidFill>
                        </a:rPr>
                        <a:t>$2.86</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1F3F5"/>
                    </a:solidFill>
                  </a:tcPr>
                </a:tc>
                <a:tc>
                  <a:txBody>
                    <a:bodyPr/>
                    <a:lstStyle/>
                    <a:p>
                      <a:pPr indent="0" marL="0">
                        <a:buNone/>
                      </a:pPr>
                      <a:r>
                        <a:rPr lang="en-US" sz="1200" dirty="0">
                          <a:solidFill>
                            <a:srgbClr val="1E242C"/>
                          </a:solidFill>
                        </a:rPr>
                        <a:t>0.909</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1F3F5"/>
                    </a:solidFill>
                  </a:tcPr>
                </a:tc>
                <a:tc>
                  <a:txBody>
                    <a:bodyPr/>
                    <a:lstStyle/>
                    <a:p>
                      <a:pPr indent="0" marL="0">
                        <a:buNone/>
                      </a:pPr>
                      <a:r>
                        <a:rPr lang="en-US" sz="1200" dirty="0">
                          <a:solidFill>
                            <a:srgbClr val="1E242C"/>
                          </a:solidFill>
                        </a:rPr>
                        <a:t>5: four rate codes, passenger-unknown flag</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1F3F5"/>
                    </a:solidFill>
                  </a:tcPr>
                </a:tc>
              </a:tr>
            </a:tbl>
          </a:graphicData>
        </a:graphic>
      </p:graphicFrame>
      <p:sp>
        <p:nvSpPr>
          <p:cNvPr id="20" name="appD-bullets"/>
          <p:cNvSpPr txBox="1"/>
          <p:nvPr/>
        </p:nvSpPr>
        <p:spPr>
          <a:xfrm>
            <a:off x="457200" y="3200400"/>
            <a:ext cx="8229600" cy="1417320"/>
          </a:xfrm>
          <a:prstGeom prst="rect">
            <a:avLst/>
          </a:prstGeom>
          <a:noFill/>
          <a:ln/>
        </p:spPr>
        <p:txBody>
          <a:bodyPr wrap="square" lIns="0" tIns="0" rIns="0" bIns="0" rtlCol="0" anchor="t"/>
          <a:lstStyle/>
          <a:p>
            <a:pPr marL="177800" indent="-177800">
              <a:spcAft>
                <a:spcPts val="900"/>
              </a:spcAft>
              <a:buSzPct val="100000"/>
              <a:buChar char="•"/>
            </a:pPr>
            <a:r>
              <a:rPr lang="en-US" sz="1400" dirty="0">
                <a:solidFill>
                  <a:schemeClr val="tx1"/>
                </a:solidFill>
              </a:rPr>
              <a:t>Validation error is flat for small α and only rises with strong penalties</a:t>
            </a:r>
            <a:endParaRPr lang="en-US" sz="1400" dirty="0"/>
          </a:p>
          <a:p>
            <a:pPr marL="177800" indent="-177800">
              <a:spcAft>
                <a:spcPts val="900"/>
              </a:spcAft>
              <a:buSzPct val="100000"/>
              <a:buChar char="•"/>
            </a:pPr>
            <a:r>
              <a:rPr lang="en-US" sz="1400" dirty="0">
                <a:solidFill>
                  <a:schemeClr val="tx1"/>
                </a:solidFill>
              </a:rPr>
              <a:t>Distance coefficient: $14.89 per SD (3.91 mi), about $3.81 per mile vs the 2023 meter's $3.50 plus time</a:t>
            </a:r>
            <a:endParaRPr lang="en-US" sz="1400" dirty="0"/>
          </a:p>
          <a:p>
            <a:pPr marL="177800" indent="-177800">
              <a:spcAft>
                <a:spcPts val="900"/>
              </a:spcAft>
              <a:buSzPct val="100000"/>
              <a:buChar char="•"/>
            </a:pPr>
            <a:r>
              <a:rPr lang="en-US" sz="1400" dirty="0">
                <a:solidFill>
                  <a:schemeClr val="tx1"/>
                </a:solidFill>
              </a:rPr>
              <a:t>The gap to the best models comes from shape (non-linearity), not over-fitting</a:t>
            </a:r>
            <a:endParaRPr lang="en-US" sz="1400" dirty="0"/>
          </a:p>
        </p:txBody>
      </p:sp>
      <p:sp>
        <p:nvSpPr>
          <p:cNvPr id="21" name="citation"/>
          <p:cNvSpPr txBox="1"/>
          <p:nvPr/>
        </p:nvSpPr>
        <p:spPr>
          <a:xfrm>
            <a:off x="457200" y="4754880"/>
            <a:ext cx="7680960" cy="256032"/>
          </a:xfrm>
          <a:prstGeom prst="rect">
            <a:avLst/>
          </a:prstGeom>
          <a:noFill/>
          <a:ln/>
        </p:spPr>
        <p:txBody>
          <a:bodyPr wrap="square" lIns="0" tIns="0" rIns="0" bIns="0" rtlCol="0" anchor="ctr"/>
          <a:lstStyle/>
          <a:p>
            <a:pPr indent="0" marL="0">
              <a:buNone/>
            </a:pPr>
            <a:r>
              <a:rPr lang="en-US" sz="1050" dirty="0">
                <a:solidFill>
                  <a:srgbClr val="5F6772"/>
                </a:solidFill>
              </a:rPr>
              <a:t>Hoerl &amp; Kennard (1970); Tibshirani (1996). α chosen on July–September 2023 validation trips.</a:t>
            </a:r>
            <a:endParaRPr lang="en-US" sz="1050" dirty="0"/>
          </a:p>
        </p:txBody>
      </p:sp>
      <p:sp>
        <p:nvSpPr>
          <p:cNvPr id="25" name="Slide Number Placeholder 0"/>
          <p:cNvSpPr>
            <a:spLocks noGrp="1"/>
          </p:cNvSpPr>
          <p:nvPr>
            <p:ph type="sldNum" sz="quarter" idx="4294967295"/>
          </p:nvPr>
        </p:nvSpPr>
        <p:spPr>
          <a:xfrm>
            <a:off x="8275320" y="4754880"/>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77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nav-Agenda"/>
          <p:cNvSpPr txBox="1"/>
          <p:nvPr/>
        </p:nvSpPr>
        <p:spPr>
          <a:xfrm>
            <a:off x="457200" y="118872"/>
            <a:ext cx="713232" cy="256032"/>
          </a:xfrm>
          <a:prstGeom prst="rect">
            <a:avLst/>
          </a:prstGeom>
          <a:noFill/>
          <a:ln/>
        </p:spPr>
        <p:txBody>
          <a:bodyPr wrap="square" lIns="0" tIns="0" rIns="0" bIns="0" rtlCol="0" anchor="ctr"/>
          <a:lstStyle/>
          <a:p>
            <a:pPr algn="ctr" indent="0" marL="0">
              <a:buNone/>
            </a:pPr>
            <a:r>
              <a:rPr lang="en-US" sz="1050" dirty="0">
                <a:solidFill>
                  <a:srgbClr val="5F6772"/>
                </a:solidFill>
              </a:rPr>
              <a:t>Agenda</a:t>
            </a:r>
            <a:endParaRPr lang="en-US" sz="1050" dirty="0"/>
          </a:p>
        </p:txBody>
      </p:sp>
      <p:sp>
        <p:nvSpPr>
          <p:cNvPr id="3" name="nav-link-Agenda">
            <a:hlinkClick r:id="rId1" tooltip="Go to Agenda" action="ppaction://hlinksldjump"/>
          </p:cNvPr>
          <p:cNvSpPr/>
          <p:nvPr/>
        </p:nvSpPr>
        <p:spPr>
          <a:xfrm>
            <a:off x="457200" y="118872"/>
            <a:ext cx="713232" cy="256032"/>
          </a:xfrm>
          <a:prstGeom prst="rect">
            <a:avLst/>
          </a:prstGeom>
          <a:solidFill>
            <a:srgbClr val="FFFFFF">
              <a:alpha val="0"/>
            </a:srgbClr>
          </a:solidFill>
          <a:ln/>
        </p:spPr>
      </p:sp>
      <p:sp>
        <p:nvSpPr>
          <p:cNvPr id="4" name="nav-Question"/>
          <p:cNvSpPr txBox="1"/>
          <p:nvPr/>
        </p:nvSpPr>
        <p:spPr>
          <a:xfrm>
            <a:off x="1225296" y="118872"/>
            <a:ext cx="822960" cy="256032"/>
          </a:xfrm>
          <a:prstGeom prst="rect">
            <a:avLst/>
          </a:prstGeom>
          <a:noFill/>
          <a:ln/>
        </p:spPr>
        <p:txBody>
          <a:bodyPr wrap="square" lIns="0" tIns="0" rIns="0" bIns="0" rtlCol="0" anchor="ctr"/>
          <a:lstStyle/>
          <a:p>
            <a:pPr algn="ctr" indent="0" marL="0">
              <a:buNone/>
            </a:pPr>
            <a:r>
              <a:rPr lang="en-US" sz="1050" dirty="0">
                <a:solidFill>
                  <a:srgbClr val="5F6772"/>
                </a:solidFill>
              </a:rPr>
              <a:t>Question</a:t>
            </a:r>
            <a:endParaRPr lang="en-US" sz="1050" dirty="0"/>
          </a:p>
        </p:txBody>
      </p:sp>
      <p:sp>
        <p:nvSpPr>
          <p:cNvPr id="5" name="nav-link-Question">
            <a:hlinkClick r:id="rId2" tooltip="Go to Question" action="ppaction://hlinksldjump"/>
          </p:cNvPr>
          <p:cNvSpPr/>
          <p:nvPr/>
        </p:nvSpPr>
        <p:spPr>
          <a:xfrm>
            <a:off x="1225296" y="118872"/>
            <a:ext cx="822960" cy="256032"/>
          </a:xfrm>
          <a:prstGeom prst="rect">
            <a:avLst/>
          </a:prstGeom>
          <a:solidFill>
            <a:srgbClr val="FFFFFF">
              <a:alpha val="0"/>
            </a:srgbClr>
          </a:solidFill>
          <a:ln/>
        </p:spPr>
      </p:sp>
      <p:sp>
        <p:nvSpPr>
          <p:cNvPr id="6" name="nav-Data"/>
          <p:cNvSpPr txBox="1"/>
          <p:nvPr/>
        </p:nvSpPr>
        <p:spPr>
          <a:xfrm>
            <a:off x="2103120" y="118872"/>
            <a:ext cx="566928" cy="256032"/>
          </a:xfrm>
          <a:prstGeom prst="rect">
            <a:avLst/>
          </a:prstGeom>
          <a:noFill/>
          <a:ln/>
        </p:spPr>
        <p:txBody>
          <a:bodyPr wrap="square" lIns="0" tIns="0" rIns="0" bIns="0" rtlCol="0" anchor="ctr"/>
          <a:lstStyle/>
          <a:p>
            <a:pPr algn="ctr" indent="0" marL="0">
              <a:buNone/>
            </a:pPr>
            <a:r>
              <a:rPr lang="en-US" sz="1050" dirty="0">
                <a:solidFill>
                  <a:srgbClr val="5F6772"/>
                </a:solidFill>
              </a:rPr>
              <a:t>Data</a:t>
            </a:r>
            <a:endParaRPr lang="en-US" sz="1050" dirty="0"/>
          </a:p>
        </p:txBody>
      </p:sp>
      <p:sp>
        <p:nvSpPr>
          <p:cNvPr id="7" name="nav-link-Data">
            <a:hlinkClick r:id="rId3" tooltip="Go to Data" action="ppaction://hlinksldjump"/>
          </p:cNvPr>
          <p:cNvSpPr/>
          <p:nvPr/>
        </p:nvSpPr>
        <p:spPr>
          <a:xfrm>
            <a:off x="2103120" y="118872"/>
            <a:ext cx="566928" cy="256032"/>
          </a:xfrm>
          <a:prstGeom prst="rect">
            <a:avLst/>
          </a:prstGeom>
          <a:solidFill>
            <a:srgbClr val="FFFFFF">
              <a:alpha val="0"/>
            </a:srgbClr>
          </a:solidFill>
          <a:ln/>
        </p:spPr>
      </p:sp>
      <p:sp>
        <p:nvSpPr>
          <p:cNvPr id="8" name="nav-Method"/>
          <p:cNvSpPr txBox="1"/>
          <p:nvPr/>
        </p:nvSpPr>
        <p:spPr>
          <a:xfrm>
            <a:off x="2724912" y="118872"/>
            <a:ext cx="713232" cy="256032"/>
          </a:xfrm>
          <a:prstGeom prst="rect">
            <a:avLst/>
          </a:prstGeom>
          <a:noFill/>
          <a:ln/>
        </p:spPr>
        <p:txBody>
          <a:bodyPr wrap="square" lIns="0" tIns="0" rIns="0" bIns="0" rtlCol="0" anchor="ctr"/>
          <a:lstStyle/>
          <a:p>
            <a:pPr algn="ctr" indent="0" marL="0">
              <a:buNone/>
            </a:pPr>
            <a:r>
              <a:rPr lang="en-US" sz="1050" dirty="0">
                <a:solidFill>
                  <a:srgbClr val="5F6772"/>
                </a:solidFill>
              </a:rPr>
              <a:t>Method</a:t>
            </a:r>
            <a:endParaRPr lang="en-US" sz="1050" dirty="0"/>
          </a:p>
        </p:txBody>
      </p:sp>
      <p:sp>
        <p:nvSpPr>
          <p:cNvPr id="9" name="nav-link-Method">
            <a:hlinkClick r:id="rId4" tooltip="Go to Method" action="ppaction://hlinksldjump"/>
          </p:cNvPr>
          <p:cNvSpPr/>
          <p:nvPr/>
        </p:nvSpPr>
        <p:spPr>
          <a:xfrm>
            <a:off x="2724912" y="118872"/>
            <a:ext cx="713232" cy="256032"/>
          </a:xfrm>
          <a:prstGeom prst="rect">
            <a:avLst/>
          </a:prstGeom>
          <a:solidFill>
            <a:srgbClr val="FFFFFF">
              <a:alpha val="0"/>
            </a:srgbClr>
          </a:solidFill>
          <a:ln/>
        </p:spPr>
      </p:sp>
      <p:sp>
        <p:nvSpPr>
          <p:cNvPr id="10" name="nav-Results"/>
          <p:cNvSpPr txBox="1"/>
          <p:nvPr/>
        </p:nvSpPr>
        <p:spPr>
          <a:xfrm>
            <a:off x="3493008" y="118872"/>
            <a:ext cx="731520" cy="256032"/>
          </a:xfrm>
          <a:prstGeom prst="rect">
            <a:avLst/>
          </a:prstGeom>
          <a:noFill/>
          <a:ln/>
        </p:spPr>
        <p:txBody>
          <a:bodyPr wrap="square" lIns="0" tIns="0" rIns="0" bIns="0" rtlCol="0" anchor="ctr"/>
          <a:lstStyle/>
          <a:p>
            <a:pPr algn="ctr" indent="0" marL="0">
              <a:buNone/>
            </a:pPr>
            <a:r>
              <a:rPr lang="en-US" sz="1050" dirty="0">
                <a:solidFill>
                  <a:srgbClr val="5F6772"/>
                </a:solidFill>
              </a:rPr>
              <a:t>Results</a:t>
            </a:r>
            <a:endParaRPr lang="en-US" sz="1050" dirty="0"/>
          </a:p>
        </p:txBody>
      </p:sp>
      <p:sp>
        <p:nvSpPr>
          <p:cNvPr id="11" name="nav-link-Results">
            <a:hlinkClick r:id="rId5" tooltip="Go to Results" action="ppaction://hlinksldjump"/>
          </p:cNvPr>
          <p:cNvSpPr/>
          <p:nvPr/>
        </p:nvSpPr>
        <p:spPr>
          <a:xfrm>
            <a:off x="3493008" y="118872"/>
            <a:ext cx="731520" cy="256032"/>
          </a:xfrm>
          <a:prstGeom prst="rect">
            <a:avLst/>
          </a:prstGeom>
          <a:solidFill>
            <a:srgbClr val="FFFFFF">
              <a:alpha val="0"/>
            </a:srgbClr>
          </a:solidFill>
          <a:ln/>
        </p:spPr>
      </p:sp>
      <p:sp>
        <p:nvSpPr>
          <p:cNvPr id="12" name="nav-Wrap-up"/>
          <p:cNvSpPr txBox="1"/>
          <p:nvPr/>
        </p:nvSpPr>
        <p:spPr>
          <a:xfrm>
            <a:off x="4279392" y="118872"/>
            <a:ext cx="786384" cy="256032"/>
          </a:xfrm>
          <a:prstGeom prst="rect">
            <a:avLst/>
          </a:prstGeom>
          <a:noFill/>
          <a:ln/>
        </p:spPr>
        <p:txBody>
          <a:bodyPr wrap="square" lIns="0" tIns="0" rIns="0" bIns="0" rtlCol="0" anchor="ctr"/>
          <a:lstStyle/>
          <a:p>
            <a:pPr algn="ctr" indent="0" marL="0">
              <a:buNone/>
            </a:pPr>
            <a:r>
              <a:rPr lang="en-US" sz="1050" dirty="0">
                <a:solidFill>
                  <a:srgbClr val="5F6772"/>
                </a:solidFill>
              </a:rPr>
              <a:t>Wrap-up</a:t>
            </a:r>
            <a:endParaRPr lang="en-US" sz="1050" dirty="0"/>
          </a:p>
        </p:txBody>
      </p:sp>
      <p:sp>
        <p:nvSpPr>
          <p:cNvPr id="13" name="nav-link-Wrap-up">
            <a:hlinkClick r:id="rId6" tooltip="Go to Wrap-up" action="ppaction://hlinksldjump"/>
          </p:cNvPr>
          <p:cNvSpPr/>
          <p:nvPr/>
        </p:nvSpPr>
        <p:spPr>
          <a:xfrm>
            <a:off x="4279392" y="118872"/>
            <a:ext cx="786384" cy="256032"/>
          </a:xfrm>
          <a:prstGeom prst="rect">
            <a:avLst/>
          </a:prstGeom>
          <a:solidFill>
            <a:srgbClr val="FFFFFF">
              <a:alpha val="0"/>
            </a:srgbClr>
          </a:solidFill>
          <a:ln/>
        </p:spPr>
      </p:sp>
      <p:sp>
        <p:nvSpPr>
          <p:cNvPr id="14" name="nav-pill-Appendix"/>
          <p:cNvSpPr/>
          <p:nvPr/>
        </p:nvSpPr>
        <p:spPr>
          <a:xfrm>
            <a:off x="5120640" y="118872"/>
            <a:ext cx="859536" cy="256032"/>
          </a:xfrm>
          <a:prstGeom prst="roundRect">
            <a:avLst>
              <a:gd name="adj" fmla="val 50000"/>
            </a:avLst>
          </a:prstGeom>
          <a:solidFill>
            <a:srgbClr val="F2B705"/>
          </a:solidFill>
          <a:ln w="6350">
            <a:solidFill>
              <a:srgbClr val="F2B705"/>
            </a:solidFill>
            <a:prstDash val="solid"/>
          </a:ln>
        </p:spPr>
      </p:sp>
      <p:sp>
        <p:nvSpPr>
          <p:cNvPr id="15" name="nav-Appendix"/>
          <p:cNvSpPr txBox="1"/>
          <p:nvPr/>
        </p:nvSpPr>
        <p:spPr>
          <a:xfrm>
            <a:off x="5120640" y="118872"/>
            <a:ext cx="859536" cy="256032"/>
          </a:xfrm>
          <a:prstGeom prst="rect">
            <a:avLst/>
          </a:prstGeom>
          <a:noFill/>
          <a:ln/>
        </p:spPr>
        <p:txBody>
          <a:bodyPr wrap="square" lIns="0" tIns="0" rIns="0" bIns="0" rtlCol="0" anchor="ctr"/>
          <a:lstStyle/>
          <a:p>
            <a:pPr algn="ctr" indent="0" marL="0">
              <a:buNone/>
            </a:pPr>
            <a:r>
              <a:rPr lang="en-US" sz="1050" b="1" dirty="0">
                <a:solidFill>
                  <a:schemeClr val="tx1"/>
                </a:solidFill>
              </a:rPr>
              <a:t>Appendix</a:t>
            </a:r>
            <a:endParaRPr lang="en-US" sz="1050" dirty="0"/>
          </a:p>
        </p:txBody>
      </p:sp>
      <p:sp>
        <p:nvSpPr>
          <p:cNvPr id="16" name="nav-link-Appendix">
            <a:hlinkClick r:id="rId7" tooltip="Go to Appendix" action="ppaction://hlinksldjump"/>
          </p:cNvPr>
          <p:cNvSpPr/>
          <p:nvPr/>
        </p:nvSpPr>
        <p:spPr>
          <a:xfrm>
            <a:off x="5120640" y="118872"/>
            <a:ext cx="859536" cy="256032"/>
          </a:xfrm>
          <a:prstGeom prst="rect">
            <a:avLst/>
          </a:prstGeom>
          <a:solidFill>
            <a:srgbClr val="FFFFFF">
              <a:alpha val="0"/>
            </a:srgbClr>
          </a:solidFill>
          <a:ln/>
        </p:spPr>
      </p:sp>
      <p:sp>
        <p:nvSpPr>
          <p:cNvPr id="17" name="appendix-label"/>
          <p:cNvSpPr txBox="1"/>
          <p:nvPr/>
        </p:nvSpPr>
        <p:spPr>
          <a:xfrm>
            <a:off x="457200" y="429768"/>
            <a:ext cx="8229600" cy="228600"/>
          </a:xfrm>
          <a:prstGeom prst="rect">
            <a:avLst/>
          </a:prstGeom>
          <a:noFill/>
          <a:ln/>
        </p:spPr>
        <p:txBody>
          <a:bodyPr wrap="square" lIns="0" tIns="0" rIns="0" bIns="0" rtlCol="0" anchor="ctr"/>
          <a:lstStyle/>
          <a:p>
            <a:pPr indent="0" marL="0">
              <a:buNone/>
            </a:pPr>
            <a:r>
              <a:rPr lang="en-US" sz="1100" i="1" dirty="0">
                <a:solidFill>
                  <a:srgbClr val="5F6772"/>
                </a:solidFill>
              </a:rPr>
              <a:t>Appendix E · Cleaning rules</a:t>
            </a:r>
            <a:endParaRPr lang="en-US" sz="1100" dirty="0"/>
          </a:p>
        </p:txBody>
      </p:sp>
      <p:sp>
        <p:nvSpPr>
          <p:cNvPr id="18" name="Text 0"/>
          <p:cNvSpPr/>
          <p:nvPr>
            <p:ph idx="100" type="title" hasCustomPrompt="1"/>
          </p:nvPr>
        </p:nvSpPr>
        <p:spPr>
          <a:xfrm>
            <a:off x="457200" y="676656"/>
            <a:ext cx="8229600" cy="640080"/>
          </a:xfrm>
          <a:prstGeom prst="rect">
            <a:avLst/>
          </a:prstGeom>
          <a:noFill/>
          <a:ln/>
        </p:spPr>
        <p:txBody>
          <a:bodyPr wrap="square" lIns="0" tIns="0" rIns="0" bIns="0" rtlCol="0" anchor="t"/>
          <a:lstStyle/>
          <a:p>
            <a:pPr algn="l" indent="0" marL="0">
              <a:buNone/>
            </a:pPr>
            <a:r>
              <a:rPr lang="en-US" sz="1900" b="1" dirty="0">
                <a:solidFill>
                  <a:schemeClr val="tx1"/>
                </a:solidFill>
              </a:rPr>
              <a:t>Cleaning rules remove broken records, not unusual but real trips</a:t>
            </a:r>
            <a:endParaRPr lang="en-US" sz="1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5760720" cy="914400"/>
        </p:xfrm>
        <a:graphic>
          <a:graphicData uri="http://schemas.openxmlformats.org/drawingml/2006/table">
            <a:tbl>
              <a:tblPr/>
              <a:tblGrid>
                <a:gridCol w="1600200"/>
                <a:gridCol w="3154680"/>
                <a:gridCol w="1005840"/>
              </a:tblGrid>
              <a:tr h="274320">
                <a:tc>
                  <a:txBody>
                    <a:bodyPr/>
                    <a:lstStyle/>
                    <a:p>
                      <a:pPr indent="0" marL="0">
                        <a:buNone/>
                      </a:pPr>
                      <a:r>
                        <a:rPr lang="en-US" sz="1150" b="1" dirty="0">
                          <a:solidFill>
                            <a:srgbClr val="FFFFFF"/>
                          </a:solidFill>
                        </a:rPr>
                        <a:t>Rule</a:t>
                      </a:r>
                      <a:endParaRPr lang="en-US" sz="115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232A33"/>
                    </a:solidFill>
                  </a:tcPr>
                </a:tc>
                <a:tc>
                  <a:txBody>
                    <a:bodyPr/>
                    <a:lstStyle/>
                    <a:p>
                      <a:pPr indent="0" marL="0">
                        <a:buNone/>
                      </a:pPr>
                      <a:r>
                        <a:rPr lang="en-US" sz="1150" b="1" dirty="0">
                          <a:solidFill>
                            <a:srgbClr val="FFFFFF"/>
                          </a:solidFill>
                        </a:rPr>
                        <a:t>Remove when</a:t>
                      </a:r>
                      <a:endParaRPr lang="en-US" sz="115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232A33"/>
                    </a:solidFill>
                  </a:tcPr>
                </a:tc>
                <a:tc>
                  <a:txBody>
                    <a:bodyPr/>
                    <a:lstStyle/>
                    <a:p>
                      <a:pPr indent="0" marL="0">
                        <a:buNone/>
                      </a:pPr>
                      <a:r>
                        <a:rPr lang="en-US" sz="1150" b="1" dirty="0">
                          <a:solidFill>
                            <a:srgbClr val="FFFFFF"/>
                          </a:solidFill>
                        </a:rPr>
                        <a:t>% removed</a:t>
                      </a:r>
                      <a:endParaRPr lang="en-US" sz="115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232A33"/>
                    </a:solidFill>
                  </a:tcPr>
                </a:tc>
              </a:tr>
              <a:tr h="274320">
                <a:tc>
                  <a:txBody>
                    <a:bodyPr/>
                    <a:lstStyle/>
                    <a:p>
                      <a:pPr indent="0" marL="0">
                        <a:buNone/>
                      </a:pPr>
                      <a:r>
                        <a:rPr lang="en-US" sz="1150" dirty="0">
                          <a:solidFill>
                            <a:srgbClr val="1E242C"/>
                          </a:solidFill>
                        </a:rPr>
                        <a:t>Meter record</a:t>
                      </a:r>
                      <a:endParaRPr lang="en-US" sz="115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1F3F5"/>
                    </a:solidFill>
                  </a:tcPr>
                </a:tc>
                <a:tc>
                  <a:txBody>
                    <a:bodyPr/>
                    <a:lstStyle/>
                    <a:p>
                      <a:pPr indent="0" marL="0">
                        <a:buNone/>
                      </a:pPr>
                      <a:r>
                        <a:rPr lang="en-US" sz="1150" dirty="0">
                          <a:solidFill>
                            <a:srgbClr val="1E242C"/>
                          </a:solidFill>
                        </a:rPr>
                        <a:t>passenger_count or RatecodeID missing</a:t>
                      </a:r>
                      <a:endParaRPr lang="en-US" sz="115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1F3F5"/>
                    </a:solidFill>
                  </a:tcPr>
                </a:tc>
                <a:tc>
                  <a:txBody>
                    <a:bodyPr/>
                    <a:lstStyle/>
                    <a:p>
                      <a:pPr indent="0" marL="0">
                        <a:buNone/>
                      </a:pPr>
                      <a:r>
                        <a:rPr lang="en-US" sz="1150" dirty="0">
                          <a:solidFill>
                            <a:srgbClr val="1E242C"/>
                          </a:solidFill>
                        </a:rPr>
                        <a:t>2.47%</a:t>
                      </a:r>
                      <a:endParaRPr lang="en-US" sz="115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1F3F5"/>
                    </a:solidFill>
                  </a:tcPr>
                </a:tc>
              </a:tr>
              <a:tr h="274320">
                <a:tc>
                  <a:txBody>
                    <a:bodyPr/>
                    <a:lstStyle/>
                    <a:p>
                      <a:pPr indent="0" marL="0">
                        <a:buNone/>
                      </a:pPr>
                      <a:r>
                        <a:rPr lang="en-US" sz="1150" dirty="0">
                          <a:solidFill>
                            <a:srgbClr val="1E242C"/>
                          </a:solidFill>
                        </a:rPr>
                        <a:t>Duration</a:t>
                      </a:r>
                      <a:endParaRPr lang="en-US" sz="115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FFFFF"/>
                    </a:solidFill>
                  </a:tcPr>
                </a:tc>
                <a:tc>
                  <a:txBody>
                    <a:bodyPr/>
                    <a:lstStyle/>
                    <a:p>
                      <a:pPr indent="0" marL="0">
                        <a:buNone/>
                      </a:pPr>
                      <a:r>
                        <a:rPr lang="en-US" sz="1150" dirty="0">
                          <a:solidFill>
                            <a:srgbClr val="1E242C"/>
                          </a:solidFill>
                        </a:rPr>
                        <a:t>not 1–180 minutes</a:t>
                      </a:r>
                      <a:endParaRPr lang="en-US" sz="115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FFFFF"/>
                    </a:solidFill>
                  </a:tcPr>
                </a:tc>
                <a:tc>
                  <a:txBody>
                    <a:bodyPr/>
                    <a:lstStyle/>
                    <a:p>
                      <a:pPr indent="0" marL="0">
                        <a:buNone/>
                      </a:pPr>
                      <a:r>
                        <a:rPr lang="en-US" sz="1150" dirty="0">
                          <a:solidFill>
                            <a:srgbClr val="1E242C"/>
                          </a:solidFill>
                        </a:rPr>
                        <a:t>1.28%</a:t>
                      </a:r>
                      <a:endParaRPr lang="en-US" sz="115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E242C"/>
                          </a:solidFill>
                        </a:rPr>
                        <a:t>Zone</a:t>
                      </a:r>
                      <a:endParaRPr lang="en-US" sz="115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1F3F5"/>
                    </a:solidFill>
                  </a:tcPr>
                </a:tc>
                <a:tc>
                  <a:txBody>
                    <a:bodyPr/>
                    <a:lstStyle/>
                    <a:p>
                      <a:pPr indent="0" marL="0">
                        <a:buNone/>
                      </a:pPr>
                      <a:r>
                        <a:rPr lang="en-US" sz="1150" dirty="0">
                          <a:solidFill>
                            <a:srgbClr val="1E242C"/>
                          </a:solidFill>
                        </a:rPr>
                        <a:t>pickup or drop-off zone 264/265 (unknown)</a:t>
                      </a:r>
                      <a:endParaRPr lang="en-US" sz="115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1F3F5"/>
                    </a:solidFill>
                  </a:tcPr>
                </a:tc>
                <a:tc>
                  <a:txBody>
                    <a:bodyPr/>
                    <a:lstStyle/>
                    <a:p>
                      <a:pPr indent="0" marL="0">
                        <a:buNone/>
                      </a:pPr>
                      <a:r>
                        <a:rPr lang="en-US" sz="1150" dirty="0">
                          <a:solidFill>
                            <a:srgbClr val="1E242C"/>
                          </a:solidFill>
                        </a:rPr>
                        <a:t>1.19%</a:t>
                      </a:r>
                      <a:endParaRPr lang="en-US" sz="115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1F3F5"/>
                    </a:solidFill>
                  </a:tcPr>
                </a:tc>
              </a:tr>
              <a:tr h="274320">
                <a:tc>
                  <a:txBody>
                    <a:bodyPr/>
                    <a:lstStyle/>
                    <a:p>
                      <a:pPr indent="0" marL="0">
                        <a:buNone/>
                      </a:pPr>
                      <a:r>
                        <a:rPr lang="en-US" sz="1150" dirty="0">
                          <a:solidFill>
                            <a:srgbClr val="1E242C"/>
                          </a:solidFill>
                        </a:rPr>
                        <a:t>Distance</a:t>
                      </a:r>
                      <a:endParaRPr lang="en-US" sz="115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FFFFF"/>
                    </a:solidFill>
                  </a:tcPr>
                </a:tc>
                <a:tc>
                  <a:txBody>
                    <a:bodyPr/>
                    <a:lstStyle/>
                    <a:p>
                      <a:pPr indent="0" marL="0">
                        <a:buNone/>
                      </a:pPr>
                      <a:r>
                        <a:rPr lang="en-US" sz="1150" dirty="0">
                          <a:solidFill>
                            <a:srgbClr val="1E242C"/>
                          </a:solidFill>
                        </a:rPr>
                        <a:t>not 0.1–100 miles</a:t>
                      </a:r>
                      <a:endParaRPr lang="en-US" sz="115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FFFFF"/>
                    </a:solidFill>
                  </a:tcPr>
                </a:tc>
                <a:tc>
                  <a:txBody>
                    <a:bodyPr/>
                    <a:lstStyle/>
                    <a:p>
                      <a:pPr indent="0" marL="0">
                        <a:buNone/>
                      </a:pPr>
                      <a:r>
                        <a:rPr lang="en-US" sz="1150" dirty="0">
                          <a:solidFill>
                            <a:srgbClr val="1E242C"/>
                          </a:solidFill>
                        </a:rPr>
                        <a:t>0.49%</a:t>
                      </a:r>
                      <a:endParaRPr lang="en-US" sz="115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E242C"/>
                          </a:solidFill>
                        </a:rPr>
                        <a:t>Fare</a:t>
                      </a:r>
                      <a:endParaRPr lang="en-US" sz="115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1F3F5"/>
                    </a:solidFill>
                  </a:tcPr>
                </a:tc>
                <a:tc>
                  <a:txBody>
                    <a:bodyPr/>
                    <a:lstStyle/>
                    <a:p>
                      <a:pPr indent="0" marL="0">
                        <a:buNone/>
                      </a:pPr>
                      <a:r>
                        <a:rPr lang="en-US" sz="1150" dirty="0">
                          <a:solidFill>
                            <a:srgbClr val="1E242C"/>
                          </a:solidFill>
                        </a:rPr>
                        <a:t>not $2.50–$500</a:t>
                      </a:r>
                      <a:endParaRPr lang="en-US" sz="115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1F3F5"/>
                    </a:solidFill>
                  </a:tcPr>
                </a:tc>
                <a:tc>
                  <a:txBody>
                    <a:bodyPr/>
                    <a:lstStyle/>
                    <a:p>
                      <a:pPr indent="0" marL="0">
                        <a:buNone/>
                      </a:pPr>
                      <a:r>
                        <a:rPr lang="en-US" sz="1150" dirty="0">
                          <a:solidFill>
                            <a:srgbClr val="1E242C"/>
                          </a:solidFill>
                        </a:rPr>
                        <a:t>0.37%</a:t>
                      </a:r>
                      <a:endParaRPr lang="en-US" sz="115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1F3F5"/>
                    </a:solidFill>
                  </a:tcPr>
                </a:tc>
              </a:tr>
              <a:tr h="274320">
                <a:tc>
                  <a:txBody>
                    <a:bodyPr/>
                    <a:lstStyle/>
                    <a:p>
                      <a:pPr indent="0" marL="0">
                        <a:buNone/>
                      </a:pPr>
                      <a:r>
                        <a:rPr lang="en-US" sz="1150" dirty="0">
                          <a:solidFill>
                            <a:srgbClr val="1E242C"/>
                          </a:solidFill>
                        </a:rPr>
                        <a:t>Rate code</a:t>
                      </a:r>
                      <a:endParaRPr lang="en-US" sz="115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FFFFF"/>
                    </a:solidFill>
                  </a:tcPr>
                </a:tc>
                <a:tc>
                  <a:txBody>
                    <a:bodyPr/>
                    <a:lstStyle/>
                    <a:p>
                      <a:pPr indent="0" marL="0">
                        <a:buNone/>
                      </a:pPr>
                      <a:r>
                        <a:rPr lang="en-US" sz="1150" dirty="0">
                          <a:solidFill>
                            <a:srgbClr val="1E242C"/>
                          </a:solidFill>
                        </a:rPr>
                        <a:t>99 (unknown)</a:t>
                      </a:r>
                      <a:endParaRPr lang="en-US" sz="115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FFFFF"/>
                    </a:solidFill>
                  </a:tcPr>
                </a:tc>
                <a:tc>
                  <a:txBody>
                    <a:bodyPr/>
                    <a:lstStyle/>
                    <a:p>
                      <a:pPr indent="0" marL="0">
                        <a:buNone/>
                      </a:pPr>
                      <a:r>
                        <a:rPr lang="en-US" sz="1150" dirty="0">
                          <a:solidFill>
                            <a:srgbClr val="1E242C"/>
                          </a:solidFill>
                        </a:rPr>
                        <a:t>0.14%</a:t>
                      </a:r>
                      <a:endParaRPr lang="en-US" sz="115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E242C"/>
                          </a:solidFill>
                        </a:rPr>
                        <a:t>Average speed</a:t>
                      </a:r>
                      <a:endParaRPr lang="en-US" sz="115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1F3F5"/>
                    </a:solidFill>
                  </a:tcPr>
                </a:tc>
                <a:tc>
                  <a:txBody>
                    <a:bodyPr/>
                    <a:lstStyle/>
                    <a:p>
                      <a:pPr indent="0" marL="0">
                        <a:buNone/>
                      </a:pPr>
                      <a:r>
                        <a:rPr lang="en-US" sz="1150" dirty="0">
                          <a:solidFill>
                            <a:srgbClr val="1E242C"/>
                          </a:solidFill>
                        </a:rPr>
                        <a:t>not 0.5–80 mph</a:t>
                      </a:r>
                      <a:endParaRPr lang="en-US" sz="115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1F3F5"/>
                    </a:solidFill>
                  </a:tcPr>
                </a:tc>
                <a:tc>
                  <a:txBody>
                    <a:bodyPr/>
                    <a:lstStyle/>
                    <a:p>
                      <a:pPr indent="0" marL="0">
                        <a:buNone/>
                      </a:pPr>
                      <a:r>
                        <a:rPr lang="en-US" sz="1150" dirty="0">
                          <a:solidFill>
                            <a:srgbClr val="1E242C"/>
                          </a:solidFill>
                        </a:rPr>
                        <a:t>0.01%</a:t>
                      </a:r>
                      <a:endParaRPr lang="en-US" sz="115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1F3F5"/>
                    </a:solidFill>
                  </a:tcPr>
                </a:tc>
              </a:tr>
              <a:tr h="274320">
                <a:tc>
                  <a:txBody>
                    <a:bodyPr/>
                    <a:lstStyle/>
                    <a:p>
                      <a:pPr indent="0" marL="0">
                        <a:buNone/>
                      </a:pPr>
                      <a:r>
                        <a:rPr lang="en-US" sz="1150" dirty="0">
                          <a:solidFill>
                            <a:srgbClr val="1E242C"/>
                          </a:solidFill>
                        </a:rPr>
                        <a:t>Pickup date / refunds</a:t>
                      </a:r>
                      <a:endParaRPr lang="en-US" sz="115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FFFFF"/>
                    </a:solidFill>
                  </a:tcPr>
                </a:tc>
                <a:tc>
                  <a:txBody>
                    <a:bodyPr/>
                    <a:lstStyle/>
                    <a:p>
                      <a:pPr indent="0" marL="0">
                        <a:buNone/>
                      </a:pPr>
                      <a:r>
                        <a:rPr lang="en-US" sz="1150" dirty="0">
                          <a:solidFill>
                            <a:srgbClr val="1E242C"/>
                          </a:solidFill>
                        </a:rPr>
                        <a:t>outside the file's month, or any negative charge</a:t>
                      </a:r>
                      <a:endParaRPr lang="en-US" sz="115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FFFFF"/>
                    </a:solidFill>
                  </a:tcPr>
                </a:tc>
                <a:tc>
                  <a:txBody>
                    <a:bodyPr/>
                    <a:lstStyle/>
                    <a:p>
                      <a:pPr indent="0" marL="0">
                        <a:buNone/>
                      </a:pPr>
                      <a:r>
                        <a:rPr lang="en-US" sz="1150" dirty="0">
                          <a:solidFill>
                            <a:srgbClr val="1E242C"/>
                          </a:solidFill>
                        </a:rPr>
                        <a:t>&lt; 0.01%</a:t>
                      </a:r>
                      <a:endParaRPr lang="en-US" sz="115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FFFFF"/>
                    </a:solidFill>
                  </a:tcPr>
                </a:tc>
              </a:tr>
              <a:tr h="274320">
                <a:tc>
                  <a:txBody>
                    <a:bodyPr/>
                    <a:lstStyle/>
                    <a:p>
                      <a:pPr indent="0" marL="0">
                        <a:buNone/>
                      </a:pPr>
                      <a:r>
                        <a:rPr lang="en-US" sz="1150" b="1" dirty="0">
                          <a:solidFill>
                            <a:srgbClr val="1E242C"/>
                          </a:solidFill>
                        </a:rPr>
                        <a:t>Total</a:t>
                      </a:r>
                      <a:endParaRPr lang="en-US" sz="115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CEBB3"/>
                    </a:solidFill>
                  </a:tcPr>
                </a:tc>
                <a:tc>
                  <a:txBody>
                    <a:bodyPr/>
                    <a:lstStyle/>
                    <a:p>
                      <a:pPr indent="0" marL="0">
                        <a:buNone/>
                      </a:pPr>
                      <a:endParaRPr lang="en-US" sz="115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CEBB3"/>
                    </a:solidFill>
                  </a:tcPr>
                </a:tc>
                <a:tc>
                  <a:txBody>
                    <a:bodyPr/>
                    <a:lstStyle/>
                    <a:p>
                      <a:pPr indent="0" marL="0">
                        <a:buNone/>
                      </a:pPr>
                      <a:r>
                        <a:rPr lang="en-US" sz="1150" b="1" dirty="0">
                          <a:solidFill>
                            <a:srgbClr val="1E242C"/>
                          </a:solidFill>
                        </a:rPr>
                        <a:t>5.96%</a:t>
                      </a:r>
                      <a:endParaRPr lang="en-US" sz="115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CEBB3"/>
                    </a:solidFill>
                  </a:tcPr>
                </a:tc>
              </a:tr>
            </a:tbl>
          </a:graphicData>
        </a:graphic>
      </p:graphicFrame>
      <p:sp>
        <p:nvSpPr>
          <p:cNvPr id="20" name="appE-bullets"/>
          <p:cNvSpPr txBox="1"/>
          <p:nvPr/>
        </p:nvSpPr>
        <p:spPr>
          <a:xfrm>
            <a:off x="6400800" y="1463040"/>
            <a:ext cx="2286000" cy="3108960"/>
          </a:xfrm>
          <a:prstGeom prst="rect">
            <a:avLst/>
          </a:prstGeom>
          <a:noFill/>
          <a:ln/>
        </p:spPr>
        <p:txBody>
          <a:bodyPr wrap="square" lIns="0" tIns="0" rIns="0" bIns="0" rtlCol="0" anchor="t"/>
          <a:lstStyle/>
          <a:p>
            <a:pPr indent="0" marL="0">
              <a:spcAft>
                <a:spcPts val="900"/>
              </a:spcAft>
              <a:buNone/>
            </a:pPr>
            <a:r>
              <a:rPr lang="en-US" sz="1300" b="1" dirty="0">
                <a:solidFill>
                  <a:schemeClr val="tx1"/>
                </a:solidFill>
              </a:rPr>
              <a:t>Kept, not removed: </a:t>
            </a:r>
            <a:pPr indent="0" marL="0">
              <a:spcAft>
                <a:spcPts val="900"/>
              </a:spcAft>
              <a:buNone/>
            </a:pPr>
            <a:r>
              <a:rPr lang="en-US" sz="1300" dirty="0">
                <a:solidFill>
                  <a:schemeClr val="tx1"/>
                </a:solidFill>
              </a:rPr>
              <a:t>passenger_count = 0 is set to 1 with an 'unknown' flag</a:t>
            </a:r>
            <a:endParaRPr lang="en-US" sz="1300" dirty="0"/>
          </a:p>
          <a:p>
            <a:pPr indent="0" marL="0">
              <a:spcAft>
                <a:spcPts val="900"/>
              </a:spcAft>
              <a:buNone/>
            </a:pPr>
            <a:r>
              <a:rPr lang="en-US" sz="1300" b="1" dirty="0">
                <a:solidFill>
                  <a:schemeClr val="tx1"/>
                </a:solidFill>
              </a:rPr>
              <a:t>Filled with 0: </a:t>
            </a:r>
            <a:pPr indent="0" marL="0">
              <a:spcAft>
                <a:spcPts val="900"/>
              </a:spcAft>
              <a:buNone/>
            </a:pPr>
            <a:r>
              <a:rPr lang="en-US" sz="1300" dirty="0">
                <a:solidFill>
                  <a:schemeClr val="tx1"/>
                </a:solidFill>
              </a:rPr>
              <a:t>congestion surcharge before 2 Feb 2019 and airport fee before 2021 (not charged yet)</a:t>
            </a:r>
            <a:endParaRPr lang="en-US" sz="1300" dirty="0"/>
          </a:p>
        </p:txBody>
      </p:sp>
      <p:sp>
        <p:nvSpPr>
          <p:cNvPr id="21" name="citation"/>
          <p:cNvSpPr txBox="1"/>
          <p:nvPr/>
        </p:nvSpPr>
        <p:spPr>
          <a:xfrm>
            <a:off x="457200" y="4754880"/>
            <a:ext cx="7680960" cy="256032"/>
          </a:xfrm>
          <a:prstGeom prst="rect">
            <a:avLst/>
          </a:prstGeom>
          <a:noFill/>
          <a:ln/>
        </p:spPr>
        <p:txBody>
          <a:bodyPr wrap="square" lIns="0" tIns="0" rIns="0" bIns="0" rtlCol="0" anchor="ctr"/>
          <a:lstStyle/>
          <a:p>
            <a:pPr indent="0" marL="0">
              <a:buNone/>
            </a:pPr>
            <a:r>
              <a:rPr lang="en-US" sz="1050" dirty="0">
                <a:solidFill>
                  <a:srgbClr val="5F6772"/>
                </a:solidFill>
              </a:rPr>
              <a:t>Applied by clean_trips() to every month's 1% sample, 2,178,800 trips before cleaning. Source data: NYC TLC (2019–2023).</a:t>
            </a:r>
            <a:endParaRPr lang="en-US" sz="1050" dirty="0"/>
          </a:p>
        </p:txBody>
      </p:sp>
      <p:sp>
        <p:nvSpPr>
          <p:cNvPr id="25" name="Slide Number Placeholder 0"/>
          <p:cNvSpPr>
            <a:spLocks noGrp="1"/>
          </p:cNvSpPr>
          <p:nvPr>
            <p:ph type="sldNum" sz="quarter" idx="4294967295"/>
          </p:nvPr>
        </p:nvSpPr>
        <p:spPr>
          <a:xfrm>
            <a:off x="8275320" y="4754880"/>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77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nav-Agenda"/>
          <p:cNvSpPr txBox="1"/>
          <p:nvPr/>
        </p:nvSpPr>
        <p:spPr>
          <a:xfrm>
            <a:off x="457200" y="118872"/>
            <a:ext cx="713232" cy="256032"/>
          </a:xfrm>
          <a:prstGeom prst="rect">
            <a:avLst/>
          </a:prstGeom>
          <a:noFill/>
          <a:ln/>
        </p:spPr>
        <p:txBody>
          <a:bodyPr wrap="square" lIns="0" tIns="0" rIns="0" bIns="0" rtlCol="0" anchor="ctr"/>
          <a:lstStyle/>
          <a:p>
            <a:pPr algn="ctr" indent="0" marL="0">
              <a:buNone/>
            </a:pPr>
            <a:r>
              <a:rPr lang="en-US" sz="1050" dirty="0">
                <a:solidFill>
                  <a:srgbClr val="5F6772"/>
                </a:solidFill>
              </a:rPr>
              <a:t>Agenda</a:t>
            </a:r>
            <a:endParaRPr lang="en-US" sz="1050" dirty="0"/>
          </a:p>
        </p:txBody>
      </p:sp>
      <p:sp>
        <p:nvSpPr>
          <p:cNvPr id="3" name="nav-link-Agenda">
            <a:hlinkClick r:id="rId1" tooltip="Go to Agenda" action="ppaction://hlinksldjump"/>
          </p:cNvPr>
          <p:cNvSpPr/>
          <p:nvPr/>
        </p:nvSpPr>
        <p:spPr>
          <a:xfrm>
            <a:off x="457200" y="118872"/>
            <a:ext cx="713232" cy="256032"/>
          </a:xfrm>
          <a:prstGeom prst="rect">
            <a:avLst/>
          </a:prstGeom>
          <a:solidFill>
            <a:srgbClr val="FFFFFF">
              <a:alpha val="0"/>
            </a:srgbClr>
          </a:solidFill>
          <a:ln/>
        </p:spPr>
      </p:sp>
      <p:sp>
        <p:nvSpPr>
          <p:cNvPr id="4" name="nav-Question"/>
          <p:cNvSpPr txBox="1"/>
          <p:nvPr/>
        </p:nvSpPr>
        <p:spPr>
          <a:xfrm>
            <a:off x="1225296" y="118872"/>
            <a:ext cx="822960" cy="256032"/>
          </a:xfrm>
          <a:prstGeom prst="rect">
            <a:avLst/>
          </a:prstGeom>
          <a:noFill/>
          <a:ln/>
        </p:spPr>
        <p:txBody>
          <a:bodyPr wrap="square" lIns="0" tIns="0" rIns="0" bIns="0" rtlCol="0" anchor="ctr"/>
          <a:lstStyle/>
          <a:p>
            <a:pPr algn="ctr" indent="0" marL="0">
              <a:buNone/>
            </a:pPr>
            <a:r>
              <a:rPr lang="en-US" sz="1050" dirty="0">
                <a:solidFill>
                  <a:srgbClr val="5F6772"/>
                </a:solidFill>
              </a:rPr>
              <a:t>Question</a:t>
            </a:r>
            <a:endParaRPr lang="en-US" sz="1050" dirty="0"/>
          </a:p>
        </p:txBody>
      </p:sp>
      <p:sp>
        <p:nvSpPr>
          <p:cNvPr id="5" name="nav-link-Question">
            <a:hlinkClick r:id="rId2" tooltip="Go to Question" action="ppaction://hlinksldjump"/>
          </p:cNvPr>
          <p:cNvSpPr/>
          <p:nvPr/>
        </p:nvSpPr>
        <p:spPr>
          <a:xfrm>
            <a:off x="1225296" y="118872"/>
            <a:ext cx="822960" cy="256032"/>
          </a:xfrm>
          <a:prstGeom prst="rect">
            <a:avLst/>
          </a:prstGeom>
          <a:solidFill>
            <a:srgbClr val="FFFFFF">
              <a:alpha val="0"/>
            </a:srgbClr>
          </a:solidFill>
          <a:ln/>
        </p:spPr>
      </p:sp>
      <p:sp>
        <p:nvSpPr>
          <p:cNvPr id="6" name="nav-Data"/>
          <p:cNvSpPr txBox="1"/>
          <p:nvPr/>
        </p:nvSpPr>
        <p:spPr>
          <a:xfrm>
            <a:off x="2103120" y="118872"/>
            <a:ext cx="566928" cy="256032"/>
          </a:xfrm>
          <a:prstGeom prst="rect">
            <a:avLst/>
          </a:prstGeom>
          <a:noFill/>
          <a:ln/>
        </p:spPr>
        <p:txBody>
          <a:bodyPr wrap="square" lIns="0" tIns="0" rIns="0" bIns="0" rtlCol="0" anchor="ctr"/>
          <a:lstStyle/>
          <a:p>
            <a:pPr algn="ctr" indent="0" marL="0">
              <a:buNone/>
            </a:pPr>
            <a:r>
              <a:rPr lang="en-US" sz="1050" dirty="0">
                <a:solidFill>
                  <a:srgbClr val="5F6772"/>
                </a:solidFill>
              </a:rPr>
              <a:t>Data</a:t>
            </a:r>
            <a:endParaRPr lang="en-US" sz="1050" dirty="0"/>
          </a:p>
        </p:txBody>
      </p:sp>
      <p:sp>
        <p:nvSpPr>
          <p:cNvPr id="7" name="nav-link-Data">
            <a:hlinkClick r:id="rId3" tooltip="Go to Data" action="ppaction://hlinksldjump"/>
          </p:cNvPr>
          <p:cNvSpPr/>
          <p:nvPr/>
        </p:nvSpPr>
        <p:spPr>
          <a:xfrm>
            <a:off x="2103120" y="118872"/>
            <a:ext cx="566928" cy="256032"/>
          </a:xfrm>
          <a:prstGeom prst="rect">
            <a:avLst/>
          </a:prstGeom>
          <a:solidFill>
            <a:srgbClr val="FFFFFF">
              <a:alpha val="0"/>
            </a:srgbClr>
          </a:solidFill>
          <a:ln/>
        </p:spPr>
      </p:sp>
      <p:sp>
        <p:nvSpPr>
          <p:cNvPr id="8" name="nav-Method"/>
          <p:cNvSpPr txBox="1"/>
          <p:nvPr/>
        </p:nvSpPr>
        <p:spPr>
          <a:xfrm>
            <a:off x="2724912" y="118872"/>
            <a:ext cx="713232" cy="256032"/>
          </a:xfrm>
          <a:prstGeom prst="rect">
            <a:avLst/>
          </a:prstGeom>
          <a:noFill/>
          <a:ln/>
        </p:spPr>
        <p:txBody>
          <a:bodyPr wrap="square" lIns="0" tIns="0" rIns="0" bIns="0" rtlCol="0" anchor="ctr"/>
          <a:lstStyle/>
          <a:p>
            <a:pPr algn="ctr" indent="0" marL="0">
              <a:buNone/>
            </a:pPr>
            <a:r>
              <a:rPr lang="en-US" sz="1050" dirty="0">
                <a:solidFill>
                  <a:srgbClr val="5F6772"/>
                </a:solidFill>
              </a:rPr>
              <a:t>Method</a:t>
            </a:r>
            <a:endParaRPr lang="en-US" sz="1050" dirty="0"/>
          </a:p>
        </p:txBody>
      </p:sp>
      <p:sp>
        <p:nvSpPr>
          <p:cNvPr id="9" name="nav-link-Method">
            <a:hlinkClick r:id="rId4" tooltip="Go to Method" action="ppaction://hlinksldjump"/>
          </p:cNvPr>
          <p:cNvSpPr/>
          <p:nvPr/>
        </p:nvSpPr>
        <p:spPr>
          <a:xfrm>
            <a:off x="2724912" y="118872"/>
            <a:ext cx="713232" cy="256032"/>
          </a:xfrm>
          <a:prstGeom prst="rect">
            <a:avLst/>
          </a:prstGeom>
          <a:solidFill>
            <a:srgbClr val="FFFFFF">
              <a:alpha val="0"/>
            </a:srgbClr>
          </a:solidFill>
          <a:ln/>
        </p:spPr>
      </p:sp>
      <p:sp>
        <p:nvSpPr>
          <p:cNvPr id="10" name="nav-Results"/>
          <p:cNvSpPr txBox="1"/>
          <p:nvPr/>
        </p:nvSpPr>
        <p:spPr>
          <a:xfrm>
            <a:off x="3493008" y="118872"/>
            <a:ext cx="731520" cy="256032"/>
          </a:xfrm>
          <a:prstGeom prst="rect">
            <a:avLst/>
          </a:prstGeom>
          <a:noFill/>
          <a:ln/>
        </p:spPr>
        <p:txBody>
          <a:bodyPr wrap="square" lIns="0" tIns="0" rIns="0" bIns="0" rtlCol="0" anchor="ctr"/>
          <a:lstStyle/>
          <a:p>
            <a:pPr algn="ctr" indent="0" marL="0">
              <a:buNone/>
            </a:pPr>
            <a:r>
              <a:rPr lang="en-US" sz="1050" dirty="0">
                <a:solidFill>
                  <a:srgbClr val="5F6772"/>
                </a:solidFill>
              </a:rPr>
              <a:t>Results</a:t>
            </a:r>
            <a:endParaRPr lang="en-US" sz="1050" dirty="0"/>
          </a:p>
        </p:txBody>
      </p:sp>
      <p:sp>
        <p:nvSpPr>
          <p:cNvPr id="11" name="nav-link-Results">
            <a:hlinkClick r:id="rId5" tooltip="Go to Results" action="ppaction://hlinksldjump"/>
          </p:cNvPr>
          <p:cNvSpPr/>
          <p:nvPr/>
        </p:nvSpPr>
        <p:spPr>
          <a:xfrm>
            <a:off x="3493008" y="118872"/>
            <a:ext cx="731520" cy="256032"/>
          </a:xfrm>
          <a:prstGeom prst="rect">
            <a:avLst/>
          </a:prstGeom>
          <a:solidFill>
            <a:srgbClr val="FFFFFF">
              <a:alpha val="0"/>
            </a:srgbClr>
          </a:solidFill>
          <a:ln/>
        </p:spPr>
      </p:sp>
      <p:sp>
        <p:nvSpPr>
          <p:cNvPr id="12" name="nav-Wrap-up"/>
          <p:cNvSpPr txBox="1"/>
          <p:nvPr/>
        </p:nvSpPr>
        <p:spPr>
          <a:xfrm>
            <a:off x="4279392" y="118872"/>
            <a:ext cx="786384" cy="256032"/>
          </a:xfrm>
          <a:prstGeom prst="rect">
            <a:avLst/>
          </a:prstGeom>
          <a:noFill/>
          <a:ln/>
        </p:spPr>
        <p:txBody>
          <a:bodyPr wrap="square" lIns="0" tIns="0" rIns="0" bIns="0" rtlCol="0" anchor="ctr"/>
          <a:lstStyle/>
          <a:p>
            <a:pPr algn="ctr" indent="0" marL="0">
              <a:buNone/>
            </a:pPr>
            <a:r>
              <a:rPr lang="en-US" sz="1050" dirty="0">
                <a:solidFill>
                  <a:srgbClr val="5F6772"/>
                </a:solidFill>
              </a:rPr>
              <a:t>Wrap-up</a:t>
            </a:r>
            <a:endParaRPr lang="en-US" sz="1050" dirty="0"/>
          </a:p>
        </p:txBody>
      </p:sp>
      <p:sp>
        <p:nvSpPr>
          <p:cNvPr id="13" name="nav-link-Wrap-up">
            <a:hlinkClick r:id="rId6" tooltip="Go to Wrap-up" action="ppaction://hlinksldjump"/>
          </p:cNvPr>
          <p:cNvSpPr/>
          <p:nvPr/>
        </p:nvSpPr>
        <p:spPr>
          <a:xfrm>
            <a:off x="4279392" y="118872"/>
            <a:ext cx="786384" cy="256032"/>
          </a:xfrm>
          <a:prstGeom prst="rect">
            <a:avLst/>
          </a:prstGeom>
          <a:solidFill>
            <a:srgbClr val="FFFFFF">
              <a:alpha val="0"/>
            </a:srgbClr>
          </a:solidFill>
          <a:ln/>
        </p:spPr>
      </p:sp>
      <p:sp>
        <p:nvSpPr>
          <p:cNvPr id="14" name="nav-pill-Appendix"/>
          <p:cNvSpPr/>
          <p:nvPr/>
        </p:nvSpPr>
        <p:spPr>
          <a:xfrm>
            <a:off x="5120640" y="118872"/>
            <a:ext cx="859536" cy="256032"/>
          </a:xfrm>
          <a:prstGeom prst="roundRect">
            <a:avLst>
              <a:gd name="adj" fmla="val 50000"/>
            </a:avLst>
          </a:prstGeom>
          <a:solidFill>
            <a:srgbClr val="F2B705"/>
          </a:solidFill>
          <a:ln w="6350">
            <a:solidFill>
              <a:srgbClr val="F2B705"/>
            </a:solidFill>
            <a:prstDash val="solid"/>
          </a:ln>
        </p:spPr>
      </p:sp>
      <p:sp>
        <p:nvSpPr>
          <p:cNvPr id="15" name="nav-Appendix"/>
          <p:cNvSpPr txBox="1"/>
          <p:nvPr/>
        </p:nvSpPr>
        <p:spPr>
          <a:xfrm>
            <a:off x="5120640" y="118872"/>
            <a:ext cx="859536" cy="256032"/>
          </a:xfrm>
          <a:prstGeom prst="rect">
            <a:avLst/>
          </a:prstGeom>
          <a:noFill/>
          <a:ln/>
        </p:spPr>
        <p:txBody>
          <a:bodyPr wrap="square" lIns="0" tIns="0" rIns="0" bIns="0" rtlCol="0" anchor="ctr"/>
          <a:lstStyle/>
          <a:p>
            <a:pPr algn="ctr" indent="0" marL="0">
              <a:buNone/>
            </a:pPr>
            <a:r>
              <a:rPr lang="en-US" sz="1050" b="1" dirty="0">
                <a:solidFill>
                  <a:schemeClr val="tx1"/>
                </a:solidFill>
              </a:rPr>
              <a:t>Appendix</a:t>
            </a:r>
            <a:endParaRPr lang="en-US" sz="1050" dirty="0"/>
          </a:p>
        </p:txBody>
      </p:sp>
      <p:sp>
        <p:nvSpPr>
          <p:cNvPr id="16" name="nav-link-Appendix">
            <a:hlinkClick r:id="rId7" tooltip="Go to Appendix" action="ppaction://hlinksldjump"/>
          </p:cNvPr>
          <p:cNvSpPr/>
          <p:nvPr/>
        </p:nvSpPr>
        <p:spPr>
          <a:xfrm>
            <a:off x="5120640" y="118872"/>
            <a:ext cx="859536" cy="256032"/>
          </a:xfrm>
          <a:prstGeom prst="rect">
            <a:avLst/>
          </a:prstGeom>
          <a:solidFill>
            <a:srgbClr val="FFFFFF">
              <a:alpha val="0"/>
            </a:srgbClr>
          </a:solidFill>
          <a:ln/>
        </p:spPr>
      </p:sp>
      <p:sp>
        <p:nvSpPr>
          <p:cNvPr id="17" name="appendix-label"/>
          <p:cNvSpPr txBox="1"/>
          <p:nvPr/>
        </p:nvSpPr>
        <p:spPr>
          <a:xfrm>
            <a:off x="457200" y="429768"/>
            <a:ext cx="8229600" cy="228600"/>
          </a:xfrm>
          <a:prstGeom prst="rect">
            <a:avLst/>
          </a:prstGeom>
          <a:noFill/>
          <a:ln/>
        </p:spPr>
        <p:txBody>
          <a:bodyPr wrap="square" lIns="0" tIns="0" rIns="0" bIns="0" rtlCol="0" anchor="ctr"/>
          <a:lstStyle/>
          <a:p>
            <a:pPr indent="0" marL="0">
              <a:buNone/>
            </a:pPr>
            <a:r>
              <a:rPr lang="en-US" sz="1100" i="1" dirty="0">
                <a:solidFill>
                  <a:srgbClr val="5F6772"/>
                </a:solidFill>
              </a:rPr>
              <a:t>Appendix F · Split options</a:t>
            </a:r>
            <a:endParaRPr lang="en-US" sz="1100" dirty="0"/>
          </a:p>
        </p:txBody>
      </p:sp>
      <p:sp>
        <p:nvSpPr>
          <p:cNvPr id="18" name="Text 0"/>
          <p:cNvSpPr/>
          <p:nvPr>
            <p:ph idx="100" type="title" hasCustomPrompt="1"/>
          </p:nvPr>
        </p:nvSpPr>
        <p:spPr>
          <a:xfrm>
            <a:off x="457200" y="676656"/>
            <a:ext cx="8229600" cy="640080"/>
          </a:xfrm>
          <a:prstGeom prst="rect">
            <a:avLst/>
          </a:prstGeom>
          <a:noFill/>
          <a:ln/>
        </p:spPr>
        <p:txBody>
          <a:bodyPr wrap="square" lIns="0" tIns="0" rIns="0" bIns="0" rtlCol="0" anchor="t"/>
          <a:lstStyle/>
          <a:p>
            <a:pPr algn="l" indent="0" marL="0">
              <a:buNone/>
            </a:pPr>
            <a:r>
              <a:rPr lang="en-US" sz="1900" b="1" dirty="0">
                <a:solidFill>
                  <a:schemeClr val="tx1"/>
                </a:solidFill>
              </a:rPr>
              <a:t>A time-based split with the newest quarter as test is the most honest choice for five years</a:t>
            </a:r>
            <a:endParaRPr lang="en-US" sz="1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8229600" cy="914400"/>
        </p:xfrm>
        <a:graphic>
          <a:graphicData uri="http://schemas.openxmlformats.org/drawingml/2006/table">
            <a:tbl>
              <a:tblPr/>
              <a:tblGrid>
                <a:gridCol w="2926080"/>
                <a:gridCol w="2743200"/>
                <a:gridCol w="2560320"/>
              </a:tblGrid>
              <a:tr h="457200">
                <a:tc>
                  <a:txBody>
                    <a:bodyPr/>
                    <a:lstStyle/>
                    <a:p>
                      <a:pPr indent="0" marL="0">
                        <a:buNone/>
                      </a:pPr>
                      <a:r>
                        <a:rPr lang="en-US" sz="1200" b="1" dirty="0">
                          <a:solidFill>
                            <a:srgbClr val="FFFFFF"/>
                          </a:solidFill>
                        </a:rPr>
                        <a:t>Split</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232A33"/>
                    </a:solidFill>
                  </a:tcPr>
                </a:tc>
                <a:tc>
                  <a:txBody>
                    <a:bodyPr/>
                    <a:lstStyle/>
                    <a:p>
                      <a:pPr indent="0" marL="0">
                        <a:buNone/>
                      </a:pPr>
                      <a:r>
                        <a:rPr lang="en-US" sz="1200" b="1" dirty="0">
                          <a:solidFill>
                            <a:srgbClr val="FFFFFF"/>
                          </a:solidFill>
                        </a:rPr>
                        <a:t>Strength</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232A33"/>
                    </a:solidFill>
                  </a:tcPr>
                </a:tc>
                <a:tc>
                  <a:txBody>
                    <a:bodyPr/>
                    <a:lstStyle/>
                    <a:p>
                      <a:pPr indent="0" marL="0">
                        <a:buNone/>
                      </a:pPr>
                      <a:r>
                        <a:rPr lang="en-US" sz="1200" b="1" dirty="0">
                          <a:solidFill>
                            <a:srgbClr val="FFFFFF"/>
                          </a:solidFill>
                        </a:rPr>
                        <a:t>Risk</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232A33"/>
                    </a:solidFill>
                  </a:tcPr>
                </a:tc>
              </a:tr>
              <a:tr h="457200">
                <a:tc>
                  <a:txBody>
                    <a:bodyPr/>
                    <a:lstStyle/>
                    <a:p>
                      <a:pPr indent="0" marL="0">
                        <a:buNone/>
                      </a:pPr>
                      <a:r>
                        <a:rPr lang="en-US" sz="1200" b="1" dirty="0">
                          <a:solidFill>
                            <a:srgbClr val="1E242C"/>
                          </a:solidFill>
                        </a:rPr>
                        <a:t>By time (ours): Jan 2019–Jun 2023 / Jul–Sep 2023 / Oct–Dec 2023</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CEBB3"/>
                    </a:solidFill>
                  </a:tcPr>
                </a:tc>
                <a:tc>
                  <a:txBody>
                    <a:bodyPr/>
                    <a:lstStyle/>
                    <a:p>
                      <a:pPr indent="0" marL="0">
                        <a:buNone/>
                      </a:pPr>
                      <a:r>
                        <a:rPr lang="en-US" sz="1200" dirty="0">
                          <a:solidFill>
                            <a:srgbClr val="1E242C"/>
                          </a:solidFill>
                        </a:rPr>
                        <a:t>Predicts the newest quarter, like real use</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CEBB3"/>
                    </a:solidFill>
                  </a:tcPr>
                </a:tc>
                <a:tc>
                  <a:txBody>
                    <a:bodyPr/>
                    <a:lstStyle/>
                    <a:p>
                      <a:pPr indent="0" marL="0">
                        <a:buNone/>
                      </a:pPr>
                      <a:r>
                        <a:rPr lang="en-US" sz="1200" dirty="0">
                          <a:solidFill>
                            <a:srgbClr val="1E242C"/>
                          </a:solidFill>
                        </a:rPr>
                        <a:t>Tests one quarter only</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CEBB3"/>
                    </a:solidFill>
                  </a:tcPr>
                </a:tc>
              </a:tr>
              <a:tr h="457200">
                <a:tc>
                  <a:txBody>
                    <a:bodyPr/>
                    <a:lstStyle/>
                    <a:p>
                      <a:pPr indent="0" marL="0">
                        <a:buNone/>
                      </a:pPr>
                      <a:r>
                        <a:rPr lang="en-US" sz="1200" dirty="0">
                          <a:solidFill>
                            <a:srgbClr val="1E242C"/>
                          </a:solidFill>
                        </a:rPr>
                        <a:t>Hold out all of 2023</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FFFFF"/>
                    </a:solidFill>
                  </a:tcPr>
                </a:tc>
                <a:tc>
                  <a:txBody>
                    <a:bodyPr/>
                    <a:lstStyle/>
                    <a:p>
                      <a:pPr indent="0" marL="0">
                        <a:buNone/>
                      </a:pPr>
                      <a:r>
                        <a:rPr lang="en-US" sz="1200" dirty="0">
                          <a:solidFill>
                            <a:srgbClr val="1E242C"/>
                          </a:solidFill>
                        </a:rPr>
                        <a:t>Tests a whole year</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FFFFF"/>
                    </a:solidFill>
                  </a:tcPr>
                </a:tc>
                <a:tc>
                  <a:txBody>
                    <a:bodyPr/>
                    <a:lstStyle/>
                    <a:p>
                      <a:pPr indent="0" marL="0">
                        <a:buNone/>
                      </a:pPr>
                      <a:r>
                        <a:rPr lang="en-US" sz="1200" dirty="0">
                          <a:solidFill>
                            <a:srgbClr val="1E242C"/>
                          </a:solidFill>
                        </a:rPr>
                        <a:t>Only two weeks of new-price trips left for training</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E242C"/>
                          </a:solidFill>
                        </a:rPr>
                        <a:t>Days of each month (1–20 / 21–24 / 25+)</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1F3F5"/>
                    </a:solidFill>
                  </a:tcPr>
                </a:tc>
                <a:tc>
                  <a:txBody>
                    <a:bodyPr/>
                    <a:lstStyle/>
                    <a:p>
                      <a:pPr indent="0" marL="0">
                        <a:buNone/>
                      </a:pPr>
                      <a:r>
                        <a:rPr lang="en-US" sz="1200" dirty="0">
                          <a:solidFill>
                            <a:srgbClr val="1E242C"/>
                          </a:solidFill>
                        </a:rPr>
                        <a:t>Every season in every set</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1F3F5"/>
                    </a:solidFill>
                  </a:tcPr>
                </a:tc>
                <a:tc>
                  <a:txBody>
                    <a:bodyPr/>
                    <a:lstStyle/>
                    <a:p>
                      <a:pPr indent="0" marL="0">
                        <a:buNone/>
                      </a:pPr>
                      <a:r>
                        <a:rPr lang="en-US" sz="1200" dirty="0">
                          <a:solidFill>
                            <a:srgbClr val="1E242C"/>
                          </a:solidFill>
                        </a:rPr>
                        <a:t>Trains on later dates: score slightly optimistic</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1F3F5"/>
                    </a:solidFill>
                  </a:tcPr>
                </a:tc>
              </a:tr>
              <a:tr h="457200">
                <a:tc>
                  <a:txBody>
                    <a:bodyPr/>
                    <a:lstStyle/>
                    <a:p>
                      <a:pPr indent="0" marL="0">
                        <a:buNone/>
                      </a:pPr>
                      <a:r>
                        <a:rPr lang="en-US" sz="1200" dirty="0">
                          <a:solidFill>
                            <a:srgbClr val="1E242C"/>
                          </a:solidFill>
                        </a:rPr>
                        <a:t>Rolling forward (train to month m, test m+1)</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FFFFF"/>
                    </a:solidFill>
                  </a:tcPr>
                </a:tc>
                <a:tc>
                  <a:txBody>
                    <a:bodyPr/>
                    <a:lstStyle/>
                    <a:p>
                      <a:pPr indent="0" marL="0">
                        <a:buNone/>
                      </a:pPr>
                      <a:r>
                        <a:rPr lang="en-US" sz="1200" dirty="0">
                          <a:solidFill>
                            <a:srgbClr val="1E242C"/>
                          </a:solidFill>
                        </a:rPr>
                        <a:t>Honest; shows drift month by month</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FFFFF"/>
                    </a:solidFill>
                  </a:tcPr>
                </a:tc>
                <a:tc>
                  <a:txBody>
                    <a:bodyPr/>
                    <a:lstStyle/>
                    <a:p>
                      <a:pPr indent="0" marL="0">
                        <a:buNone/>
                      </a:pPr>
                      <a:r>
                        <a:rPr lang="en-US" sz="1200" dirty="0">
                          <a:solidFill>
                            <a:srgbClr val="1E242C"/>
                          </a:solidFill>
                        </a:rPr>
                        <a:t>One fit per month: slowest</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E242C"/>
                          </a:solidFill>
                        </a:rPr>
                        <a:t>Random trips</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1F3F5"/>
                    </a:solidFill>
                  </a:tcPr>
                </a:tc>
                <a:tc>
                  <a:txBody>
                    <a:bodyPr/>
                    <a:lstStyle/>
                    <a:p>
                      <a:pPr indent="0" marL="0">
                        <a:buNone/>
                      </a:pPr>
                      <a:r>
                        <a:rPr lang="en-US" sz="1200" dirty="0">
                          <a:solidFill>
                            <a:srgbClr val="1E242C"/>
                          </a:solidFill>
                        </a:rPr>
                        <a:t>None</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1F3F5"/>
                    </a:solidFill>
                  </a:tcPr>
                </a:tc>
                <a:tc>
                  <a:txBody>
                    <a:bodyPr/>
                    <a:lstStyle/>
                    <a:p>
                      <a:pPr indent="0" marL="0">
                        <a:buNone/>
                      </a:pPr>
                      <a:r>
                        <a:rPr lang="en-US" sz="1200" dirty="0">
                          <a:solidFill>
                            <a:srgbClr val="1E242C"/>
                          </a:solidFill>
                        </a:rPr>
                        <a:t>Same hour and street in train and test: most leakage</a:t>
                      </a:r>
                      <a:endParaRPr lang="en-US" sz="1200" dirty="0"/>
                    </a:p>
                  </a:txBody>
                  <a:tcPr marL="76200" marR="76200" marT="38100" marB="38100" anchor="ctr">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F1F3F5"/>
                    </a:solidFill>
                  </a:tcPr>
                </a:tc>
              </a:tr>
            </a:tbl>
          </a:graphicData>
        </a:graphic>
      </p:graphicFrame>
      <p:sp>
        <p:nvSpPr>
          <p:cNvPr id="20" name="citation"/>
          <p:cNvSpPr txBox="1"/>
          <p:nvPr/>
        </p:nvSpPr>
        <p:spPr>
          <a:xfrm>
            <a:off x="457200" y="4754880"/>
            <a:ext cx="7680960" cy="256032"/>
          </a:xfrm>
          <a:prstGeom prst="rect">
            <a:avLst/>
          </a:prstGeom>
          <a:noFill/>
          <a:ln/>
        </p:spPr>
        <p:txBody>
          <a:bodyPr wrap="square" lIns="0" tIns="0" rIns="0" bIns="0" rtlCol="0" anchor="ctr"/>
          <a:lstStyle/>
          <a:p>
            <a:pPr indent="0" marL="0">
              <a:buNone/>
            </a:pPr>
            <a:r>
              <a:rPr lang="en-US" sz="1050" dirty="0">
                <a:solidFill>
                  <a:srgbClr val="5F6772"/>
                </a:solidFill>
              </a:rPr>
              <a:t>Fit preprocessing on training rows only in every option, and leave a gap day between blocks in a day-of-month split.</a:t>
            </a:r>
            <a:endParaRPr lang="en-US" sz="1050" dirty="0"/>
          </a:p>
        </p:txBody>
      </p:sp>
      <p:sp>
        <p:nvSpPr>
          <p:cNvPr id="25" name="Slide Number Placeholder 0"/>
          <p:cNvSpPr>
            <a:spLocks noGrp="1"/>
          </p:cNvSpPr>
          <p:nvPr>
            <p:ph type="sldNum" sz="quarter" idx="4294967295"/>
          </p:nvPr>
        </p:nvSpPr>
        <p:spPr>
          <a:xfrm>
            <a:off x="8275320" y="4754880"/>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772"/>
                </a:solidFill>
              </a:defRPr>
            </a:lvl1pPr>
          </a:lstStyle>
          <a:p>
            <a:pPr algn="r"/>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Taxi Charcoal">
  <a:themeElements>
    <a:clrScheme name="Taxi Charcoal">
      <a:dk1>
        <a:srgbClr val="1E242C"/>
      </a:dk1>
      <a:lt1>
        <a:srgbClr val="FFFFFF"/>
      </a:lt1>
      <a:dk2>
        <a:srgbClr val="232A33"/>
      </a:dk2>
      <a:lt2>
        <a:srgbClr val="F1F3F5"/>
      </a:lt2>
      <a:accent1>
        <a:srgbClr val="F2B705"/>
      </a:accent1>
      <a:accent2>
        <a:srgbClr val="4B5563"/>
      </a:accent2>
      <a:accent3>
        <a:srgbClr val="C4C9D0"/>
      </a:accent3>
      <a:accent4>
        <a:srgbClr val="8A939E"/>
      </a:accent4>
      <a:accent5>
        <a:srgbClr val="5F6772"/>
      </a:accent5>
      <a:accent6>
        <a:srgbClr val="D9DDE2"/>
      </a:accent6>
      <a:hlink>
        <a:srgbClr val="1E242C"/>
      </a:hlink>
      <a:folHlink>
        <a:srgbClr val="1E242C"/>
      </a:folHlink>
    </a:clrScheme>
    <a:fontScheme name="Taxi Charcoa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NYC yellow-taxi fares, 2019-2023</dc:title>
  <dc:subject>PptxGenJS Presentation</dc:subject>
  <dc:creator>[Your names]</dc:creator>
  <cp:lastModifiedBy>[Your names]</cp:lastModifiedBy>
  <cp:revision>1</cp:revision>
  <dcterms:created xsi:type="dcterms:W3CDTF">2026-10-19T04:13:41Z</dcterms:created>
  <dcterms:modified xsi:type="dcterms:W3CDTF">2026-10-19T04:13:41Z</dcterms:modified>
</cp:coreProperties>
</file>